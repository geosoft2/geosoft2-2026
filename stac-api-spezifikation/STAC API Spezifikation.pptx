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ato Bold" charset="1" panose="020F0502020204030203"/>
      <p:regular r:id="rId16"/>
    </p:embeddedFont>
    <p:embeddedFont>
      <p:font typeface="Lato" charset="1" panose="020F05020202040302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png" Type="http://schemas.openxmlformats.org/officeDocument/2006/relationships/image"/><Relationship Id="rId12" Target="../media/image30.png" Type="http://schemas.openxmlformats.org/officeDocument/2006/relationships/image"/><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png" Type="http://schemas.openxmlformats.org/officeDocument/2006/relationships/image"/><Relationship Id="rId12" Target="../media/image41.png" Type="http://schemas.openxmlformats.org/officeDocument/2006/relationships/image"/><Relationship Id="rId13" Target="../media/image42.png" Type="http://schemas.openxmlformats.org/officeDocument/2006/relationships/image"/><Relationship Id="rId14" Target="../media/image43.png" Type="http://schemas.openxmlformats.org/officeDocument/2006/relationships/image"/><Relationship Id="rId15" Target="../media/image44.png" Type="http://schemas.openxmlformats.org/officeDocument/2006/relationships/image"/><Relationship Id="rId16" Target="../media/image45.png" Type="http://schemas.openxmlformats.org/officeDocument/2006/relationships/image"/><Relationship Id="rId17" Target="../media/image46.png" Type="http://schemas.openxmlformats.org/officeDocument/2006/relationships/image"/><Relationship Id="rId2" Target="../media/image3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0.png" Type="http://schemas.openxmlformats.org/officeDocument/2006/relationships/image"/><Relationship Id="rId11" Target="../media/image61.png" Type="http://schemas.openxmlformats.org/officeDocument/2006/relationships/image"/><Relationship Id="rId12" Target="../media/image62.png" Type="http://schemas.openxmlformats.org/officeDocument/2006/relationships/image"/><Relationship Id="rId13" Target="../media/image63.png" Type="http://schemas.openxmlformats.org/officeDocument/2006/relationships/image"/><Relationship Id="rId14" Target="../media/image64.png" Type="http://schemas.openxmlformats.org/officeDocument/2006/relationships/image"/><Relationship Id="rId15" Target="../media/image65.png" Type="http://schemas.openxmlformats.org/officeDocument/2006/relationships/image"/><Relationship Id="rId16" Target="../media/image66.png" Type="http://schemas.openxmlformats.org/officeDocument/2006/relationships/image"/><Relationship Id="rId17" Target="../media/image67.png" Type="http://schemas.openxmlformats.org/officeDocument/2006/relationships/image"/><Relationship Id="rId18" Target="../media/image68.png" Type="http://schemas.openxmlformats.org/officeDocument/2006/relationships/image"/><Relationship Id="rId19" Target="../media/image69.png" Type="http://schemas.openxmlformats.org/officeDocument/2006/relationships/image"/><Relationship Id="rId2" Target="../media/image52.pn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 Id="rId6" Target="../media/image56.png" Type="http://schemas.openxmlformats.org/officeDocument/2006/relationships/image"/><Relationship Id="rId7" Target="../media/image57.png" Type="http://schemas.openxmlformats.org/officeDocument/2006/relationships/image"/><Relationship Id="rId8" Target="../media/image58.png" Type="http://schemas.openxmlformats.org/officeDocument/2006/relationships/image"/><Relationship Id="rId9" Target="../media/image5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png" Type="http://schemas.openxmlformats.org/officeDocument/2006/relationships/image"/><Relationship Id="rId2" Target="../media/image47.png" Type="http://schemas.openxmlformats.org/officeDocument/2006/relationships/image"/><Relationship Id="rId3" Target="../media/image70.png" Type="http://schemas.openxmlformats.org/officeDocument/2006/relationships/image"/><Relationship Id="rId4" Target="../media/image71.png" Type="http://schemas.openxmlformats.org/officeDocument/2006/relationships/image"/><Relationship Id="rId5" Target="../media/image72.png" Type="http://schemas.openxmlformats.org/officeDocument/2006/relationships/image"/><Relationship Id="rId6" Target="../media/image73.png" Type="http://schemas.openxmlformats.org/officeDocument/2006/relationships/image"/><Relationship Id="rId7" Target="../media/image74.png" Type="http://schemas.openxmlformats.org/officeDocument/2006/relationships/image"/><Relationship Id="rId8" Target="../media/image75.png" Type="http://schemas.openxmlformats.org/officeDocument/2006/relationships/image"/><Relationship Id="rId9" Target="../media/image7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43552" y="6199883"/>
            <a:ext cx="2187560" cy="218640"/>
          </a:xfrm>
          <a:custGeom>
            <a:avLst/>
            <a:gdLst/>
            <a:ahLst/>
            <a:cxnLst/>
            <a:rect r="r" b="b" t="t" l="l"/>
            <a:pathLst>
              <a:path h="218640" w="2187560">
                <a:moveTo>
                  <a:pt x="0" y="0"/>
                </a:moveTo>
                <a:lnTo>
                  <a:pt x="2187559" y="0"/>
                </a:lnTo>
                <a:lnTo>
                  <a:pt x="2187559" y="218639"/>
                </a:lnTo>
                <a:lnTo>
                  <a:pt x="0" y="218639"/>
                </a:lnTo>
                <a:lnTo>
                  <a:pt x="0" y="0"/>
                </a:lnTo>
                <a:close/>
              </a:path>
            </a:pathLst>
          </a:custGeom>
          <a:blipFill>
            <a:blip r:embed="rId3"/>
            <a:stretch>
              <a:fillRect l="0" t="0" r="0" b="0"/>
            </a:stretch>
          </a:blipFill>
        </p:spPr>
      </p:sp>
      <p:sp>
        <p:nvSpPr>
          <p:cNvPr name="Freeform 4" id="4"/>
          <p:cNvSpPr/>
          <p:nvPr/>
        </p:nvSpPr>
        <p:spPr>
          <a:xfrm flipH="false" flipV="false" rot="0">
            <a:off x="731445" y="428002"/>
            <a:ext cx="4470310" cy="1201396"/>
          </a:xfrm>
          <a:custGeom>
            <a:avLst/>
            <a:gdLst/>
            <a:ahLst/>
            <a:cxnLst/>
            <a:rect r="r" b="b" t="t" l="l"/>
            <a:pathLst>
              <a:path h="1201396" w="4470310">
                <a:moveTo>
                  <a:pt x="0" y="0"/>
                </a:moveTo>
                <a:lnTo>
                  <a:pt x="4470310" y="0"/>
                </a:lnTo>
                <a:lnTo>
                  <a:pt x="4470310" y="1201396"/>
                </a:lnTo>
                <a:lnTo>
                  <a:pt x="0" y="1201396"/>
                </a:lnTo>
                <a:lnTo>
                  <a:pt x="0" y="0"/>
                </a:lnTo>
                <a:close/>
              </a:path>
            </a:pathLst>
          </a:custGeom>
          <a:blipFill>
            <a:blip r:embed="rId4"/>
            <a:stretch>
              <a:fillRect l="0" t="0" r="0" b="0"/>
            </a:stretch>
          </a:blipFill>
        </p:spPr>
      </p:sp>
      <p:sp>
        <p:nvSpPr>
          <p:cNvPr name="TextBox 5" id="5"/>
          <p:cNvSpPr txBox="true"/>
          <p:nvPr/>
        </p:nvSpPr>
        <p:spPr>
          <a:xfrm rot="0">
            <a:off x="693849" y="3061727"/>
            <a:ext cx="5717940" cy="1438191"/>
          </a:xfrm>
          <a:prstGeom prst="rect">
            <a:avLst/>
          </a:prstGeom>
        </p:spPr>
        <p:txBody>
          <a:bodyPr anchor="t" rtlCol="false" tIns="0" lIns="0" bIns="0" rIns="0">
            <a:spAutoFit/>
          </a:bodyPr>
          <a:lstStyle/>
          <a:p>
            <a:pPr algn="l">
              <a:lnSpc>
                <a:spcPts val="10718"/>
              </a:lnSpc>
            </a:pPr>
            <a:r>
              <a:rPr lang="en-US" b="true" sz="10718" spc="-214">
                <a:solidFill>
                  <a:srgbClr val="2B4235"/>
                </a:solidFill>
                <a:latin typeface="Lato Bold"/>
                <a:ea typeface="Lato Bold"/>
                <a:cs typeface="Lato Bold"/>
                <a:sym typeface="Lato Bold"/>
              </a:rPr>
              <a:t>STAC API</a:t>
            </a:r>
          </a:p>
        </p:txBody>
      </p:sp>
      <p:sp>
        <p:nvSpPr>
          <p:cNvPr name="TextBox 6" id="6"/>
          <p:cNvSpPr txBox="true"/>
          <p:nvPr/>
        </p:nvSpPr>
        <p:spPr>
          <a:xfrm rot="0">
            <a:off x="676938" y="4477670"/>
            <a:ext cx="7408975" cy="1366275"/>
          </a:xfrm>
          <a:prstGeom prst="rect">
            <a:avLst/>
          </a:prstGeom>
        </p:spPr>
        <p:txBody>
          <a:bodyPr anchor="t" rtlCol="false" tIns="0" lIns="0" bIns="0" rIns="0">
            <a:spAutoFit/>
          </a:bodyPr>
          <a:lstStyle/>
          <a:p>
            <a:pPr algn="l">
              <a:lnSpc>
                <a:spcPts val="10369"/>
              </a:lnSpc>
            </a:pPr>
            <a:r>
              <a:rPr lang="en-US" sz="10369" spc="-207" b="true">
                <a:solidFill>
                  <a:srgbClr val="2B4235"/>
                </a:solidFill>
                <a:latin typeface="Lato Bold"/>
                <a:ea typeface="Lato Bold"/>
                <a:cs typeface="Lato Bold"/>
                <a:sym typeface="Lato Bold"/>
              </a:rPr>
              <a:t>Spezifikation</a:t>
            </a:r>
          </a:p>
        </p:txBody>
      </p:sp>
      <p:sp>
        <p:nvSpPr>
          <p:cNvPr name="TextBox 7" id="7"/>
          <p:cNvSpPr txBox="true"/>
          <p:nvPr/>
        </p:nvSpPr>
        <p:spPr>
          <a:xfrm rot="0">
            <a:off x="725329" y="6828002"/>
            <a:ext cx="5248818" cy="420002"/>
          </a:xfrm>
          <a:prstGeom prst="rect">
            <a:avLst/>
          </a:prstGeom>
        </p:spPr>
        <p:txBody>
          <a:bodyPr anchor="t" rtlCol="false" tIns="0" lIns="0" bIns="0" rIns="0">
            <a:spAutoFit/>
          </a:bodyPr>
          <a:lstStyle/>
          <a:p>
            <a:pPr algn="l">
              <a:lnSpc>
                <a:spcPts val="3312"/>
              </a:lnSpc>
            </a:pPr>
            <a:r>
              <a:rPr lang="en-US" sz="2759" spc="-55">
                <a:solidFill>
                  <a:srgbClr val="899482"/>
                </a:solidFill>
                <a:latin typeface="Lato"/>
                <a:ea typeface="Lato"/>
                <a:cs typeface="Lato"/>
                <a:sym typeface="Lato"/>
              </a:rPr>
              <a:t>Geosoftware II – AIHealthMap</a:t>
            </a:r>
          </a:p>
        </p:txBody>
      </p:sp>
      <p:sp>
        <p:nvSpPr>
          <p:cNvPr name="TextBox 8" id="8"/>
          <p:cNvSpPr txBox="true"/>
          <p:nvPr/>
        </p:nvSpPr>
        <p:spPr>
          <a:xfrm rot="0">
            <a:off x="731445" y="7550922"/>
            <a:ext cx="4637206" cy="420002"/>
          </a:xfrm>
          <a:prstGeom prst="rect">
            <a:avLst/>
          </a:prstGeom>
        </p:spPr>
        <p:txBody>
          <a:bodyPr anchor="t" rtlCol="false" tIns="0" lIns="0" bIns="0" rIns="0">
            <a:spAutoFit/>
          </a:bodyPr>
          <a:lstStyle/>
          <a:p>
            <a:pPr algn="l">
              <a:lnSpc>
                <a:spcPts val="3312"/>
              </a:lnSpc>
            </a:pPr>
            <a:r>
              <a:rPr lang="en-US" sz="2759" spc="-55">
                <a:solidFill>
                  <a:srgbClr val="666666"/>
                </a:solidFill>
                <a:latin typeface="Lato"/>
                <a:ea typeface="Lato"/>
                <a:cs typeface="Lato"/>
                <a:sym typeface="Lato"/>
              </a:rPr>
              <a:t>Ekaterina Petrianina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74955" y="911919"/>
            <a:ext cx="11624075" cy="901868"/>
          </a:xfrm>
          <a:prstGeom prst="rect">
            <a:avLst/>
          </a:prstGeom>
        </p:spPr>
        <p:txBody>
          <a:bodyPr anchor="t" rtlCol="false" tIns="0" lIns="0" bIns="0" rIns="0">
            <a:spAutoFit/>
          </a:bodyPr>
          <a:lstStyle/>
          <a:p>
            <a:pPr algn="l">
              <a:lnSpc>
                <a:spcPts val="7165"/>
              </a:lnSpc>
            </a:pPr>
            <a:r>
              <a:rPr lang="en-US" sz="5969" spc="58" b="true">
                <a:solidFill>
                  <a:srgbClr val="243B32"/>
                </a:solidFill>
                <a:latin typeface="Lato Bold"/>
                <a:ea typeface="Lato Bold"/>
                <a:cs typeface="Lato Bold"/>
                <a:sym typeface="Lato Bold"/>
              </a:rPr>
              <a:t>STAC-Spezifikation vs. STAC API</a:t>
            </a:r>
          </a:p>
        </p:txBody>
      </p:sp>
      <p:sp>
        <p:nvSpPr>
          <p:cNvPr name="Freeform 4" id="4"/>
          <p:cNvSpPr/>
          <p:nvPr/>
        </p:nvSpPr>
        <p:spPr>
          <a:xfrm flipH="false" flipV="false" rot="0">
            <a:off x="645330" y="2995365"/>
            <a:ext cx="6978316" cy="5586245"/>
          </a:xfrm>
          <a:custGeom>
            <a:avLst/>
            <a:gdLst/>
            <a:ahLst/>
            <a:cxnLst/>
            <a:rect r="r" b="b" t="t" l="l"/>
            <a:pathLst>
              <a:path h="5586245" w="6978316">
                <a:moveTo>
                  <a:pt x="0" y="0"/>
                </a:moveTo>
                <a:lnTo>
                  <a:pt x="6978316" y="0"/>
                </a:lnTo>
                <a:lnTo>
                  <a:pt x="6978316" y="5586245"/>
                </a:lnTo>
                <a:lnTo>
                  <a:pt x="0" y="5586245"/>
                </a:lnTo>
                <a:lnTo>
                  <a:pt x="0" y="0"/>
                </a:lnTo>
                <a:close/>
              </a:path>
            </a:pathLst>
          </a:custGeom>
          <a:blipFill>
            <a:blip r:embed="rId3"/>
            <a:stretch>
              <a:fillRect l="0" t="0" r="0" b="0"/>
            </a:stretch>
          </a:blipFill>
        </p:spPr>
      </p:sp>
      <p:sp>
        <p:nvSpPr>
          <p:cNvPr name="Freeform 5" id="5"/>
          <p:cNvSpPr/>
          <p:nvPr/>
        </p:nvSpPr>
        <p:spPr>
          <a:xfrm flipH="false" flipV="false" rot="0">
            <a:off x="645330" y="2995365"/>
            <a:ext cx="6978316" cy="1082267"/>
          </a:xfrm>
          <a:custGeom>
            <a:avLst/>
            <a:gdLst/>
            <a:ahLst/>
            <a:cxnLst/>
            <a:rect r="r" b="b" t="t" l="l"/>
            <a:pathLst>
              <a:path h="1082267" w="6978316">
                <a:moveTo>
                  <a:pt x="0" y="0"/>
                </a:moveTo>
                <a:lnTo>
                  <a:pt x="6978316" y="0"/>
                </a:lnTo>
                <a:lnTo>
                  <a:pt x="6978316" y="1082266"/>
                </a:lnTo>
                <a:lnTo>
                  <a:pt x="0" y="1082266"/>
                </a:lnTo>
                <a:lnTo>
                  <a:pt x="0" y="0"/>
                </a:lnTo>
                <a:close/>
              </a:path>
            </a:pathLst>
          </a:custGeom>
          <a:blipFill>
            <a:blip r:embed="rId4"/>
            <a:stretch>
              <a:fillRect l="0" t="0" r="0" b="0"/>
            </a:stretch>
          </a:blipFill>
        </p:spPr>
      </p:sp>
      <p:sp>
        <p:nvSpPr>
          <p:cNvPr name="TextBox 6" id="6"/>
          <p:cNvSpPr txBox="true"/>
          <p:nvPr/>
        </p:nvSpPr>
        <p:spPr>
          <a:xfrm rot="0">
            <a:off x="2583122" y="3336714"/>
            <a:ext cx="3154974" cy="420002"/>
          </a:xfrm>
          <a:prstGeom prst="rect">
            <a:avLst/>
          </a:prstGeom>
        </p:spPr>
        <p:txBody>
          <a:bodyPr anchor="t" rtlCol="false" tIns="0" lIns="0" bIns="0" rIns="0">
            <a:spAutoFit/>
          </a:bodyPr>
          <a:lstStyle/>
          <a:p>
            <a:pPr algn="ctr">
              <a:lnSpc>
                <a:spcPts val="3312"/>
              </a:lnSpc>
            </a:pPr>
            <a:r>
              <a:rPr lang="en-US" sz="2759" b="true">
                <a:solidFill>
                  <a:srgbClr val="FFFFFF">
                    <a:alpha val="84706"/>
                  </a:srgbClr>
                </a:solidFill>
                <a:latin typeface="Lato Bold"/>
                <a:ea typeface="Lato Bold"/>
                <a:cs typeface="Lato Bold"/>
                <a:sym typeface="Lato Bold"/>
              </a:rPr>
              <a:t>STAC-Spezifikation</a:t>
            </a:r>
          </a:p>
        </p:txBody>
      </p:sp>
      <p:sp>
        <p:nvSpPr>
          <p:cNvPr name="TextBox 7" id="7"/>
          <p:cNvSpPr txBox="true"/>
          <p:nvPr/>
        </p:nvSpPr>
        <p:spPr>
          <a:xfrm rot="0">
            <a:off x="2042052" y="4374340"/>
            <a:ext cx="4237112" cy="420002"/>
          </a:xfrm>
          <a:prstGeom prst="rect">
            <a:avLst/>
          </a:prstGeom>
        </p:spPr>
        <p:txBody>
          <a:bodyPr anchor="t" rtlCol="false" tIns="0" lIns="0" bIns="0" rIns="0">
            <a:spAutoFit/>
          </a:bodyPr>
          <a:lstStyle/>
          <a:p>
            <a:pPr algn="ctr">
              <a:lnSpc>
                <a:spcPts val="3312"/>
              </a:lnSpc>
            </a:pPr>
            <a:r>
              <a:rPr lang="en-US" sz="2759" b="true">
                <a:solidFill>
                  <a:srgbClr val="243B32">
                    <a:alpha val="69804"/>
                  </a:srgbClr>
                </a:solidFill>
                <a:latin typeface="Lato Bold"/>
                <a:ea typeface="Lato Bold"/>
                <a:cs typeface="Lato Bold"/>
                <a:sym typeface="Lato Bold"/>
              </a:rPr>
              <a:t>Datenmodell und Struktur</a:t>
            </a:r>
          </a:p>
        </p:txBody>
      </p:sp>
      <p:sp>
        <p:nvSpPr>
          <p:cNvPr name="TextBox 8" id="8"/>
          <p:cNvSpPr txBox="true"/>
          <p:nvPr/>
        </p:nvSpPr>
        <p:spPr>
          <a:xfrm rot="0">
            <a:off x="1442423" y="5156149"/>
            <a:ext cx="5436373" cy="41325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Definiert die Objekte und ihre Beziehungen</a:t>
            </a:r>
          </a:p>
        </p:txBody>
      </p:sp>
      <p:sp>
        <p:nvSpPr>
          <p:cNvPr name="TextBox 9" id="9"/>
          <p:cNvSpPr txBox="true"/>
          <p:nvPr/>
        </p:nvSpPr>
        <p:spPr>
          <a:xfrm rot="0">
            <a:off x="2120475" y="5818826"/>
            <a:ext cx="4080267" cy="41325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Standardisierte Struktur in JSON</a:t>
            </a:r>
          </a:p>
        </p:txBody>
      </p:sp>
      <p:sp>
        <p:nvSpPr>
          <p:cNvPr name="TextBox 10" id="10"/>
          <p:cNvSpPr txBox="true"/>
          <p:nvPr/>
        </p:nvSpPr>
        <p:spPr>
          <a:xfrm rot="0">
            <a:off x="1538324" y="7454085"/>
            <a:ext cx="5244568" cy="41325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benötigt nicht zwingend ein Backend</a:t>
            </a:r>
          </a:p>
        </p:txBody>
      </p:sp>
      <p:sp>
        <p:nvSpPr>
          <p:cNvPr name="Freeform 11" id="11"/>
          <p:cNvSpPr/>
          <p:nvPr/>
        </p:nvSpPr>
        <p:spPr>
          <a:xfrm flipH="false" flipV="false" rot="0">
            <a:off x="10445598" y="2995365"/>
            <a:ext cx="6978316" cy="5586245"/>
          </a:xfrm>
          <a:custGeom>
            <a:avLst/>
            <a:gdLst/>
            <a:ahLst/>
            <a:cxnLst/>
            <a:rect r="r" b="b" t="t" l="l"/>
            <a:pathLst>
              <a:path h="5586245" w="6978316">
                <a:moveTo>
                  <a:pt x="0" y="0"/>
                </a:moveTo>
                <a:lnTo>
                  <a:pt x="6978316" y="0"/>
                </a:lnTo>
                <a:lnTo>
                  <a:pt x="6978316" y="5586245"/>
                </a:lnTo>
                <a:lnTo>
                  <a:pt x="0" y="5586245"/>
                </a:lnTo>
                <a:lnTo>
                  <a:pt x="0" y="0"/>
                </a:lnTo>
                <a:close/>
              </a:path>
            </a:pathLst>
          </a:custGeom>
          <a:blipFill>
            <a:blip r:embed="rId5"/>
            <a:stretch>
              <a:fillRect l="0" t="0" r="0" b="0"/>
            </a:stretch>
          </a:blipFill>
        </p:spPr>
      </p:sp>
      <p:sp>
        <p:nvSpPr>
          <p:cNvPr name="Freeform 12" id="12"/>
          <p:cNvSpPr/>
          <p:nvPr/>
        </p:nvSpPr>
        <p:spPr>
          <a:xfrm flipH="false" flipV="false" rot="0">
            <a:off x="10445598" y="2995365"/>
            <a:ext cx="6978316" cy="1082267"/>
          </a:xfrm>
          <a:custGeom>
            <a:avLst/>
            <a:gdLst/>
            <a:ahLst/>
            <a:cxnLst/>
            <a:rect r="r" b="b" t="t" l="l"/>
            <a:pathLst>
              <a:path h="1082267" w="6978316">
                <a:moveTo>
                  <a:pt x="0" y="0"/>
                </a:moveTo>
                <a:lnTo>
                  <a:pt x="6978316" y="0"/>
                </a:lnTo>
                <a:lnTo>
                  <a:pt x="6978316" y="1082266"/>
                </a:lnTo>
                <a:lnTo>
                  <a:pt x="0" y="1082266"/>
                </a:lnTo>
                <a:lnTo>
                  <a:pt x="0" y="0"/>
                </a:lnTo>
                <a:close/>
              </a:path>
            </a:pathLst>
          </a:custGeom>
          <a:blipFill>
            <a:blip r:embed="rId6"/>
            <a:stretch>
              <a:fillRect l="0" t="0" r="0" b="0"/>
            </a:stretch>
          </a:blipFill>
        </p:spPr>
      </p:sp>
      <p:sp>
        <p:nvSpPr>
          <p:cNvPr name="TextBox 13" id="13"/>
          <p:cNvSpPr txBox="true"/>
          <p:nvPr/>
        </p:nvSpPr>
        <p:spPr>
          <a:xfrm rot="0">
            <a:off x="13091332" y="3336714"/>
            <a:ext cx="1587415" cy="420002"/>
          </a:xfrm>
          <a:prstGeom prst="rect">
            <a:avLst/>
          </a:prstGeom>
        </p:spPr>
        <p:txBody>
          <a:bodyPr anchor="t" rtlCol="false" tIns="0" lIns="0" bIns="0" rIns="0">
            <a:spAutoFit/>
          </a:bodyPr>
          <a:lstStyle/>
          <a:p>
            <a:pPr algn="ctr">
              <a:lnSpc>
                <a:spcPts val="3312"/>
              </a:lnSpc>
            </a:pPr>
            <a:r>
              <a:rPr lang="en-US" sz="2759" b="true">
                <a:solidFill>
                  <a:srgbClr val="FFFFFF">
                    <a:alpha val="84706"/>
                  </a:srgbClr>
                </a:solidFill>
                <a:latin typeface="Lato Bold"/>
                <a:ea typeface="Lato Bold"/>
                <a:cs typeface="Lato Bold"/>
                <a:sym typeface="Lato Bold"/>
              </a:rPr>
              <a:t>STAC API</a:t>
            </a:r>
          </a:p>
        </p:txBody>
      </p:sp>
      <p:sp>
        <p:nvSpPr>
          <p:cNvPr name="TextBox 14" id="14"/>
          <p:cNvSpPr txBox="true"/>
          <p:nvPr/>
        </p:nvSpPr>
        <p:spPr>
          <a:xfrm rot="0">
            <a:off x="11194305" y="4374340"/>
            <a:ext cx="5660958" cy="420002"/>
          </a:xfrm>
          <a:prstGeom prst="rect">
            <a:avLst/>
          </a:prstGeom>
        </p:spPr>
        <p:txBody>
          <a:bodyPr anchor="t" rtlCol="false" tIns="0" lIns="0" bIns="0" rIns="0">
            <a:spAutoFit/>
          </a:bodyPr>
          <a:lstStyle/>
          <a:p>
            <a:pPr algn="ctr">
              <a:lnSpc>
                <a:spcPts val="3312"/>
              </a:lnSpc>
            </a:pPr>
            <a:r>
              <a:rPr lang="en-US" sz="2759" b="true">
                <a:solidFill>
                  <a:srgbClr val="243B32">
                    <a:alpha val="69804"/>
                  </a:srgbClr>
                </a:solidFill>
                <a:latin typeface="Lato Bold"/>
                <a:ea typeface="Lato Bold"/>
                <a:cs typeface="Lato Bold"/>
                <a:sym typeface="Lato Bold"/>
              </a:rPr>
              <a:t>Standardisierter Zugriff über HTTP</a:t>
            </a:r>
          </a:p>
        </p:txBody>
      </p:sp>
      <p:sp>
        <p:nvSpPr>
          <p:cNvPr name="TextBox 15" id="15"/>
          <p:cNvSpPr txBox="true"/>
          <p:nvPr/>
        </p:nvSpPr>
        <p:spPr>
          <a:xfrm rot="0">
            <a:off x="11698713" y="5156149"/>
            <a:ext cx="4652142" cy="41325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Definiert Endpoints und Operationen</a:t>
            </a:r>
          </a:p>
        </p:txBody>
      </p:sp>
      <p:sp>
        <p:nvSpPr>
          <p:cNvPr name="TextBox 16" id="16"/>
          <p:cNvSpPr txBox="true"/>
          <p:nvPr/>
        </p:nvSpPr>
        <p:spPr>
          <a:xfrm rot="0">
            <a:off x="11955473" y="5818826"/>
            <a:ext cx="4138622" cy="41325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Nutzung über HTTP (GET, POST)</a:t>
            </a:r>
          </a:p>
        </p:txBody>
      </p:sp>
      <p:sp>
        <p:nvSpPr>
          <p:cNvPr name="TextBox 17" id="17"/>
          <p:cNvSpPr txBox="true"/>
          <p:nvPr/>
        </p:nvSpPr>
        <p:spPr>
          <a:xfrm rot="0">
            <a:off x="10999461" y="7140298"/>
            <a:ext cx="6050647" cy="85140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benötigt einen API-Server bzw. ein Backend, das Requests verarbeitet</a:t>
            </a:r>
          </a:p>
        </p:txBody>
      </p:sp>
      <p:sp>
        <p:nvSpPr>
          <p:cNvPr name="TextBox 18" id="18"/>
          <p:cNvSpPr txBox="true"/>
          <p:nvPr/>
        </p:nvSpPr>
        <p:spPr>
          <a:xfrm rot="0">
            <a:off x="8009384" y="4316767"/>
            <a:ext cx="2127608" cy="859899"/>
          </a:xfrm>
          <a:prstGeom prst="rect">
            <a:avLst/>
          </a:prstGeom>
        </p:spPr>
        <p:txBody>
          <a:bodyPr anchor="t" rtlCol="false" tIns="0" lIns="0" bIns="0" rIns="0">
            <a:spAutoFit/>
          </a:bodyPr>
          <a:lstStyle/>
          <a:p>
            <a:pPr algn="ctr">
              <a:lnSpc>
                <a:spcPts val="3519"/>
              </a:lnSpc>
            </a:pPr>
            <a:r>
              <a:rPr lang="en-US" sz="2199" b="true">
                <a:solidFill>
                  <a:srgbClr val="243B32">
                    <a:alpha val="84706"/>
                  </a:srgbClr>
                </a:solidFill>
                <a:latin typeface="Lato Bold"/>
                <a:ea typeface="Lato Bold"/>
                <a:cs typeface="Lato Bold"/>
                <a:sym typeface="Lato Bold"/>
              </a:rPr>
              <a:t>Die API nutzt STAC-Objekte</a:t>
            </a:r>
          </a:p>
        </p:txBody>
      </p:sp>
      <p:sp>
        <p:nvSpPr>
          <p:cNvPr name="Freeform 19" id="19"/>
          <p:cNvSpPr/>
          <p:nvPr/>
        </p:nvSpPr>
        <p:spPr>
          <a:xfrm flipH="false" flipV="false" rot="0">
            <a:off x="7831464" y="5356674"/>
            <a:ext cx="2625072" cy="644987"/>
          </a:xfrm>
          <a:custGeom>
            <a:avLst/>
            <a:gdLst/>
            <a:ahLst/>
            <a:cxnLst/>
            <a:rect r="r" b="b" t="t" l="l"/>
            <a:pathLst>
              <a:path h="644987" w="2625072">
                <a:moveTo>
                  <a:pt x="0" y="0"/>
                </a:moveTo>
                <a:lnTo>
                  <a:pt x="2625072" y="0"/>
                </a:lnTo>
                <a:lnTo>
                  <a:pt x="2625072" y="644987"/>
                </a:lnTo>
                <a:lnTo>
                  <a:pt x="0" y="644987"/>
                </a:lnTo>
                <a:lnTo>
                  <a:pt x="0" y="0"/>
                </a:lnTo>
                <a:close/>
              </a:path>
            </a:pathLst>
          </a:custGeom>
          <a:blipFill>
            <a:blip r:embed="rId7"/>
            <a:stretch>
              <a:fillRect l="0" t="0" r="0" b="0"/>
            </a:stretch>
          </a:blipFill>
        </p:spPr>
      </p:sp>
      <p:sp>
        <p:nvSpPr>
          <p:cNvPr name="TextBox 20" id="20"/>
          <p:cNvSpPr txBox="true"/>
          <p:nvPr/>
        </p:nvSpPr>
        <p:spPr>
          <a:xfrm rot="0">
            <a:off x="7988879" y="6141575"/>
            <a:ext cx="2168618" cy="859899"/>
          </a:xfrm>
          <a:prstGeom prst="rect">
            <a:avLst/>
          </a:prstGeom>
        </p:spPr>
        <p:txBody>
          <a:bodyPr anchor="t" rtlCol="false" tIns="0" lIns="0" bIns="0" rIns="0">
            <a:spAutoFit/>
          </a:bodyPr>
          <a:lstStyle/>
          <a:p>
            <a:pPr algn="ctr">
              <a:lnSpc>
                <a:spcPts val="3519"/>
              </a:lnSpc>
            </a:pPr>
            <a:r>
              <a:rPr lang="en-US" sz="2199" b="true">
                <a:solidFill>
                  <a:srgbClr val="243B32">
                    <a:alpha val="84706"/>
                  </a:srgbClr>
                </a:solidFill>
                <a:latin typeface="Lato Bold"/>
                <a:ea typeface="Lato Bold"/>
                <a:cs typeface="Lato Bold"/>
                <a:sym typeface="Lato Bold"/>
              </a:rPr>
              <a:t>die API baut auf STAC auf</a:t>
            </a:r>
          </a:p>
        </p:txBody>
      </p:sp>
      <p:sp>
        <p:nvSpPr>
          <p:cNvPr name="TextBox 21" id="21"/>
          <p:cNvSpPr txBox="true"/>
          <p:nvPr/>
        </p:nvSpPr>
        <p:spPr>
          <a:xfrm rot="0">
            <a:off x="1033807" y="6422257"/>
            <a:ext cx="6253605" cy="85140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kann als statischer Katalog aus verlinkten JSON-Dateien veröffentlicht werden</a:t>
            </a:r>
          </a:p>
        </p:txBody>
      </p:sp>
      <p:sp>
        <p:nvSpPr>
          <p:cNvPr name="TextBox 22" id="22"/>
          <p:cNvSpPr txBox="true"/>
          <p:nvPr/>
        </p:nvSpPr>
        <p:spPr>
          <a:xfrm rot="0">
            <a:off x="10999461" y="6479731"/>
            <a:ext cx="6140675" cy="413255"/>
          </a:xfrm>
          <a:prstGeom prst="rect">
            <a:avLst/>
          </a:prstGeom>
        </p:spPr>
        <p:txBody>
          <a:bodyPr anchor="t" rtlCol="false" tIns="0" lIns="0" bIns="0" rIns="0">
            <a:spAutoFit/>
          </a:bodyPr>
          <a:lstStyle/>
          <a:p>
            <a:pPr algn="ctr">
              <a:lnSpc>
                <a:spcPts val="3486"/>
              </a:lnSpc>
            </a:pPr>
            <a:r>
              <a:rPr lang="en-US" b="true" sz="2179">
                <a:solidFill>
                  <a:srgbClr val="222222">
                    <a:alpha val="74902"/>
                  </a:srgbClr>
                </a:solidFill>
                <a:latin typeface="Lato Bold"/>
                <a:ea typeface="Lato Bold"/>
                <a:cs typeface="Lato Bold"/>
                <a:sym typeface="Lato Bold"/>
              </a:rPr>
              <a:t>ermöglicht dynamische Requests an einen Server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914920" y="712412"/>
            <a:ext cx="4948611" cy="1156650"/>
          </a:xfrm>
          <a:prstGeom prst="rect">
            <a:avLst/>
          </a:prstGeom>
        </p:spPr>
        <p:txBody>
          <a:bodyPr anchor="t" rtlCol="false" tIns="0" lIns="0" bIns="0" rIns="0">
            <a:spAutoFit/>
          </a:bodyPr>
          <a:lstStyle/>
          <a:p>
            <a:pPr algn="l">
              <a:lnSpc>
                <a:spcPts val="9520"/>
              </a:lnSpc>
            </a:pPr>
            <a:r>
              <a:rPr lang="en-US" sz="6800" spc="-136" b="true">
                <a:solidFill>
                  <a:srgbClr val="264237"/>
                </a:solidFill>
                <a:latin typeface="Lato Bold"/>
                <a:ea typeface="Lato Bold"/>
                <a:cs typeface="Lato Bold"/>
                <a:sym typeface="Lato Bold"/>
              </a:rPr>
              <a:t>Architektur</a:t>
            </a:r>
          </a:p>
        </p:txBody>
      </p:sp>
      <p:sp>
        <p:nvSpPr>
          <p:cNvPr name="TextBox 4" id="4"/>
          <p:cNvSpPr txBox="true"/>
          <p:nvPr/>
        </p:nvSpPr>
        <p:spPr>
          <a:xfrm rot="0">
            <a:off x="908580" y="2053431"/>
            <a:ext cx="5582595" cy="469036"/>
          </a:xfrm>
          <a:prstGeom prst="rect">
            <a:avLst/>
          </a:prstGeom>
        </p:spPr>
        <p:txBody>
          <a:bodyPr anchor="t" rtlCol="false" tIns="0" lIns="0" bIns="0" rIns="0">
            <a:spAutoFit/>
          </a:bodyPr>
          <a:lstStyle/>
          <a:p>
            <a:pPr algn="l">
              <a:lnSpc>
                <a:spcPts val="3863"/>
              </a:lnSpc>
            </a:pPr>
            <a:r>
              <a:rPr lang="en-US" sz="2759" spc="-55" b="true">
                <a:solidFill>
                  <a:srgbClr val="545454"/>
                </a:solidFill>
                <a:latin typeface="Lato Bold"/>
                <a:ea typeface="Lato Bold"/>
                <a:cs typeface="Lato Bold"/>
                <a:sym typeface="Lato Bold"/>
              </a:rPr>
              <a:t>Wie ein STAC-API-Request abläuft</a:t>
            </a:r>
          </a:p>
        </p:txBody>
      </p:sp>
      <p:sp>
        <p:nvSpPr>
          <p:cNvPr name="Freeform 5" id="5"/>
          <p:cNvSpPr/>
          <p:nvPr/>
        </p:nvSpPr>
        <p:spPr>
          <a:xfrm flipH="false" flipV="false" rot="0">
            <a:off x="864086" y="3421712"/>
            <a:ext cx="4145426" cy="2372241"/>
          </a:xfrm>
          <a:custGeom>
            <a:avLst/>
            <a:gdLst/>
            <a:ahLst/>
            <a:cxnLst/>
            <a:rect r="r" b="b" t="t" l="l"/>
            <a:pathLst>
              <a:path h="2372241" w="4145426">
                <a:moveTo>
                  <a:pt x="0" y="0"/>
                </a:moveTo>
                <a:lnTo>
                  <a:pt x="4145426" y="0"/>
                </a:lnTo>
                <a:lnTo>
                  <a:pt x="4145426" y="2372241"/>
                </a:lnTo>
                <a:lnTo>
                  <a:pt x="0" y="2372241"/>
                </a:lnTo>
                <a:lnTo>
                  <a:pt x="0" y="0"/>
                </a:lnTo>
                <a:close/>
              </a:path>
            </a:pathLst>
          </a:custGeom>
          <a:blipFill>
            <a:blip r:embed="rId3"/>
            <a:stretch>
              <a:fillRect l="0" t="0" r="0" b="0"/>
            </a:stretch>
          </a:blipFill>
        </p:spPr>
      </p:sp>
      <p:sp>
        <p:nvSpPr>
          <p:cNvPr name="TextBox 6" id="6"/>
          <p:cNvSpPr txBox="true"/>
          <p:nvPr/>
        </p:nvSpPr>
        <p:spPr>
          <a:xfrm rot="0">
            <a:off x="1423786" y="3806551"/>
            <a:ext cx="3025662" cy="1594402"/>
          </a:xfrm>
          <a:prstGeom prst="rect">
            <a:avLst/>
          </a:prstGeom>
        </p:spPr>
        <p:txBody>
          <a:bodyPr anchor="t" rtlCol="false" tIns="0" lIns="0" bIns="0" rIns="0">
            <a:spAutoFit/>
          </a:bodyPr>
          <a:lstStyle/>
          <a:p>
            <a:pPr algn="ctr">
              <a:lnSpc>
                <a:spcPts val="4343"/>
              </a:lnSpc>
            </a:pPr>
            <a:r>
              <a:rPr lang="en-US" b="true" sz="3102" spc="-62">
                <a:solidFill>
                  <a:srgbClr val="F4F4F4"/>
                </a:solidFill>
                <a:latin typeface="Lato Bold"/>
                <a:ea typeface="Lato Bold"/>
                <a:cs typeface="Lato Bold"/>
                <a:sym typeface="Lato Bold"/>
              </a:rPr>
              <a:t>Client /</a:t>
            </a:r>
          </a:p>
          <a:p>
            <a:pPr algn="ctr">
              <a:lnSpc>
                <a:spcPts val="4343"/>
              </a:lnSpc>
            </a:pPr>
            <a:r>
              <a:rPr lang="en-US" b="true" sz="3102" spc="-62">
                <a:solidFill>
                  <a:srgbClr val="F4F4F4"/>
                </a:solidFill>
                <a:latin typeface="Lato Bold"/>
                <a:ea typeface="Lato Bold"/>
                <a:cs typeface="Lato Bold"/>
                <a:sym typeface="Lato Bold"/>
              </a:rPr>
              <a:t>Web-Frontend /</a:t>
            </a:r>
          </a:p>
          <a:p>
            <a:pPr algn="ctr">
              <a:lnSpc>
                <a:spcPts val="4343"/>
              </a:lnSpc>
            </a:pPr>
            <a:r>
              <a:rPr lang="en-US" b="true" sz="3102" spc="-62">
                <a:solidFill>
                  <a:srgbClr val="F4F4F4"/>
                </a:solidFill>
                <a:latin typeface="Lato Bold"/>
                <a:ea typeface="Lato Bold"/>
                <a:cs typeface="Lato Bold"/>
                <a:sym typeface="Lato Bold"/>
              </a:rPr>
              <a:t>KI-Agent</a:t>
            </a:r>
          </a:p>
        </p:txBody>
      </p:sp>
      <p:sp>
        <p:nvSpPr>
          <p:cNvPr name="Freeform 7" id="7"/>
          <p:cNvSpPr/>
          <p:nvPr/>
        </p:nvSpPr>
        <p:spPr>
          <a:xfrm flipH="false" flipV="false" rot="0">
            <a:off x="4998574" y="4285339"/>
            <a:ext cx="2625072" cy="644987"/>
          </a:xfrm>
          <a:custGeom>
            <a:avLst/>
            <a:gdLst/>
            <a:ahLst/>
            <a:cxnLst/>
            <a:rect r="r" b="b" t="t" l="l"/>
            <a:pathLst>
              <a:path h="644987" w="2625072">
                <a:moveTo>
                  <a:pt x="0" y="0"/>
                </a:moveTo>
                <a:lnTo>
                  <a:pt x="2625072" y="0"/>
                </a:lnTo>
                <a:lnTo>
                  <a:pt x="2625072" y="644987"/>
                </a:lnTo>
                <a:lnTo>
                  <a:pt x="0" y="644987"/>
                </a:lnTo>
                <a:lnTo>
                  <a:pt x="0" y="0"/>
                </a:lnTo>
                <a:close/>
              </a:path>
            </a:pathLst>
          </a:custGeom>
          <a:blipFill>
            <a:blip r:embed="rId4"/>
            <a:stretch>
              <a:fillRect l="0" t="0" r="0" b="0"/>
            </a:stretch>
          </a:blipFill>
        </p:spPr>
      </p:sp>
      <p:sp>
        <p:nvSpPr>
          <p:cNvPr name="TextBox 8" id="8"/>
          <p:cNvSpPr txBox="true"/>
          <p:nvPr/>
        </p:nvSpPr>
        <p:spPr>
          <a:xfrm rot="0">
            <a:off x="5362901" y="3767579"/>
            <a:ext cx="1677663" cy="772795"/>
          </a:xfrm>
          <a:prstGeom prst="rect">
            <a:avLst/>
          </a:prstGeom>
        </p:spPr>
        <p:txBody>
          <a:bodyPr anchor="t" rtlCol="false" tIns="0" lIns="0" bIns="0" rIns="0">
            <a:spAutoFit/>
          </a:bodyPr>
          <a:lstStyle/>
          <a:p>
            <a:pPr algn="ctr">
              <a:lnSpc>
                <a:spcPts val="3079"/>
              </a:lnSpc>
            </a:pPr>
            <a:r>
              <a:rPr lang="en-US" b="true" sz="2199" spc="-44">
                <a:solidFill>
                  <a:srgbClr val="545454"/>
                </a:solidFill>
                <a:latin typeface="Lato Bold"/>
                <a:ea typeface="Lato Bold"/>
                <a:cs typeface="Lato Bold"/>
                <a:sym typeface="Lato Bold"/>
              </a:rPr>
              <a:t>HTTP Request</a:t>
            </a:r>
          </a:p>
        </p:txBody>
      </p:sp>
      <p:sp>
        <p:nvSpPr>
          <p:cNvPr name="Freeform 9" id="9"/>
          <p:cNvSpPr/>
          <p:nvPr/>
        </p:nvSpPr>
        <p:spPr>
          <a:xfrm flipH="false" flipV="false" rot="0">
            <a:off x="7393952" y="3421712"/>
            <a:ext cx="4145426" cy="2372241"/>
          </a:xfrm>
          <a:custGeom>
            <a:avLst/>
            <a:gdLst/>
            <a:ahLst/>
            <a:cxnLst/>
            <a:rect r="r" b="b" t="t" l="l"/>
            <a:pathLst>
              <a:path h="2372241" w="4145426">
                <a:moveTo>
                  <a:pt x="0" y="0"/>
                </a:moveTo>
                <a:lnTo>
                  <a:pt x="4145426" y="0"/>
                </a:lnTo>
                <a:lnTo>
                  <a:pt x="4145426" y="2372241"/>
                </a:lnTo>
                <a:lnTo>
                  <a:pt x="0" y="2372241"/>
                </a:lnTo>
                <a:lnTo>
                  <a:pt x="0" y="0"/>
                </a:lnTo>
                <a:close/>
              </a:path>
            </a:pathLst>
          </a:custGeom>
          <a:blipFill>
            <a:blip r:embed="rId5"/>
            <a:stretch>
              <a:fillRect l="0" t="0" r="0" b="0"/>
            </a:stretch>
          </a:blipFill>
        </p:spPr>
      </p:sp>
      <p:sp>
        <p:nvSpPr>
          <p:cNvPr name="TextBox 10" id="10"/>
          <p:cNvSpPr txBox="true"/>
          <p:nvPr/>
        </p:nvSpPr>
        <p:spPr>
          <a:xfrm rot="0">
            <a:off x="8094344" y="4111114"/>
            <a:ext cx="2744643" cy="1058906"/>
          </a:xfrm>
          <a:prstGeom prst="rect">
            <a:avLst/>
          </a:prstGeom>
        </p:spPr>
        <p:txBody>
          <a:bodyPr anchor="t" rtlCol="false" tIns="0" lIns="0" bIns="0" rIns="0">
            <a:spAutoFit/>
          </a:bodyPr>
          <a:lstStyle/>
          <a:p>
            <a:pPr algn="ctr">
              <a:lnSpc>
                <a:spcPts val="4343"/>
              </a:lnSpc>
            </a:pPr>
            <a:r>
              <a:rPr lang="en-US" b="true" sz="3102" spc="-62">
                <a:solidFill>
                  <a:srgbClr val="F4F4F4"/>
                </a:solidFill>
                <a:latin typeface="Lato Bold"/>
                <a:ea typeface="Lato Bold"/>
                <a:cs typeface="Lato Bold"/>
                <a:sym typeface="Lato Bold"/>
              </a:rPr>
              <a:t>STAC API</a:t>
            </a:r>
          </a:p>
          <a:p>
            <a:pPr algn="ctr">
              <a:lnSpc>
                <a:spcPts val="4343"/>
              </a:lnSpc>
            </a:pPr>
            <a:r>
              <a:rPr lang="en-US" b="true" sz="3102" spc="-62">
                <a:solidFill>
                  <a:srgbClr val="F4F4F4"/>
                </a:solidFill>
                <a:latin typeface="Lato Bold"/>
                <a:ea typeface="Lato Bold"/>
                <a:cs typeface="Lato Bold"/>
                <a:sym typeface="Lato Bold"/>
              </a:rPr>
              <a:t>(API-SERVER)</a:t>
            </a:r>
          </a:p>
        </p:txBody>
      </p:sp>
      <p:sp>
        <p:nvSpPr>
          <p:cNvPr name="Freeform 11" id="11"/>
          <p:cNvSpPr/>
          <p:nvPr/>
        </p:nvSpPr>
        <p:spPr>
          <a:xfrm flipH="false" flipV="false" rot="0">
            <a:off x="11528440" y="4285339"/>
            <a:ext cx="1542230" cy="644987"/>
          </a:xfrm>
          <a:custGeom>
            <a:avLst/>
            <a:gdLst/>
            <a:ahLst/>
            <a:cxnLst/>
            <a:rect r="r" b="b" t="t" l="l"/>
            <a:pathLst>
              <a:path h="644987" w="1542230">
                <a:moveTo>
                  <a:pt x="0" y="0"/>
                </a:moveTo>
                <a:lnTo>
                  <a:pt x="1542230" y="0"/>
                </a:lnTo>
                <a:lnTo>
                  <a:pt x="1542230" y="644987"/>
                </a:lnTo>
                <a:lnTo>
                  <a:pt x="0" y="644987"/>
                </a:lnTo>
                <a:lnTo>
                  <a:pt x="0" y="0"/>
                </a:lnTo>
                <a:close/>
              </a:path>
            </a:pathLst>
          </a:custGeom>
          <a:blipFill>
            <a:blip r:embed="rId6"/>
            <a:stretch>
              <a:fillRect l="0" t="0" r="0" b="0"/>
            </a:stretch>
          </a:blipFill>
        </p:spPr>
      </p:sp>
      <p:sp>
        <p:nvSpPr>
          <p:cNvPr name="Freeform 12" id="12"/>
          <p:cNvSpPr/>
          <p:nvPr/>
        </p:nvSpPr>
        <p:spPr>
          <a:xfrm flipH="false" flipV="false" rot="0">
            <a:off x="13059732" y="3421712"/>
            <a:ext cx="4364182" cy="2372241"/>
          </a:xfrm>
          <a:custGeom>
            <a:avLst/>
            <a:gdLst/>
            <a:ahLst/>
            <a:cxnLst/>
            <a:rect r="r" b="b" t="t" l="l"/>
            <a:pathLst>
              <a:path h="2372241" w="4364182">
                <a:moveTo>
                  <a:pt x="0" y="0"/>
                </a:moveTo>
                <a:lnTo>
                  <a:pt x="4364182" y="0"/>
                </a:lnTo>
                <a:lnTo>
                  <a:pt x="4364182" y="2372241"/>
                </a:lnTo>
                <a:lnTo>
                  <a:pt x="0" y="2372241"/>
                </a:lnTo>
                <a:lnTo>
                  <a:pt x="0" y="0"/>
                </a:lnTo>
                <a:close/>
              </a:path>
            </a:pathLst>
          </a:custGeom>
          <a:blipFill>
            <a:blip r:embed="rId7"/>
            <a:stretch>
              <a:fillRect l="0" t="0" r="0" b="0"/>
            </a:stretch>
          </a:blipFill>
        </p:spPr>
      </p:sp>
      <p:sp>
        <p:nvSpPr>
          <p:cNvPr name="TextBox 13" id="13"/>
          <p:cNvSpPr txBox="true"/>
          <p:nvPr/>
        </p:nvSpPr>
        <p:spPr>
          <a:xfrm rot="0">
            <a:off x="13202526" y="3843366"/>
            <a:ext cx="4078595" cy="1594402"/>
          </a:xfrm>
          <a:prstGeom prst="rect">
            <a:avLst/>
          </a:prstGeom>
        </p:spPr>
        <p:txBody>
          <a:bodyPr anchor="t" rtlCol="false" tIns="0" lIns="0" bIns="0" rIns="0">
            <a:spAutoFit/>
          </a:bodyPr>
          <a:lstStyle/>
          <a:p>
            <a:pPr algn="ctr">
              <a:lnSpc>
                <a:spcPts val="4343"/>
              </a:lnSpc>
            </a:pPr>
            <a:r>
              <a:rPr lang="en-US" b="true" sz="3102" spc="-62">
                <a:solidFill>
                  <a:srgbClr val="365042"/>
                </a:solidFill>
                <a:latin typeface="Lato Bold"/>
                <a:ea typeface="Lato Bold"/>
                <a:cs typeface="Lato Bold"/>
                <a:sym typeface="Lato Bold"/>
              </a:rPr>
              <a:t>Datenbank / STAC-Daten /</a:t>
            </a:r>
          </a:p>
          <a:p>
            <a:pPr algn="ctr">
              <a:lnSpc>
                <a:spcPts val="4343"/>
              </a:lnSpc>
            </a:pPr>
            <a:r>
              <a:rPr lang="en-US" b="true" sz="3102" spc="-62">
                <a:solidFill>
                  <a:srgbClr val="365042"/>
                </a:solidFill>
                <a:latin typeface="Lato Bold"/>
                <a:ea typeface="Lato Bold"/>
                <a:cs typeface="Lato Bold"/>
                <a:sym typeface="Lato Bold"/>
              </a:rPr>
              <a:t>  andere </a:t>
            </a:r>
            <a:r>
              <a:rPr lang="en-US" b="true" sz="3102" spc="-62">
                <a:solidFill>
                  <a:srgbClr val="365042"/>
                </a:solidFill>
                <a:latin typeface="Lato Bold"/>
                <a:ea typeface="Lato Bold"/>
                <a:cs typeface="Lato Bold"/>
                <a:sym typeface="Lato Bold"/>
              </a:rPr>
              <a:t>Datenquellen</a:t>
            </a:r>
          </a:p>
        </p:txBody>
      </p:sp>
      <p:sp>
        <p:nvSpPr>
          <p:cNvPr name="Freeform 14" id="14"/>
          <p:cNvSpPr/>
          <p:nvPr/>
        </p:nvSpPr>
        <p:spPr>
          <a:xfrm flipH="false" flipV="false" rot="0">
            <a:off x="2603196" y="5783021"/>
            <a:ext cx="667206" cy="1082267"/>
          </a:xfrm>
          <a:custGeom>
            <a:avLst/>
            <a:gdLst/>
            <a:ahLst/>
            <a:cxnLst/>
            <a:rect r="r" b="b" t="t" l="l"/>
            <a:pathLst>
              <a:path h="1082267" w="667206">
                <a:moveTo>
                  <a:pt x="0" y="0"/>
                </a:moveTo>
                <a:lnTo>
                  <a:pt x="667206" y="0"/>
                </a:lnTo>
                <a:lnTo>
                  <a:pt x="667206" y="1082267"/>
                </a:lnTo>
                <a:lnTo>
                  <a:pt x="0" y="1082267"/>
                </a:lnTo>
                <a:lnTo>
                  <a:pt x="0" y="0"/>
                </a:lnTo>
                <a:close/>
              </a:path>
            </a:pathLst>
          </a:custGeom>
          <a:blipFill>
            <a:blip r:embed="rId8"/>
            <a:stretch>
              <a:fillRect l="0" t="0" r="0" b="0"/>
            </a:stretch>
          </a:blipFill>
        </p:spPr>
      </p:sp>
      <p:sp>
        <p:nvSpPr>
          <p:cNvPr name="Freeform 15" id="15"/>
          <p:cNvSpPr/>
          <p:nvPr/>
        </p:nvSpPr>
        <p:spPr>
          <a:xfrm flipH="false" flipV="false" rot="0">
            <a:off x="2821952" y="6635716"/>
            <a:ext cx="12644096" cy="229572"/>
          </a:xfrm>
          <a:custGeom>
            <a:avLst/>
            <a:gdLst/>
            <a:ahLst/>
            <a:cxnLst/>
            <a:rect r="r" b="b" t="t" l="l"/>
            <a:pathLst>
              <a:path h="229572" w="12644096">
                <a:moveTo>
                  <a:pt x="0" y="0"/>
                </a:moveTo>
                <a:lnTo>
                  <a:pt x="12644096" y="0"/>
                </a:lnTo>
                <a:lnTo>
                  <a:pt x="12644096" y="229572"/>
                </a:lnTo>
                <a:lnTo>
                  <a:pt x="0" y="229572"/>
                </a:lnTo>
                <a:lnTo>
                  <a:pt x="0" y="0"/>
                </a:lnTo>
                <a:close/>
              </a:path>
            </a:pathLst>
          </a:custGeom>
          <a:blipFill>
            <a:blip r:embed="rId9"/>
            <a:stretch>
              <a:fillRect l="0" t="0" r="0" b="0"/>
            </a:stretch>
          </a:blipFill>
        </p:spPr>
      </p:sp>
      <p:sp>
        <p:nvSpPr>
          <p:cNvPr name="Freeform 16" id="16"/>
          <p:cNvSpPr/>
          <p:nvPr/>
        </p:nvSpPr>
        <p:spPr>
          <a:xfrm flipH="false" flipV="false" rot="0">
            <a:off x="15017598" y="5783021"/>
            <a:ext cx="448450" cy="1082267"/>
          </a:xfrm>
          <a:custGeom>
            <a:avLst/>
            <a:gdLst/>
            <a:ahLst/>
            <a:cxnLst/>
            <a:rect r="r" b="b" t="t" l="l"/>
            <a:pathLst>
              <a:path h="1082267" w="448450">
                <a:moveTo>
                  <a:pt x="0" y="0"/>
                </a:moveTo>
                <a:lnTo>
                  <a:pt x="448450" y="0"/>
                </a:lnTo>
                <a:lnTo>
                  <a:pt x="448450" y="1082267"/>
                </a:lnTo>
                <a:lnTo>
                  <a:pt x="0" y="1082267"/>
                </a:lnTo>
                <a:lnTo>
                  <a:pt x="0" y="0"/>
                </a:lnTo>
                <a:close/>
              </a:path>
            </a:pathLst>
          </a:custGeom>
          <a:blipFill>
            <a:blip r:embed="rId10"/>
            <a:stretch>
              <a:fillRect l="0" t="0" r="0" b="0"/>
            </a:stretch>
          </a:blipFill>
        </p:spPr>
      </p:sp>
      <p:sp>
        <p:nvSpPr>
          <p:cNvPr name="TextBox 17" id="17"/>
          <p:cNvSpPr txBox="true"/>
          <p:nvPr/>
        </p:nvSpPr>
        <p:spPr>
          <a:xfrm rot="0">
            <a:off x="6032196" y="6347796"/>
            <a:ext cx="6868938" cy="382270"/>
          </a:xfrm>
          <a:prstGeom prst="rect">
            <a:avLst/>
          </a:prstGeom>
        </p:spPr>
        <p:txBody>
          <a:bodyPr anchor="t" rtlCol="false" tIns="0" lIns="0" bIns="0" rIns="0">
            <a:spAutoFit/>
          </a:bodyPr>
          <a:lstStyle/>
          <a:p>
            <a:pPr algn="ctr">
              <a:lnSpc>
                <a:spcPts val="3079"/>
              </a:lnSpc>
            </a:pPr>
            <a:r>
              <a:rPr lang="en-US" b="true" sz="2199" spc="-44">
                <a:solidFill>
                  <a:srgbClr val="545454"/>
                </a:solidFill>
                <a:latin typeface="Lato Bold"/>
                <a:ea typeface="Lato Bold"/>
                <a:cs typeface="Lato Bold"/>
                <a:sym typeface="Lato Bold"/>
              </a:rPr>
              <a:t>JSON-Response über die STAC API zurück an den Client</a:t>
            </a:r>
          </a:p>
        </p:txBody>
      </p:sp>
      <p:sp>
        <p:nvSpPr>
          <p:cNvPr name="Freeform 18" id="18"/>
          <p:cNvSpPr/>
          <p:nvPr/>
        </p:nvSpPr>
        <p:spPr>
          <a:xfrm flipH="false" flipV="false" rot="0">
            <a:off x="2176622" y="7707051"/>
            <a:ext cx="13726938" cy="1300906"/>
          </a:xfrm>
          <a:custGeom>
            <a:avLst/>
            <a:gdLst/>
            <a:ahLst/>
            <a:cxnLst/>
            <a:rect r="r" b="b" t="t" l="l"/>
            <a:pathLst>
              <a:path h="1300906" w="13726938">
                <a:moveTo>
                  <a:pt x="0" y="0"/>
                </a:moveTo>
                <a:lnTo>
                  <a:pt x="13726938" y="0"/>
                </a:lnTo>
                <a:lnTo>
                  <a:pt x="13726938" y="1300906"/>
                </a:lnTo>
                <a:lnTo>
                  <a:pt x="0" y="1300906"/>
                </a:lnTo>
                <a:lnTo>
                  <a:pt x="0" y="0"/>
                </a:lnTo>
                <a:close/>
              </a:path>
            </a:pathLst>
          </a:custGeom>
          <a:blipFill>
            <a:blip r:embed="rId11"/>
            <a:stretch>
              <a:fillRect l="0" t="0" r="0" b="0"/>
            </a:stretch>
          </a:blipFill>
        </p:spPr>
      </p:sp>
      <p:sp>
        <p:nvSpPr>
          <p:cNvPr name="TextBox 19" id="19"/>
          <p:cNvSpPr txBox="true"/>
          <p:nvPr/>
        </p:nvSpPr>
        <p:spPr>
          <a:xfrm rot="0">
            <a:off x="2903035" y="8138011"/>
            <a:ext cx="12142601" cy="469036"/>
          </a:xfrm>
          <a:prstGeom prst="rect">
            <a:avLst/>
          </a:prstGeom>
        </p:spPr>
        <p:txBody>
          <a:bodyPr anchor="t" rtlCol="false" tIns="0" lIns="0" bIns="0" rIns="0">
            <a:spAutoFit/>
          </a:bodyPr>
          <a:lstStyle/>
          <a:p>
            <a:pPr algn="ctr">
              <a:lnSpc>
                <a:spcPts val="3863"/>
              </a:lnSpc>
            </a:pPr>
            <a:r>
              <a:rPr lang="en-US" b="true" sz="2759" spc="-55">
                <a:solidFill>
                  <a:srgbClr val="264237"/>
                </a:solidFill>
                <a:latin typeface="Lato Bold"/>
                <a:ea typeface="Lato Bold"/>
                <a:cs typeface="Lato Bold"/>
                <a:sym typeface="Lato Bold"/>
              </a:rPr>
              <a:t>Die STAC API definiert die Schnittstelle, nicht die interne Speicherung.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99106" y="1017345"/>
            <a:ext cx="13135465" cy="759093"/>
          </a:xfrm>
          <a:prstGeom prst="rect">
            <a:avLst/>
          </a:prstGeom>
        </p:spPr>
        <p:txBody>
          <a:bodyPr anchor="t" rtlCol="false" tIns="0" lIns="0" bIns="0" rIns="0">
            <a:spAutoFit/>
          </a:bodyPr>
          <a:lstStyle/>
          <a:p>
            <a:pPr algn="l">
              <a:lnSpc>
                <a:spcPts val="6002"/>
              </a:lnSpc>
            </a:pPr>
            <a:r>
              <a:rPr lang="en-US" sz="5000" spc="-100" b="true">
                <a:solidFill>
                  <a:srgbClr val="264137"/>
                </a:solidFill>
                <a:latin typeface="Lato Bold"/>
                <a:ea typeface="Lato Bold"/>
                <a:cs typeface="Lato Bold"/>
                <a:sym typeface="Lato Bold"/>
              </a:rPr>
              <a:t>Foundation Specifications &amp; Conformance</a:t>
            </a:r>
          </a:p>
        </p:txBody>
      </p:sp>
      <p:sp>
        <p:nvSpPr>
          <p:cNvPr name="TextBox 4" id="4"/>
          <p:cNvSpPr txBox="true"/>
          <p:nvPr/>
        </p:nvSpPr>
        <p:spPr>
          <a:xfrm rot="0">
            <a:off x="796178" y="2051007"/>
            <a:ext cx="15677469" cy="713964"/>
          </a:xfrm>
          <a:prstGeom prst="rect">
            <a:avLst/>
          </a:prstGeom>
        </p:spPr>
        <p:txBody>
          <a:bodyPr anchor="t" rtlCol="false" tIns="0" lIns="0" bIns="0" rIns="0">
            <a:spAutoFit/>
          </a:bodyPr>
          <a:lstStyle/>
          <a:p>
            <a:pPr algn="l">
              <a:lnSpc>
                <a:spcPts val="2932"/>
              </a:lnSpc>
            </a:pPr>
            <a:r>
              <a:rPr lang="en-US" sz="2443" spc="-48" b="true">
                <a:solidFill>
                  <a:srgbClr val="666666"/>
                </a:solidFill>
                <a:latin typeface="Lato Bold"/>
                <a:ea typeface="Lato Bold"/>
                <a:cs typeface="Lato Bold"/>
                <a:sym typeface="Lato Bold"/>
              </a:rPr>
              <a:t>Die STAC API ist modular aufgebaut. Das bedeutet, dass nicht jeder Server alle Funktionen unterstützen muss.</a:t>
            </a:r>
          </a:p>
          <a:p>
            <a:pPr algn="l">
              <a:lnSpc>
                <a:spcPts val="2932"/>
              </a:lnSpc>
            </a:pPr>
          </a:p>
        </p:txBody>
      </p:sp>
      <p:sp>
        <p:nvSpPr>
          <p:cNvPr name="Freeform 5" id="5"/>
          <p:cNvSpPr/>
          <p:nvPr/>
        </p:nvSpPr>
        <p:spPr>
          <a:xfrm flipH="false" flipV="false" rot="0">
            <a:off x="645330" y="2995365"/>
            <a:ext cx="5457962" cy="4722618"/>
          </a:xfrm>
          <a:custGeom>
            <a:avLst/>
            <a:gdLst/>
            <a:ahLst/>
            <a:cxnLst/>
            <a:rect r="r" b="b" t="t" l="l"/>
            <a:pathLst>
              <a:path h="4722618" w="5457962">
                <a:moveTo>
                  <a:pt x="0" y="0"/>
                </a:moveTo>
                <a:lnTo>
                  <a:pt x="5457962" y="0"/>
                </a:lnTo>
                <a:lnTo>
                  <a:pt x="5457962" y="4722618"/>
                </a:lnTo>
                <a:lnTo>
                  <a:pt x="0" y="4722618"/>
                </a:lnTo>
                <a:lnTo>
                  <a:pt x="0" y="0"/>
                </a:lnTo>
                <a:close/>
              </a:path>
            </a:pathLst>
          </a:custGeom>
          <a:blipFill>
            <a:blip r:embed="rId3"/>
            <a:stretch>
              <a:fillRect l="0" t="0" r="0" b="0"/>
            </a:stretch>
          </a:blipFill>
        </p:spPr>
      </p:sp>
      <p:sp>
        <p:nvSpPr>
          <p:cNvPr name="Freeform 6" id="6"/>
          <p:cNvSpPr/>
          <p:nvPr/>
        </p:nvSpPr>
        <p:spPr>
          <a:xfrm flipH="false" flipV="false" rot="0">
            <a:off x="645330" y="2995365"/>
            <a:ext cx="5457962" cy="437279"/>
          </a:xfrm>
          <a:custGeom>
            <a:avLst/>
            <a:gdLst/>
            <a:ahLst/>
            <a:cxnLst/>
            <a:rect r="r" b="b" t="t" l="l"/>
            <a:pathLst>
              <a:path h="437279" w="5457962">
                <a:moveTo>
                  <a:pt x="0" y="0"/>
                </a:moveTo>
                <a:lnTo>
                  <a:pt x="5457962" y="0"/>
                </a:lnTo>
                <a:lnTo>
                  <a:pt x="5457962" y="437279"/>
                </a:lnTo>
                <a:lnTo>
                  <a:pt x="0" y="437279"/>
                </a:lnTo>
                <a:lnTo>
                  <a:pt x="0" y="0"/>
                </a:lnTo>
                <a:close/>
              </a:path>
            </a:pathLst>
          </a:custGeom>
          <a:blipFill>
            <a:blip r:embed="rId4"/>
            <a:stretch>
              <a:fillRect l="0" t="0" r="0" b="0"/>
            </a:stretch>
          </a:blipFill>
        </p:spPr>
      </p:sp>
      <p:sp>
        <p:nvSpPr>
          <p:cNvPr name="TextBox 7" id="7"/>
          <p:cNvSpPr txBox="true"/>
          <p:nvPr/>
        </p:nvSpPr>
        <p:spPr>
          <a:xfrm rot="0">
            <a:off x="1253808" y="3442140"/>
            <a:ext cx="527795" cy="1116031"/>
          </a:xfrm>
          <a:prstGeom prst="rect">
            <a:avLst/>
          </a:prstGeom>
        </p:spPr>
        <p:txBody>
          <a:bodyPr anchor="t" rtlCol="false" tIns="0" lIns="0" bIns="0" rIns="0">
            <a:spAutoFit/>
          </a:bodyPr>
          <a:lstStyle/>
          <a:p>
            <a:pPr algn="l">
              <a:lnSpc>
                <a:spcPts val="8826"/>
              </a:lnSpc>
            </a:pPr>
            <a:r>
              <a:rPr lang="en-US" sz="7354" spc="-147" b="true">
                <a:solidFill>
                  <a:srgbClr val="264137"/>
                </a:solidFill>
                <a:latin typeface="Lato Bold"/>
                <a:ea typeface="Lato Bold"/>
                <a:cs typeface="Lato Bold"/>
                <a:sym typeface="Lato Bold"/>
              </a:rPr>
              <a:t>1</a:t>
            </a:r>
          </a:p>
        </p:txBody>
      </p:sp>
      <p:sp>
        <p:nvSpPr>
          <p:cNvPr name="TextBox 8" id="8"/>
          <p:cNvSpPr txBox="true"/>
          <p:nvPr/>
        </p:nvSpPr>
        <p:spPr>
          <a:xfrm rot="0">
            <a:off x="1248294" y="4812677"/>
            <a:ext cx="1079158" cy="562777"/>
          </a:xfrm>
          <a:prstGeom prst="rect">
            <a:avLst/>
          </a:prstGeom>
        </p:spPr>
        <p:txBody>
          <a:bodyPr anchor="t" rtlCol="false" tIns="0" lIns="0" bIns="0" rIns="0">
            <a:spAutoFit/>
          </a:bodyPr>
          <a:lstStyle/>
          <a:p>
            <a:pPr algn="l">
              <a:lnSpc>
                <a:spcPts val="4456"/>
              </a:lnSpc>
            </a:pPr>
            <a:r>
              <a:rPr lang="en-US" sz="3713" spc="-74" b="true">
                <a:solidFill>
                  <a:srgbClr val="264137"/>
                </a:solidFill>
                <a:latin typeface="Lato Bold"/>
                <a:ea typeface="Lato Bold"/>
                <a:cs typeface="Lato Bold"/>
                <a:sym typeface="Lato Bold"/>
              </a:rPr>
              <a:t>Core</a:t>
            </a:r>
          </a:p>
        </p:txBody>
      </p:sp>
      <p:sp>
        <p:nvSpPr>
          <p:cNvPr name="Freeform 9" id="9"/>
          <p:cNvSpPr/>
          <p:nvPr/>
        </p:nvSpPr>
        <p:spPr>
          <a:xfrm flipH="false" flipV="false" rot="0">
            <a:off x="1082842" y="5564382"/>
            <a:ext cx="885962" cy="229572"/>
          </a:xfrm>
          <a:custGeom>
            <a:avLst/>
            <a:gdLst/>
            <a:ahLst/>
            <a:cxnLst/>
            <a:rect r="r" b="b" t="t" l="l"/>
            <a:pathLst>
              <a:path h="229572" w="885962">
                <a:moveTo>
                  <a:pt x="0" y="0"/>
                </a:moveTo>
                <a:lnTo>
                  <a:pt x="885962" y="0"/>
                </a:lnTo>
                <a:lnTo>
                  <a:pt x="885962" y="229571"/>
                </a:lnTo>
                <a:lnTo>
                  <a:pt x="0" y="229571"/>
                </a:lnTo>
                <a:lnTo>
                  <a:pt x="0" y="0"/>
                </a:lnTo>
                <a:close/>
              </a:path>
            </a:pathLst>
          </a:custGeom>
          <a:blipFill>
            <a:blip r:embed="rId5"/>
            <a:stretch>
              <a:fillRect l="0" t="0" r="0" b="0"/>
            </a:stretch>
          </a:blipFill>
        </p:spPr>
      </p:sp>
      <p:sp>
        <p:nvSpPr>
          <p:cNvPr name="Freeform 10" id="10"/>
          <p:cNvSpPr/>
          <p:nvPr/>
        </p:nvSpPr>
        <p:spPr>
          <a:xfrm flipH="false" flipV="false" rot="0">
            <a:off x="6311110" y="2995365"/>
            <a:ext cx="5447024" cy="4722618"/>
          </a:xfrm>
          <a:custGeom>
            <a:avLst/>
            <a:gdLst/>
            <a:ahLst/>
            <a:cxnLst/>
            <a:rect r="r" b="b" t="t" l="l"/>
            <a:pathLst>
              <a:path h="4722618" w="5447024">
                <a:moveTo>
                  <a:pt x="0" y="0"/>
                </a:moveTo>
                <a:lnTo>
                  <a:pt x="5447024" y="0"/>
                </a:lnTo>
                <a:lnTo>
                  <a:pt x="5447024" y="4722618"/>
                </a:lnTo>
                <a:lnTo>
                  <a:pt x="0" y="4722618"/>
                </a:lnTo>
                <a:lnTo>
                  <a:pt x="0" y="0"/>
                </a:lnTo>
                <a:close/>
              </a:path>
            </a:pathLst>
          </a:custGeom>
          <a:blipFill>
            <a:blip r:embed="rId6"/>
            <a:stretch>
              <a:fillRect l="0" t="0" r="0" b="0"/>
            </a:stretch>
          </a:blipFill>
        </p:spPr>
      </p:sp>
      <p:sp>
        <p:nvSpPr>
          <p:cNvPr name="Freeform 11" id="11"/>
          <p:cNvSpPr/>
          <p:nvPr/>
        </p:nvSpPr>
        <p:spPr>
          <a:xfrm flipH="false" flipV="false" rot="0">
            <a:off x="6311110" y="2995365"/>
            <a:ext cx="5447024" cy="437279"/>
          </a:xfrm>
          <a:custGeom>
            <a:avLst/>
            <a:gdLst/>
            <a:ahLst/>
            <a:cxnLst/>
            <a:rect r="r" b="b" t="t" l="l"/>
            <a:pathLst>
              <a:path h="437279" w="5447024">
                <a:moveTo>
                  <a:pt x="0" y="0"/>
                </a:moveTo>
                <a:lnTo>
                  <a:pt x="5447024" y="0"/>
                </a:lnTo>
                <a:lnTo>
                  <a:pt x="5447024" y="437279"/>
                </a:lnTo>
                <a:lnTo>
                  <a:pt x="0" y="437279"/>
                </a:lnTo>
                <a:lnTo>
                  <a:pt x="0" y="0"/>
                </a:lnTo>
                <a:close/>
              </a:path>
            </a:pathLst>
          </a:custGeom>
          <a:blipFill>
            <a:blip r:embed="rId7"/>
            <a:stretch>
              <a:fillRect l="0" t="0" r="0" b="0"/>
            </a:stretch>
          </a:blipFill>
        </p:spPr>
      </p:sp>
      <p:sp>
        <p:nvSpPr>
          <p:cNvPr name="TextBox 12" id="12"/>
          <p:cNvSpPr txBox="true"/>
          <p:nvPr/>
        </p:nvSpPr>
        <p:spPr>
          <a:xfrm rot="0">
            <a:off x="6852722" y="3442140"/>
            <a:ext cx="527795" cy="1116031"/>
          </a:xfrm>
          <a:prstGeom prst="rect">
            <a:avLst/>
          </a:prstGeom>
        </p:spPr>
        <p:txBody>
          <a:bodyPr anchor="t" rtlCol="false" tIns="0" lIns="0" bIns="0" rIns="0">
            <a:spAutoFit/>
          </a:bodyPr>
          <a:lstStyle/>
          <a:p>
            <a:pPr algn="l">
              <a:lnSpc>
                <a:spcPts val="8826"/>
              </a:lnSpc>
            </a:pPr>
            <a:r>
              <a:rPr lang="en-US" sz="7354" spc="-147" b="true">
                <a:solidFill>
                  <a:srgbClr val="264137"/>
                </a:solidFill>
                <a:latin typeface="Lato Bold"/>
                <a:ea typeface="Lato Bold"/>
                <a:cs typeface="Lato Bold"/>
                <a:sym typeface="Lato Bold"/>
              </a:rPr>
              <a:t>2</a:t>
            </a:r>
          </a:p>
        </p:txBody>
      </p:sp>
      <p:sp>
        <p:nvSpPr>
          <p:cNvPr name="TextBox 13" id="13"/>
          <p:cNvSpPr txBox="true"/>
          <p:nvPr/>
        </p:nvSpPr>
        <p:spPr>
          <a:xfrm rot="0">
            <a:off x="6830071" y="4812677"/>
            <a:ext cx="2792905" cy="562777"/>
          </a:xfrm>
          <a:prstGeom prst="rect">
            <a:avLst/>
          </a:prstGeom>
        </p:spPr>
        <p:txBody>
          <a:bodyPr anchor="t" rtlCol="false" tIns="0" lIns="0" bIns="0" rIns="0">
            <a:spAutoFit/>
          </a:bodyPr>
          <a:lstStyle/>
          <a:p>
            <a:pPr algn="l">
              <a:lnSpc>
                <a:spcPts val="4456"/>
              </a:lnSpc>
            </a:pPr>
            <a:r>
              <a:rPr lang="en-US" sz="3713" spc="-74" b="true">
                <a:solidFill>
                  <a:srgbClr val="264137"/>
                </a:solidFill>
                <a:latin typeface="Lato Bold"/>
                <a:ea typeface="Lato Bold"/>
                <a:cs typeface="Lato Bold"/>
                <a:sym typeface="Lato Bold"/>
              </a:rPr>
              <a:t>Item Search</a:t>
            </a:r>
          </a:p>
        </p:txBody>
      </p:sp>
      <p:sp>
        <p:nvSpPr>
          <p:cNvPr name="Freeform 14" id="14"/>
          <p:cNvSpPr/>
          <p:nvPr/>
        </p:nvSpPr>
        <p:spPr>
          <a:xfrm flipH="false" flipV="false" rot="0">
            <a:off x="6748622" y="5564382"/>
            <a:ext cx="875024" cy="229572"/>
          </a:xfrm>
          <a:custGeom>
            <a:avLst/>
            <a:gdLst/>
            <a:ahLst/>
            <a:cxnLst/>
            <a:rect r="r" b="b" t="t" l="l"/>
            <a:pathLst>
              <a:path h="229572" w="875024">
                <a:moveTo>
                  <a:pt x="0" y="0"/>
                </a:moveTo>
                <a:lnTo>
                  <a:pt x="875024" y="0"/>
                </a:lnTo>
                <a:lnTo>
                  <a:pt x="875024" y="229571"/>
                </a:lnTo>
                <a:lnTo>
                  <a:pt x="0" y="229571"/>
                </a:lnTo>
                <a:lnTo>
                  <a:pt x="0" y="0"/>
                </a:lnTo>
                <a:close/>
              </a:path>
            </a:pathLst>
          </a:custGeom>
          <a:blipFill>
            <a:blip r:embed="rId8"/>
            <a:stretch>
              <a:fillRect l="0" t="0" r="0" b="0"/>
            </a:stretch>
          </a:blipFill>
        </p:spPr>
      </p:sp>
      <p:sp>
        <p:nvSpPr>
          <p:cNvPr name="Freeform 15" id="15"/>
          <p:cNvSpPr/>
          <p:nvPr/>
        </p:nvSpPr>
        <p:spPr>
          <a:xfrm flipH="false" flipV="false" rot="0">
            <a:off x="11965952" y="2995365"/>
            <a:ext cx="5457962" cy="4722618"/>
          </a:xfrm>
          <a:custGeom>
            <a:avLst/>
            <a:gdLst/>
            <a:ahLst/>
            <a:cxnLst/>
            <a:rect r="r" b="b" t="t" l="l"/>
            <a:pathLst>
              <a:path h="4722618" w="5457962">
                <a:moveTo>
                  <a:pt x="0" y="0"/>
                </a:moveTo>
                <a:lnTo>
                  <a:pt x="5457962" y="0"/>
                </a:lnTo>
                <a:lnTo>
                  <a:pt x="5457962" y="4722618"/>
                </a:lnTo>
                <a:lnTo>
                  <a:pt x="0" y="4722618"/>
                </a:lnTo>
                <a:lnTo>
                  <a:pt x="0" y="0"/>
                </a:lnTo>
                <a:close/>
              </a:path>
            </a:pathLst>
          </a:custGeom>
          <a:blipFill>
            <a:blip r:embed="rId9"/>
            <a:stretch>
              <a:fillRect l="0" t="0" r="0" b="0"/>
            </a:stretch>
          </a:blipFill>
        </p:spPr>
      </p:sp>
      <p:sp>
        <p:nvSpPr>
          <p:cNvPr name="Freeform 16" id="16"/>
          <p:cNvSpPr/>
          <p:nvPr/>
        </p:nvSpPr>
        <p:spPr>
          <a:xfrm flipH="false" flipV="false" rot="0">
            <a:off x="11965952" y="2995365"/>
            <a:ext cx="5457962" cy="437279"/>
          </a:xfrm>
          <a:custGeom>
            <a:avLst/>
            <a:gdLst/>
            <a:ahLst/>
            <a:cxnLst/>
            <a:rect r="r" b="b" t="t" l="l"/>
            <a:pathLst>
              <a:path h="437279" w="5457962">
                <a:moveTo>
                  <a:pt x="0" y="0"/>
                </a:moveTo>
                <a:lnTo>
                  <a:pt x="5457962" y="0"/>
                </a:lnTo>
                <a:lnTo>
                  <a:pt x="5457962" y="437279"/>
                </a:lnTo>
                <a:lnTo>
                  <a:pt x="0" y="437279"/>
                </a:lnTo>
                <a:lnTo>
                  <a:pt x="0" y="0"/>
                </a:lnTo>
                <a:close/>
              </a:path>
            </a:pathLst>
          </a:custGeom>
          <a:blipFill>
            <a:blip r:embed="rId10"/>
            <a:stretch>
              <a:fillRect l="0" t="0" r="0" b="0"/>
            </a:stretch>
          </a:blipFill>
        </p:spPr>
      </p:sp>
      <p:sp>
        <p:nvSpPr>
          <p:cNvPr name="TextBox 17" id="17"/>
          <p:cNvSpPr txBox="true"/>
          <p:nvPr/>
        </p:nvSpPr>
        <p:spPr>
          <a:xfrm rot="0">
            <a:off x="12532003" y="3442140"/>
            <a:ext cx="527795" cy="1116031"/>
          </a:xfrm>
          <a:prstGeom prst="rect">
            <a:avLst/>
          </a:prstGeom>
        </p:spPr>
        <p:txBody>
          <a:bodyPr anchor="t" rtlCol="false" tIns="0" lIns="0" bIns="0" rIns="0">
            <a:spAutoFit/>
          </a:bodyPr>
          <a:lstStyle/>
          <a:p>
            <a:pPr algn="l">
              <a:lnSpc>
                <a:spcPts val="8826"/>
              </a:lnSpc>
            </a:pPr>
            <a:r>
              <a:rPr lang="en-US" sz="7354" spc="-147" b="true">
                <a:solidFill>
                  <a:srgbClr val="264137"/>
                </a:solidFill>
                <a:latin typeface="Lato Bold"/>
                <a:ea typeface="Lato Bold"/>
                <a:cs typeface="Lato Bold"/>
                <a:sym typeface="Lato Bold"/>
              </a:rPr>
              <a:t>3</a:t>
            </a:r>
          </a:p>
        </p:txBody>
      </p:sp>
      <p:sp>
        <p:nvSpPr>
          <p:cNvPr name="TextBox 18" id="18"/>
          <p:cNvSpPr txBox="true"/>
          <p:nvPr/>
        </p:nvSpPr>
        <p:spPr>
          <a:xfrm rot="0">
            <a:off x="12516794" y="4812677"/>
            <a:ext cx="2048716" cy="562777"/>
          </a:xfrm>
          <a:prstGeom prst="rect">
            <a:avLst/>
          </a:prstGeom>
        </p:spPr>
        <p:txBody>
          <a:bodyPr anchor="t" rtlCol="false" tIns="0" lIns="0" bIns="0" rIns="0">
            <a:spAutoFit/>
          </a:bodyPr>
          <a:lstStyle/>
          <a:p>
            <a:pPr algn="l">
              <a:lnSpc>
                <a:spcPts val="4456"/>
              </a:lnSpc>
            </a:pPr>
            <a:r>
              <a:rPr lang="en-US" sz="3713" spc="-74" b="true">
                <a:solidFill>
                  <a:srgbClr val="264137"/>
                </a:solidFill>
                <a:latin typeface="Lato Bold"/>
                <a:ea typeface="Lato Bold"/>
                <a:cs typeface="Lato Bold"/>
                <a:sym typeface="Lato Bold"/>
              </a:rPr>
              <a:t>Features</a:t>
            </a:r>
          </a:p>
        </p:txBody>
      </p:sp>
      <p:sp>
        <p:nvSpPr>
          <p:cNvPr name="Freeform 19" id="19"/>
          <p:cNvSpPr/>
          <p:nvPr/>
        </p:nvSpPr>
        <p:spPr>
          <a:xfrm flipH="false" flipV="false" rot="0">
            <a:off x="12403464" y="5564382"/>
            <a:ext cx="885962" cy="229572"/>
          </a:xfrm>
          <a:custGeom>
            <a:avLst/>
            <a:gdLst/>
            <a:ahLst/>
            <a:cxnLst/>
            <a:rect r="r" b="b" t="t" l="l"/>
            <a:pathLst>
              <a:path h="229572" w="885962">
                <a:moveTo>
                  <a:pt x="0" y="0"/>
                </a:moveTo>
                <a:lnTo>
                  <a:pt x="885962" y="0"/>
                </a:lnTo>
                <a:lnTo>
                  <a:pt x="885962" y="229571"/>
                </a:lnTo>
                <a:lnTo>
                  <a:pt x="0" y="229571"/>
                </a:lnTo>
                <a:lnTo>
                  <a:pt x="0" y="0"/>
                </a:lnTo>
                <a:close/>
              </a:path>
            </a:pathLst>
          </a:custGeom>
          <a:blipFill>
            <a:blip r:embed="rId11"/>
            <a:stretch>
              <a:fillRect l="0" t="0" r="0" b="0"/>
            </a:stretch>
          </a:blipFill>
        </p:spPr>
      </p:sp>
      <p:sp>
        <p:nvSpPr>
          <p:cNvPr name="Freeform 20" id="20"/>
          <p:cNvSpPr/>
          <p:nvPr/>
        </p:nvSpPr>
        <p:spPr>
          <a:xfrm flipH="false" flipV="false" rot="0">
            <a:off x="645330" y="7925691"/>
            <a:ext cx="16778584" cy="1082267"/>
          </a:xfrm>
          <a:custGeom>
            <a:avLst/>
            <a:gdLst/>
            <a:ahLst/>
            <a:cxnLst/>
            <a:rect r="r" b="b" t="t" l="l"/>
            <a:pathLst>
              <a:path h="1082267" w="16778584">
                <a:moveTo>
                  <a:pt x="0" y="0"/>
                </a:moveTo>
                <a:lnTo>
                  <a:pt x="16778584" y="0"/>
                </a:lnTo>
                <a:lnTo>
                  <a:pt x="16778584" y="1082266"/>
                </a:lnTo>
                <a:lnTo>
                  <a:pt x="0" y="1082266"/>
                </a:lnTo>
                <a:lnTo>
                  <a:pt x="0" y="0"/>
                </a:lnTo>
                <a:close/>
              </a:path>
            </a:pathLst>
          </a:custGeom>
          <a:blipFill>
            <a:blip r:embed="rId12"/>
            <a:stretch>
              <a:fillRect l="0" t="0" r="0" b="0"/>
            </a:stretch>
          </a:blipFill>
        </p:spPr>
      </p:sp>
      <p:sp>
        <p:nvSpPr>
          <p:cNvPr name="TextBox 21" id="21"/>
          <p:cNvSpPr txBox="true"/>
          <p:nvPr/>
        </p:nvSpPr>
        <p:spPr>
          <a:xfrm rot="0">
            <a:off x="699106" y="8301256"/>
            <a:ext cx="16392316" cy="399983"/>
          </a:xfrm>
          <a:prstGeom prst="rect">
            <a:avLst/>
          </a:prstGeom>
        </p:spPr>
        <p:txBody>
          <a:bodyPr anchor="t" rtlCol="false" tIns="0" lIns="0" bIns="0" rIns="0">
            <a:spAutoFit/>
          </a:bodyPr>
          <a:lstStyle/>
          <a:p>
            <a:pPr algn="ctr">
              <a:lnSpc>
                <a:spcPts val="3185"/>
              </a:lnSpc>
            </a:pPr>
            <a:r>
              <a:rPr lang="en-US" b="true" sz="2654" spc="-53">
                <a:solidFill>
                  <a:srgbClr val="F4F4F4"/>
                </a:solidFill>
                <a:latin typeface="Lato Bold"/>
                <a:ea typeface="Lato Bold"/>
                <a:cs typeface="Lato Bold"/>
                <a:sym typeface="Lato Bold"/>
              </a:rPr>
              <a:t>Das </a:t>
            </a:r>
            <a:r>
              <a:rPr lang="en-US" b="true" sz="2654" spc="-53">
                <a:solidFill>
                  <a:srgbClr val="F6F6F6"/>
                </a:solidFill>
                <a:latin typeface="Lato Bold"/>
                <a:ea typeface="Lato Bold"/>
                <a:cs typeface="Lato Bold"/>
                <a:sym typeface="Lato Bold"/>
              </a:rPr>
              <a:t>Feld </a:t>
            </a:r>
            <a:r>
              <a:rPr lang="en-US" b="true" sz="2654" spc="-53">
                <a:solidFill>
                  <a:srgbClr val="8AAD69"/>
                </a:solidFill>
                <a:latin typeface="Lato Bold"/>
                <a:ea typeface="Lato Bold"/>
                <a:cs typeface="Lato Bold"/>
                <a:sym typeface="Lato Bold"/>
              </a:rPr>
              <a:t>conformsTo</a:t>
            </a:r>
            <a:r>
              <a:rPr lang="en-US" sz="2654" spc="-53">
                <a:solidFill>
                  <a:srgbClr val="FFFFFF"/>
                </a:solidFill>
                <a:latin typeface="Lato"/>
                <a:ea typeface="Lato"/>
                <a:cs typeface="Lato"/>
                <a:sym typeface="Lato"/>
              </a:rPr>
              <a:t> </a:t>
            </a:r>
            <a:r>
              <a:rPr lang="en-US" sz="2654" spc="-53">
                <a:solidFill>
                  <a:srgbClr val="F6F6F6"/>
                </a:solidFill>
                <a:latin typeface="Lato"/>
                <a:ea typeface="Lato"/>
                <a:cs typeface="Lato"/>
                <a:sym typeface="Lato"/>
              </a:rPr>
              <a:t>auf der Landing Page </a:t>
            </a:r>
            <a:r>
              <a:rPr lang="en-US" sz="2654" spc="-53">
                <a:solidFill>
                  <a:srgbClr val="FFFFFF"/>
                </a:solidFill>
                <a:latin typeface="Lato"/>
                <a:ea typeface="Lato"/>
                <a:cs typeface="Lato"/>
                <a:sym typeface="Lato"/>
              </a:rPr>
              <a:t>zeigt, welche Spezifikationsbausteine ein Server unterstützt.</a:t>
            </a:r>
          </a:p>
        </p:txBody>
      </p:sp>
      <p:sp>
        <p:nvSpPr>
          <p:cNvPr name="TextBox 22" id="22"/>
          <p:cNvSpPr txBox="true"/>
          <p:nvPr/>
        </p:nvSpPr>
        <p:spPr>
          <a:xfrm rot="0">
            <a:off x="12537281" y="6158140"/>
            <a:ext cx="4554141" cy="973391"/>
          </a:xfrm>
          <a:prstGeom prst="rect">
            <a:avLst/>
          </a:prstGeom>
        </p:spPr>
        <p:txBody>
          <a:bodyPr anchor="t" rtlCol="false" tIns="0" lIns="0" bIns="0" rIns="0">
            <a:spAutoFit/>
          </a:bodyPr>
          <a:lstStyle/>
          <a:p>
            <a:pPr algn="l">
              <a:lnSpc>
                <a:spcPts val="2626"/>
              </a:lnSpc>
            </a:pPr>
            <a:r>
              <a:rPr lang="en-US" sz="2188" spc="-43" b="true">
                <a:solidFill>
                  <a:srgbClr val="666666"/>
                </a:solidFill>
                <a:latin typeface="Lato Bold"/>
                <a:ea typeface="Lato Bold"/>
                <a:cs typeface="Lato Bold"/>
                <a:sym typeface="Lato Bold"/>
              </a:rPr>
              <a:t>Stellt Collections und Items über Endpunkte bereit</a:t>
            </a:r>
          </a:p>
          <a:p>
            <a:pPr algn="l">
              <a:lnSpc>
                <a:spcPts val="2626"/>
              </a:lnSpc>
            </a:pPr>
          </a:p>
        </p:txBody>
      </p:sp>
      <p:sp>
        <p:nvSpPr>
          <p:cNvPr name="TextBox 23" id="23"/>
          <p:cNvSpPr txBox="true"/>
          <p:nvPr/>
        </p:nvSpPr>
        <p:spPr>
          <a:xfrm rot="0">
            <a:off x="6858000" y="6158140"/>
            <a:ext cx="4554141" cy="652093"/>
          </a:xfrm>
          <a:prstGeom prst="rect">
            <a:avLst/>
          </a:prstGeom>
        </p:spPr>
        <p:txBody>
          <a:bodyPr anchor="t" rtlCol="false" tIns="0" lIns="0" bIns="0" rIns="0">
            <a:spAutoFit/>
          </a:bodyPr>
          <a:lstStyle/>
          <a:p>
            <a:pPr algn="l">
              <a:lnSpc>
                <a:spcPts val="2626"/>
              </a:lnSpc>
            </a:pPr>
            <a:r>
              <a:rPr lang="en-US" sz="2188" spc="-43" b="true">
                <a:solidFill>
                  <a:srgbClr val="666666"/>
                </a:solidFill>
                <a:latin typeface="Lato Bold"/>
                <a:ea typeface="Lato Bold"/>
                <a:cs typeface="Lato Bold"/>
                <a:sym typeface="Lato Bold"/>
              </a:rPr>
              <a:t>Ermöglicht die Suche nach Items über</a:t>
            </a:r>
          </a:p>
          <a:p>
            <a:pPr algn="l">
              <a:lnSpc>
                <a:spcPts val="2626"/>
              </a:lnSpc>
            </a:pPr>
          </a:p>
        </p:txBody>
      </p:sp>
      <p:sp>
        <p:nvSpPr>
          <p:cNvPr name="TextBox 24" id="24"/>
          <p:cNvSpPr txBox="true"/>
          <p:nvPr/>
        </p:nvSpPr>
        <p:spPr>
          <a:xfrm rot="0">
            <a:off x="1259086" y="6158140"/>
            <a:ext cx="4554141" cy="973391"/>
          </a:xfrm>
          <a:prstGeom prst="rect">
            <a:avLst/>
          </a:prstGeom>
        </p:spPr>
        <p:txBody>
          <a:bodyPr anchor="t" rtlCol="false" tIns="0" lIns="0" bIns="0" rIns="0">
            <a:spAutoFit/>
          </a:bodyPr>
          <a:lstStyle/>
          <a:p>
            <a:pPr algn="l">
              <a:lnSpc>
                <a:spcPts val="2626"/>
              </a:lnSpc>
            </a:pPr>
            <a:r>
              <a:rPr lang="en-US" sz="2188" spc="-43" b="true">
                <a:solidFill>
                  <a:srgbClr val="666666"/>
                </a:solidFill>
                <a:latin typeface="Lato Bold"/>
                <a:ea typeface="Lato Bold"/>
                <a:cs typeface="Lato Bold"/>
                <a:sym typeface="Lato Bold"/>
              </a:rPr>
              <a:t>Enthält die grundlegende API-Struktur und die Landing Page</a:t>
            </a:r>
          </a:p>
          <a:p>
            <a:pPr algn="l">
              <a:lnSpc>
                <a:spcPts val="2626"/>
              </a:lnSpc>
            </a:pPr>
          </a:p>
        </p:txBody>
      </p:sp>
      <p:sp>
        <p:nvSpPr>
          <p:cNvPr name="TextBox 25" id="25"/>
          <p:cNvSpPr txBox="true"/>
          <p:nvPr/>
        </p:nvSpPr>
        <p:spPr>
          <a:xfrm rot="0">
            <a:off x="6858000" y="6655148"/>
            <a:ext cx="4554141" cy="330767"/>
          </a:xfrm>
          <a:prstGeom prst="rect">
            <a:avLst/>
          </a:prstGeom>
        </p:spPr>
        <p:txBody>
          <a:bodyPr anchor="t" rtlCol="false" tIns="0" lIns="0" bIns="0" rIns="0">
            <a:spAutoFit/>
          </a:bodyPr>
          <a:lstStyle/>
          <a:p>
            <a:pPr algn="l">
              <a:lnSpc>
                <a:spcPts val="2626"/>
              </a:lnSpc>
            </a:pPr>
            <a:r>
              <a:rPr lang="en-US" sz="2188" spc="-43" b="true">
                <a:solidFill>
                  <a:srgbClr val="264137"/>
                </a:solidFill>
                <a:latin typeface="Lato Bold"/>
                <a:ea typeface="Lato Bold"/>
                <a:cs typeface="Lato Bold"/>
                <a:sym typeface="Lato Bold"/>
              </a:rPr>
              <a:t>/search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779818" y="2569017"/>
            <a:ext cx="448450" cy="7291635"/>
          </a:xfrm>
          <a:custGeom>
            <a:avLst/>
            <a:gdLst/>
            <a:ahLst/>
            <a:cxnLst/>
            <a:rect r="r" b="b" t="t" l="l"/>
            <a:pathLst>
              <a:path h="7291635" w="448450">
                <a:moveTo>
                  <a:pt x="0" y="0"/>
                </a:moveTo>
                <a:lnTo>
                  <a:pt x="448450" y="0"/>
                </a:lnTo>
                <a:lnTo>
                  <a:pt x="448450" y="7291635"/>
                </a:lnTo>
                <a:lnTo>
                  <a:pt x="0" y="7291635"/>
                </a:lnTo>
                <a:lnTo>
                  <a:pt x="0" y="0"/>
                </a:lnTo>
                <a:close/>
              </a:path>
            </a:pathLst>
          </a:custGeom>
          <a:blipFill>
            <a:blip r:embed="rId3"/>
            <a:stretch>
              <a:fillRect l="0" t="0" r="0" b="0"/>
            </a:stretch>
          </a:blipFill>
        </p:spPr>
      </p:sp>
      <p:sp>
        <p:nvSpPr>
          <p:cNvPr name="Freeform 4" id="4"/>
          <p:cNvSpPr/>
          <p:nvPr/>
        </p:nvSpPr>
        <p:spPr>
          <a:xfrm flipH="false" flipV="false" rot="0">
            <a:off x="4998574" y="2776725"/>
            <a:ext cx="885962" cy="229572"/>
          </a:xfrm>
          <a:custGeom>
            <a:avLst/>
            <a:gdLst/>
            <a:ahLst/>
            <a:cxnLst/>
            <a:rect r="r" b="b" t="t" l="l"/>
            <a:pathLst>
              <a:path h="229572" w="885962">
                <a:moveTo>
                  <a:pt x="0" y="0"/>
                </a:moveTo>
                <a:lnTo>
                  <a:pt x="885962" y="0"/>
                </a:lnTo>
                <a:lnTo>
                  <a:pt x="885962" y="229571"/>
                </a:lnTo>
                <a:lnTo>
                  <a:pt x="0" y="229571"/>
                </a:lnTo>
                <a:lnTo>
                  <a:pt x="0" y="0"/>
                </a:lnTo>
                <a:close/>
              </a:path>
            </a:pathLst>
          </a:custGeom>
          <a:blipFill>
            <a:blip r:embed="rId4"/>
            <a:stretch>
              <a:fillRect l="0" t="0" r="0" b="0"/>
            </a:stretch>
          </a:blipFill>
        </p:spPr>
      </p:sp>
      <p:sp>
        <p:nvSpPr>
          <p:cNvPr name="Freeform 5" id="5"/>
          <p:cNvSpPr/>
          <p:nvPr/>
        </p:nvSpPr>
        <p:spPr>
          <a:xfrm flipH="false" flipV="false" rot="0">
            <a:off x="5436086" y="2569017"/>
            <a:ext cx="11331560" cy="863627"/>
          </a:xfrm>
          <a:custGeom>
            <a:avLst/>
            <a:gdLst/>
            <a:ahLst/>
            <a:cxnLst/>
            <a:rect r="r" b="b" t="t" l="l"/>
            <a:pathLst>
              <a:path h="863627" w="11331560">
                <a:moveTo>
                  <a:pt x="0" y="0"/>
                </a:moveTo>
                <a:lnTo>
                  <a:pt x="11331560" y="0"/>
                </a:lnTo>
                <a:lnTo>
                  <a:pt x="11331560" y="863627"/>
                </a:lnTo>
                <a:lnTo>
                  <a:pt x="0" y="863627"/>
                </a:lnTo>
                <a:lnTo>
                  <a:pt x="0" y="0"/>
                </a:lnTo>
                <a:close/>
              </a:path>
            </a:pathLst>
          </a:custGeom>
          <a:blipFill>
            <a:blip r:embed="rId5"/>
            <a:stretch>
              <a:fillRect l="0" t="0" r="0" b="0"/>
            </a:stretch>
          </a:blipFill>
        </p:spPr>
      </p:sp>
      <p:sp>
        <p:nvSpPr>
          <p:cNvPr name="Freeform 6" id="6"/>
          <p:cNvSpPr/>
          <p:nvPr/>
        </p:nvSpPr>
        <p:spPr>
          <a:xfrm flipH="false" flipV="false" rot="0">
            <a:off x="4998574" y="3848060"/>
            <a:ext cx="885962" cy="229572"/>
          </a:xfrm>
          <a:custGeom>
            <a:avLst/>
            <a:gdLst/>
            <a:ahLst/>
            <a:cxnLst/>
            <a:rect r="r" b="b" t="t" l="l"/>
            <a:pathLst>
              <a:path h="229572" w="885962">
                <a:moveTo>
                  <a:pt x="0" y="0"/>
                </a:moveTo>
                <a:lnTo>
                  <a:pt x="885962" y="0"/>
                </a:lnTo>
                <a:lnTo>
                  <a:pt x="885962" y="229571"/>
                </a:lnTo>
                <a:lnTo>
                  <a:pt x="0" y="229571"/>
                </a:lnTo>
                <a:lnTo>
                  <a:pt x="0" y="0"/>
                </a:lnTo>
                <a:close/>
              </a:path>
            </a:pathLst>
          </a:custGeom>
          <a:blipFill>
            <a:blip r:embed="rId6"/>
            <a:stretch>
              <a:fillRect l="0" t="0" r="0" b="0"/>
            </a:stretch>
          </a:blipFill>
        </p:spPr>
      </p:sp>
      <p:sp>
        <p:nvSpPr>
          <p:cNvPr name="Freeform 7" id="7"/>
          <p:cNvSpPr/>
          <p:nvPr/>
        </p:nvSpPr>
        <p:spPr>
          <a:xfrm flipH="false" flipV="false" rot="0">
            <a:off x="5436086" y="3421712"/>
            <a:ext cx="11331560" cy="874559"/>
          </a:xfrm>
          <a:custGeom>
            <a:avLst/>
            <a:gdLst/>
            <a:ahLst/>
            <a:cxnLst/>
            <a:rect r="r" b="b" t="t" l="l"/>
            <a:pathLst>
              <a:path h="874559" w="11331560">
                <a:moveTo>
                  <a:pt x="0" y="0"/>
                </a:moveTo>
                <a:lnTo>
                  <a:pt x="11331560" y="0"/>
                </a:lnTo>
                <a:lnTo>
                  <a:pt x="11331560" y="874559"/>
                </a:lnTo>
                <a:lnTo>
                  <a:pt x="0" y="874559"/>
                </a:lnTo>
                <a:lnTo>
                  <a:pt x="0" y="0"/>
                </a:lnTo>
                <a:close/>
              </a:path>
            </a:pathLst>
          </a:custGeom>
          <a:blipFill>
            <a:blip r:embed="rId7"/>
            <a:stretch>
              <a:fillRect l="0" t="0" r="0" b="0"/>
            </a:stretch>
          </a:blipFill>
        </p:spPr>
      </p:sp>
      <p:sp>
        <p:nvSpPr>
          <p:cNvPr name="Freeform 8" id="8"/>
          <p:cNvSpPr/>
          <p:nvPr/>
        </p:nvSpPr>
        <p:spPr>
          <a:xfrm flipH="false" flipV="false" rot="0">
            <a:off x="4998574" y="4711687"/>
            <a:ext cx="885962" cy="218640"/>
          </a:xfrm>
          <a:custGeom>
            <a:avLst/>
            <a:gdLst/>
            <a:ahLst/>
            <a:cxnLst/>
            <a:rect r="r" b="b" t="t" l="l"/>
            <a:pathLst>
              <a:path h="218640" w="885962">
                <a:moveTo>
                  <a:pt x="0" y="0"/>
                </a:moveTo>
                <a:lnTo>
                  <a:pt x="885962" y="0"/>
                </a:lnTo>
                <a:lnTo>
                  <a:pt x="885962" y="218639"/>
                </a:lnTo>
                <a:lnTo>
                  <a:pt x="0" y="218639"/>
                </a:lnTo>
                <a:lnTo>
                  <a:pt x="0" y="0"/>
                </a:lnTo>
                <a:close/>
              </a:path>
            </a:pathLst>
          </a:custGeom>
          <a:blipFill>
            <a:blip r:embed="rId8"/>
            <a:stretch>
              <a:fillRect l="0" t="0" r="0" b="0"/>
            </a:stretch>
          </a:blipFill>
        </p:spPr>
      </p:sp>
      <p:sp>
        <p:nvSpPr>
          <p:cNvPr name="Freeform 9" id="9"/>
          <p:cNvSpPr/>
          <p:nvPr/>
        </p:nvSpPr>
        <p:spPr>
          <a:xfrm flipH="false" flipV="false" rot="0">
            <a:off x="5436086" y="4493047"/>
            <a:ext cx="11331560" cy="874559"/>
          </a:xfrm>
          <a:custGeom>
            <a:avLst/>
            <a:gdLst/>
            <a:ahLst/>
            <a:cxnLst/>
            <a:rect r="r" b="b" t="t" l="l"/>
            <a:pathLst>
              <a:path h="874559" w="11331560">
                <a:moveTo>
                  <a:pt x="0" y="0"/>
                </a:moveTo>
                <a:lnTo>
                  <a:pt x="11331560" y="0"/>
                </a:lnTo>
                <a:lnTo>
                  <a:pt x="11331560" y="874559"/>
                </a:lnTo>
                <a:lnTo>
                  <a:pt x="0" y="874559"/>
                </a:lnTo>
                <a:lnTo>
                  <a:pt x="0" y="0"/>
                </a:lnTo>
                <a:close/>
              </a:path>
            </a:pathLst>
          </a:custGeom>
          <a:blipFill>
            <a:blip r:embed="rId9"/>
            <a:stretch>
              <a:fillRect l="0" t="0" r="0" b="0"/>
            </a:stretch>
          </a:blipFill>
        </p:spPr>
      </p:sp>
      <p:sp>
        <p:nvSpPr>
          <p:cNvPr name="Freeform 10" id="10"/>
          <p:cNvSpPr/>
          <p:nvPr/>
        </p:nvSpPr>
        <p:spPr>
          <a:xfrm flipH="false" flipV="false" rot="0">
            <a:off x="4998574" y="5783021"/>
            <a:ext cx="885962" cy="218640"/>
          </a:xfrm>
          <a:custGeom>
            <a:avLst/>
            <a:gdLst/>
            <a:ahLst/>
            <a:cxnLst/>
            <a:rect r="r" b="b" t="t" l="l"/>
            <a:pathLst>
              <a:path h="218640" w="885962">
                <a:moveTo>
                  <a:pt x="0" y="0"/>
                </a:moveTo>
                <a:lnTo>
                  <a:pt x="885962" y="0"/>
                </a:lnTo>
                <a:lnTo>
                  <a:pt x="885962" y="218640"/>
                </a:lnTo>
                <a:lnTo>
                  <a:pt x="0" y="218640"/>
                </a:lnTo>
                <a:lnTo>
                  <a:pt x="0" y="0"/>
                </a:lnTo>
                <a:close/>
              </a:path>
            </a:pathLst>
          </a:custGeom>
          <a:blipFill>
            <a:blip r:embed="rId10"/>
            <a:stretch>
              <a:fillRect l="0" t="0" r="0" b="0"/>
            </a:stretch>
          </a:blipFill>
        </p:spPr>
      </p:sp>
      <p:sp>
        <p:nvSpPr>
          <p:cNvPr name="Freeform 11" id="11"/>
          <p:cNvSpPr/>
          <p:nvPr/>
        </p:nvSpPr>
        <p:spPr>
          <a:xfrm flipH="false" flipV="false" rot="0">
            <a:off x="5436086" y="5356674"/>
            <a:ext cx="11331560" cy="863627"/>
          </a:xfrm>
          <a:custGeom>
            <a:avLst/>
            <a:gdLst/>
            <a:ahLst/>
            <a:cxnLst/>
            <a:rect r="r" b="b" t="t" l="l"/>
            <a:pathLst>
              <a:path h="863627" w="11331560">
                <a:moveTo>
                  <a:pt x="0" y="0"/>
                </a:moveTo>
                <a:lnTo>
                  <a:pt x="11331560" y="0"/>
                </a:lnTo>
                <a:lnTo>
                  <a:pt x="11331560" y="863627"/>
                </a:lnTo>
                <a:lnTo>
                  <a:pt x="0" y="863627"/>
                </a:lnTo>
                <a:lnTo>
                  <a:pt x="0" y="0"/>
                </a:lnTo>
                <a:close/>
              </a:path>
            </a:pathLst>
          </a:custGeom>
          <a:blipFill>
            <a:blip r:embed="rId11"/>
            <a:stretch>
              <a:fillRect l="0" t="0" r="0" b="0"/>
            </a:stretch>
          </a:blipFill>
        </p:spPr>
      </p:sp>
      <p:sp>
        <p:nvSpPr>
          <p:cNvPr name="Freeform 12" id="12"/>
          <p:cNvSpPr/>
          <p:nvPr/>
        </p:nvSpPr>
        <p:spPr>
          <a:xfrm flipH="false" flipV="false" rot="0">
            <a:off x="4998574" y="6635716"/>
            <a:ext cx="885962" cy="229572"/>
          </a:xfrm>
          <a:custGeom>
            <a:avLst/>
            <a:gdLst/>
            <a:ahLst/>
            <a:cxnLst/>
            <a:rect r="r" b="b" t="t" l="l"/>
            <a:pathLst>
              <a:path h="229572" w="885962">
                <a:moveTo>
                  <a:pt x="0" y="0"/>
                </a:moveTo>
                <a:lnTo>
                  <a:pt x="885962" y="0"/>
                </a:lnTo>
                <a:lnTo>
                  <a:pt x="885962" y="229572"/>
                </a:lnTo>
                <a:lnTo>
                  <a:pt x="0" y="229572"/>
                </a:lnTo>
                <a:lnTo>
                  <a:pt x="0" y="0"/>
                </a:lnTo>
                <a:close/>
              </a:path>
            </a:pathLst>
          </a:custGeom>
          <a:blipFill>
            <a:blip r:embed="rId12"/>
            <a:stretch>
              <a:fillRect l="0" t="0" r="0" b="0"/>
            </a:stretch>
          </a:blipFill>
        </p:spPr>
      </p:sp>
      <p:sp>
        <p:nvSpPr>
          <p:cNvPr name="Freeform 13" id="13"/>
          <p:cNvSpPr/>
          <p:nvPr/>
        </p:nvSpPr>
        <p:spPr>
          <a:xfrm flipH="false" flipV="false" rot="0">
            <a:off x="5436086" y="6428009"/>
            <a:ext cx="11331560" cy="863627"/>
          </a:xfrm>
          <a:custGeom>
            <a:avLst/>
            <a:gdLst/>
            <a:ahLst/>
            <a:cxnLst/>
            <a:rect r="r" b="b" t="t" l="l"/>
            <a:pathLst>
              <a:path h="863627" w="11331560">
                <a:moveTo>
                  <a:pt x="0" y="0"/>
                </a:moveTo>
                <a:lnTo>
                  <a:pt x="11331560" y="0"/>
                </a:lnTo>
                <a:lnTo>
                  <a:pt x="11331560" y="863626"/>
                </a:lnTo>
                <a:lnTo>
                  <a:pt x="0" y="863626"/>
                </a:lnTo>
                <a:lnTo>
                  <a:pt x="0" y="0"/>
                </a:lnTo>
                <a:close/>
              </a:path>
            </a:pathLst>
          </a:custGeom>
          <a:blipFill>
            <a:blip r:embed="rId13"/>
            <a:stretch>
              <a:fillRect l="0" t="0" r="0" b="0"/>
            </a:stretch>
          </a:blipFill>
        </p:spPr>
      </p:sp>
      <p:sp>
        <p:nvSpPr>
          <p:cNvPr name="Freeform 14" id="14"/>
          <p:cNvSpPr/>
          <p:nvPr/>
        </p:nvSpPr>
        <p:spPr>
          <a:xfrm flipH="false" flipV="false" rot="0">
            <a:off x="4998574" y="7707051"/>
            <a:ext cx="885962" cy="229572"/>
          </a:xfrm>
          <a:custGeom>
            <a:avLst/>
            <a:gdLst/>
            <a:ahLst/>
            <a:cxnLst/>
            <a:rect r="r" b="b" t="t" l="l"/>
            <a:pathLst>
              <a:path h="229572" w="885962">
                <a:moveTo>
                  <a:pt x="0" y="0"/>
                </a:moveTo>
                <a:lnTo>
                  <a:pt x="885962" y="0"/>
                </a:lnTo>
                <a:lnTo>
                  <a:pt x="885962" y="229572"/>
                </a:lnTo>
                <a:lnTo>
                  <a:pt x="0" y="229572"/>
                </a:lnTo>
                <a:lnTo>
                  <a:pt x="0" y="0"/>
                </a:lnTo>
                <a:close/>
              </a:path>
            </a:pathLst>
          </a:custGeom>
          <a:blipFill>
            <a:blip r:embed="rId14"/>
            <a:stretch>
              <a:fillRect l="0" t="0" r="0" b="0"/>
            </a:stretch>
          </a:blipFill>
        </p:spPr>
      </p:sp>
      <p:sp>
        <p:nvSpPr>
          <p:cNvPr name="Freeform 15" id="15"/>
          <p:cNvSpPr/>
          <p:nvPr/>
        </p:nvSpPr>
        <p:spPr>
          <a:xfrm flipH="false" flipV="false" rot="0">
            <a:off x="5436086" y="7280704"/>
            <a:ext cx="11331560" cy="863627"/>
          </a:xfrm>
          <a:custGeom>
            <a:avLst/>
            <a:gdLst/>
            <a:ahLst/>
            <a:cxnLst/>
            <a:rect r="r" b="b" t="t" l="l"/>
            <a:pathLst>
              <a:path h="863627" w="11331560">
                <a:moveTo>
                  <a:pt x="0" y="0"/>
                </a:moveTo>
                <a:lnTo>
                  <a:pt x="11331560" y="0"/>
                </a:lnTo>
                <a:lnTo>
                  <a:pt x="11331560" y="863626"/>
                </a:lnTo>
                <a:lnTo>
                  <a:pt x="0" y="863626"/>
                </a:lnTo>
                <a:lnTo>
                  <a:pt x="0" y="0"/>
                </a:lnTo>
                <a:close/>
              </a:path>
            </a:pathLst>
          </a:custGeom>
          <a:blipFill>
            <a:blip r:embed="rId15"/>
            <a:stretch>
              <a:fillRect l="0" t="0" r="0" b="0"/>
            </a:stretch>
          </a:blipFill>
        </p:spPr>
      </p:sp>
      <p:sp>
        <p:nvSpPr>
          <p:cNvPr name="Freeform 16" id="16"/>
          <p:cNvSpPr/>
          <p:nvPr/>
        </p:nvSpPr>
        <p:spPr>
          <a:xfrm flipH="false" flipV="false" rot="0">
            <a:off x="4998574" y="8570678"/>
            <a:ext cx="885962" cy="218640"/>
          </a:xfrm>
          <a:custGeom>
            <a:avLst/>
            <a:gdLst/>
            <a:ahLst/>
            <a:cxnLst/>
            <a:rect r="r" b="b" t="t" l="l"/>
            <a:pathLst>
              <a:path h="218640" w="885962">
                <a:moveTo>
                  <a:pt x="0" y="0"/>
                </a:moveTo>
                <a:lnTo>
                  <a:pt x="885962" y="0"/>
                </a:lnTo>
                <a:lnTo>
                  <a:pt x="885962" y="218640"/>
                </a:lnTo>
                <a:lnTo>
                  <a:pt x="0" y="218640"/>
                </a:lnTo>
                <a:lnTo>
                  <a:pt x="0" y="0"/>
                </a:lnTo>
                <a:close/>
              </a:path>
            </a:pathLst>
          </a:custGeom>
          <a:blipFill>
            <a:blip r:embed="rId16"/>
            <a:stretch>
              <a:fillRect l="0" t="0" r="0" b="0"/>
            </a:stretch>
          </a:blipFill>
        </p:spPr>
      </p:sp>
      <p:sp>
        <p:nvSpPr>
          <p:cNvPr name="Freeform 17" id="17"/>
          <p:cNvSpPr/>
          <p:nvPr/>
        </p:nvSpPr>
        <p:spPr>
          <a:xfrm flipH="false" flipV="false" rot="0">
            <a:off x="5436086" y="8352038"/>
            <a:ext cx="11331560" cy="863627"/>
          </a:xfrm>
          <a:custGeom>
            <a:avLst/>
            <a:gdLst/>
            <a:ahLst/>
            <a:cxnLst/>
            <a:rect r="r" b="b" t="t" l="l"/>
            <a:pathLst>
              <a:path h="863627" w="11331560">
                <a:moveTo>
                  <a:pt x="0" y="0"/>
                </a:moveTo>
                <a:lnTo>
                  <a:pt x="11331560" y="0"/>
                </a:lnTo>
                <a:lnTo>
                  <a:pt x="11331560" y="863627"/>
                </a:lnTo>
                <a:lnTo>
                  <a:pt x="0" y="863627"/>
                </a:lnTo>
                <a:lnTo>
                  <a:pt x="0" y="0"/>
                </a:lnTo>
                <a:close/>
              </a:path>
            </a:pathLst>
          </a:custGeom>
          <a:blipFill>
            <a:blip r:embed="rId17"/>
            <a:stretch>
              <a:fillRect l="0" t="0" r="0" b="0"/>
            </a:stretch>
          </a:blipFill>
        </p:spPr>
      </p:sp>
      <p:grpSp>
        <p:nvGrpSpPr>
          <p:cNvPr name="Group 18" id="18"/>
          <p:cNvGrpSpPr/>
          <p:nvPr/>
        </p:nvGrpSpPr>
        <p:grpSpPr>
          <a:xfrm rot="0">
            <a:off x="502294" y="2857228"/>
            <a:ext cx="4067974" cy="6070226"/>
            <a:chOff x="0" y="0"/>
            <a:chExt cx="1071400" cy="1598743"/>
          </a:xfrm>
        </p:grpSpPr>
        <p:sp>
          <p:nvSpPr>
            <p:cNvPr name="Freeform 19" id="19"/>
            <p:cNvSpPr/>
            <p:nvPr/>
          </p:nvSpPr>
          <p:spPr>
            <a:xfrm flipH="false" flipV="false" rot="0">
              <a:off x="0" y="0"/>
              <a:ext cx="1071400" cy="1598743"/>
            </a:xfrm>
            <a:custGeom>
              <a:avLst/>
              <a:gdLst/>
              <a:ahLst/>
              <a:cxnLst/>
              <a:rect r="r" b="b" t="t" l="l"/>
              <a:pathLst>
                <a:path h="1598743" w="1071400">
                  <a:moveTo>
                    <a:pt x="57094" y="0"/>
                  </a:moveTo>
                  <a:lnTo>
                    <a:pt x="1014306" y="0"/>
                  </a:lnTo>
                  <a:cubicBezTo>
                    <a:pt x="1029449" y="0"/>
                    <a:pt x="1043971" y="6015"/>
                    <a:pt x="1054678" y="16722"/>
                  </a:cubicBezTo>
                  <a:cubicBezTo>
                    <a:pt x="1065385" y="27430"/>
                    <a:pt x="1071400" y="41952"/>
                    <a:pt x="1071400" y="57094"/>
                  </a:cubicBezTo>
                  <a:lnTo>
                    <a:pt x="1071400" y="1541648"/>
                  </a:lnTo>
                  <a:cubicBezTo>
                    <a:pt x="1071400" y="1556791"/>
                    <a:pt x="1065385" y="1571313"/>
                    <a:pt x="1054678" y="1582020"/>
                  </a:cubicBezTo>
                  <a:cubicBezTo>
                    <a:pt x="1043971" y="1592727"/>
                    <a:pt x="1029449" y="1598743"/>
                    <a:pt x="1014306" y="1598743"/>
                  </a:cubicBezTo>
                  <a:lnTo>
                    <a:pt x="57094" y="1598743"/>
                  </a:lnTo>
                  <a:cubicBezTo>
                    <a:pt x="41952" y="1598743"/>
                    <a:pt x="27430" y="1592727"/>
                    <a:pt x="16722" y="1582020"/>
                  </a:cubicBezTo>
                  <a:cubicBezTo>
                    <a:pt x="6015" y="1571313"/>
                    <a:pt x="0" y="1556791"/>
                    <a:pt x="0" y="1541648"/>
                  </a:cubicBezTo>
                  <a:lnTo>
                    <a:pt x="0" y="57094"/>
                  </a:lnTo>
                  <a:cubicBezTo>
                    <a:pt x="0" y="41952"/>
                    <a:pt x="6015" y="27430"/>
                    <a:pt x="16722" y="16722"/>
                  </a:cubicBezTo>
                  <a:cubicBezTo>
                    <a:pt x="27430" y="6015"/>
                    <a:pt x="41952" y="0"/>
                    <a:pt x="57094" y="0"/>
                  </a:cubicBezTo>
                  <a:close/>
                </a:path>
              </a:pathLst>
            </a:custGeom>
            <a:solidFill>
              <a:srgbClr val="264237"/>
            </a:solidFill>
          </p:spPr>
        </p:sp>
        <p:sp>
          <p:nvSpPr>
            <p:cNvPr name="TextBox 20" id="20"/>
            <p:cNvSpPr txBox="true"/>
            <p:nvPr/>
          </p:nvSpPr>
          <p:spPr>
            <a:xfrm>
              <a:off x="0" y="-47625"/>
              <a:ext cx="1071400" cy="1646368"/>
            </a:xfrm>
            <a:prstGeom prst="rect">
              <a:avLst/>
            </a:prstGeom>
          </p:spPr>
          <p:txBody>
            <a:bodyPr anchor="ctr" rtlCol="false" tIns="50800" lIns="50800" bIns="50800" rIns="50800"/>
            <a:lstStyle/>
            <a:p>
              <a:pPr algn="ctr">
                <a:lnSpc>
                  <a:spcPts val="2399"/>
                </a:lnSpc>
              </a:pPr>
            </a:p>
          </p:txBody>
        </p:sp>
      </p:grpSp>
      <p:sp>
        <p:nvSpPr>
          <p:cNvPr name="TextBox 21" id="21"/>
          <p:cNvSpPr txBox="true"/>
          <p:nvPr/>
        </p:nvSpPr>
        <p:spPr>
          <a:xfrm rot="0">
            <a:off x="427271" y="532855"/>
            <a:ext cx="7320913" cy="800227"/>
          </a:xfrm>
          <a:prstGeom prst="rect">
            <a:avLst/>
          </a:prstGeom>
        </p:spPr>
        <p:txBody>
          <a:bodyPr anchor="t" rtlCol="false" tIns="0" lIns="0" bIns="0" rIns="0">
            <a:spAutoFit/>
          </a:bodyPr>
          <a:lstStyle/>
          <a:p>
            <a:pPr algn="l">
              <a:lnSpc>
                <a:spcPts val="6107"/>
              </a:lnSpc>
            </a:pPr>
            <a:r>
              <a:rPr lang="en-US" sz="5554" b="true">
                <a:solidFill>
                  <a:srgbClr val="2B473D"/>
                </a:solidFill>
                <a:latin typeface="Lato Bold"/>
                <a:ea typeface="Lato Bold"/>
                <a:cs typeface="Lato Bold"/>
                <a:sym typeface="Lato Bold"/>
              </a:rPr>
              <a:t>Wichtige Endpunkte</a:t>
            </a:r>
          </a:p>
        </p:txBody>
      </p:sp>
      <p:sp>
        <p:nvSpPr>
          <p:cNvPr name="TextBox 22" id="22"/>
          <p:cNvSpPr txBox="true"/>
          <p:nvPr/>
        </p:nvSpPr>
        <p:spPr>
          <a:xfrm rot="0">
            <a:off x="427271" y="1548503"/>
            <a:ext cx="16832029" cy="654214"/>
          </a:xfrm>
          <a:prstGeom prst="rect">
            <a:avLst/>
          </a:prstGeom>
        </p:spPr>
        <p:txBody>
          <a:bodyPr anchor="t" rtlCol="false" tIns="0" lIns="0" bIns="0" rIns="0">
            <a:spAutoFit/>
          </a:bodyPr>
          <a:lstStyle/>
          <a:p>
            <a:pPr algn="l">
              <a:lnSpc>
                <a:spcPts val="2636"/>
              </a:lnSpc>
            </a:pPr>
            <a:r>
              <a:rPr lang="en-US" sz="2399" b="true">
                <a:solidFill>
                  <a:srgbClr val="666666"/>
                </a:solidFill>
                <a:latin typeface="Lato Bold"/>
                <a:ea typeface="Lato Bold"/>
                <a:cs typeface="Lato Bold"/>
                <a:sym typeface="Lato Bold"/>
              </a:rPr>
              <a:t>Welche Endpunkte verfügbar sind, hängt davon ab, welche Teile der STAC API ein Server unterstützt.</a:t>
            </a:r>
          </a:p>
          <a:p>
            <a:pPr algn="l">
              <a:lnSpc>
                <a:spcPts val="2638"/>
              </a:lnSpc>
            </a:pPr>
          </a:p>
        </p:txBody>
      </p:sp>
      <p:sp>
        <p:nvSpPr>
          <p:cNvPr name="TextBox 23" id="23"/>
          <p:cNvSpPr txBox="true"/>
          <p:nvPr/>
        </p:nvSpPr>
        <p:spPr>
          <a:xfrm rot="0">
            <a:off x="11421997" y="2900913"/>
            <a:ext cx="3621737" cy="282674"/>
          </a:xfrm>
          <a:prstGeom prst="rect">
            <a:avLst/>
          </a:prstGeom>
        </p:spPr>
        <p:txBody>
          <a:bodyPr anchor="t" rtlCol="false" tIns="0" lIns="0" bIns="0" rIns="0">
            <a:spAutoFit/>
          </a:bodyPr>
          <a:lstStyle/>
          <a:p>
            <a:pPr algn="l">
              <a:lnSpc>
                <a:spcPts val="2199"/>
              </a:lnSpc>
            </a:pPr>
            <a:r>
              <a:rPr lang="en-US" sz="2000" b="true">
                <a:solidFill>
                  <a:srgbClr val="666666"/>
                </a:solidFill>
                <a:latin typeface="Lato Bold"/>
                <a:ea typeface="Lato Bold"/>
                <a:cs typeface="Lato Bold"/>
                <a:sym typeface="Lato Bold"/>
              </a:rPr>
              <a:t>Einstieg in die STAC API</a:t>
            </a:r>
          </a:p>
        </p:txBody>
      </p:sp>
      <p:sp>
        <p:nvSpPr>
          <p:cNvPr name="TextBox 24" id="24"/>
          <p:cNvSpPr txBox="true"/>
          <p:nvPr/>
        </p:nvSpPr>
        <p:spPr>
          <a:xfrm rot="0">
            <a:off x="5921926" y="3789790"/>
            <a:ext cx="1610197" cy="282674"/>
          </a:xfrm>
          <a:prstGeom prst="rect">
            <a:avLst/>
          </a:prstGeom>
        </p:spPr>
        <p:txBody>
          <a:bodyPr anchor="t" rtlCol="false" tIns="0" lIns="0" bIns="0" rIns="0">
            <a:spAutoFit/>
          </a:bodyPr>
          <a:lstStyle/>
          <a:p>
            <a:pPr algn="l">
              <a:lnSpc>
                <a:spcPts val="2199"/>
              </a:lnSpc>
            </a:pPr>
            <a:r>
              <a:rPr lang="en-US" sz="2000" b="true">
                <a:solidFill>
                  <a:srgbClr val="2B473D"/>
                </a:solidFill>
                <a:latin typeface="Lato Bold"/>
                <a:ea typeface="Lato Bold"/>
                <a:cs typeface="Lato Bold"/>
                <a:sym typeface="Lato Bold"/>
              </a:rPr>
              <a:t>/collections</a:t>
            </a:r>
          </a:p>
        </p:txBody>
      </p:sp>
      <p:sp>
        <p:nvSpPr>
          <p:cNvPr name="TextBox 25" id="25"/>
          <p:cNvSpPr txBox="true"/>
          <p:nvPr/>
        </p:nvSpPr>
        <p:spPr>
          <a:xfrm rot="0">
            <a:off x="11404991" y="3804509"/>
            <a:ext cx="2667469" cy="282674"/>
          </a:xfrm>
          <a:prstGeom prst="rect">
            <a:avLst/>
          </a:prstGeom>
        </p:spPr>
        <p:txBody>
          <a:bodyPr anchor="t" rtlCol="false" tIns="0" lIns="0" bIns="0" rIns="0">
            <a:spAutoFit/>
          </a:bodyPr>
          <a:lstStyle/>
          <a:p>
            <a:pPr algn="l">
              <a:lnSpc>
                <a:spcPts val="2199"/>
              </a:lnSpc>
            </a:pPr>
            <a:r>
              <a:rPr lang="en-US" sz="2000" b="true">
                <a:solidFill>
                  <a:srgbClr val="666666"/>
                </a:solidFill>
                <a:latin typeface="Lato Bold"/>
                <a:ea typeface="Lato Bold"/>
                <a:cs typeface="Lato Bold"/>
                <a:sym typeface="Lato Bold"/>
              </a:rPr>
              <a:t>Verfügbare Collections</a:t>
            </a:r>
          </a:p>
        </p:txBody>
      </p:sp>
      <p:sp>
        <p:nvSpPr>
          <p:cNvPr name="TextBox 26" id="26"/>
          <p:cNvSpPr txBox="true"/>
          <p:nvPr/>
        </p:nvSpPr>
        <p:spPr>
          <a:xfrm rot="0">
            <a:off x="5902324" y="4768745"/>
            <a:ext cx="3570318" cy="282674"/>
          </a:xfrm>
          <a:prstGeom prst="rect">
            <a:avLst/>
          </a:prstGeom>
        </p:spPr>
        <p:txBody>
          <a:bodyPr anchor="t" rtlCol="false" tIns="0" lIns="0" bIns="0" rIns="0">
            <a:spAutoFit/>
          </a:bodyPr>
          <a:lstStyle/>
          <a:p>
            <a:pPr algn="l">
              <a:lnSpc>
                <a:spcPts val="2199"/>
              </a:lnSpc>
            </a:pPr>
            <a:r>
              <a:rPr lang="en-US" sz="2000" b="true">
                <a:solidFill>
                  <a:srgbClr val="2B473D"/>
                </a:solidFill>
                <a:latin typeface="Lato Bold"/>
                <a:ea typeface="Lato Bold"/>
                <a:cs typeface="Lato Bold"/>
                <a:sym typeface="Lato Bold"/>
              </a:rPr>
              <a:t>/collections/{collectionId}</a:t>
            </a:r>
          </a:p>
        </p:txBody>
      </p:sp>
      <p:sp>
        <p:nvSpPr>
          <p:cNvPr name="TextBox 27" id="27"/>
          <p:cNvSpPr txBox="true"/>
          <p:nvPr/>
        </p:nvSpPr>
        <p:spPr>
          <a:xfrm rot="0">
            <a:off x="11414337" y="4783464"/>
            <a:ext cx="5314749" cy="558977"/>
          </a:xfrm>
          <a:prstGeom prst="rect">
            <a:avLst/>
          </a:prstGeom>
        </p:spPr>
        <p:txBody>
          <a:bodyPr anchor="t" rtlCol="false" tIns="0" lIns="0" bIns="0" rIns="0">
            <a:spAutoFit/>
          </a:bodyPr>
          <a:lstStyle/>
          <a:p>
            <a:pPr algn="l">
              <a:lnSpc>
                <a:spcPts val="2199"/>
              </a:lnSpc>
            </a:pPr>
            <a:r>
              <a:rPr lang="en-US" sz="2000" b="true">
                <a:solidFill>
                  <a:srgbClr val="666666"/>
                </a:solidFill>
                <a:latin typeface="Lato Bold"/>
                <a:ea typeface="Lato Bold"/>
                <a:cs typeface="Lato Bold"/>
                <a:sym typeface="Lato Bold"/>
              </a:rPr>
              <a:t>Informationen zu einer bestimmten Collection</a:t>
            </a:r>
          </a:p>
          <a:p>
            <a:pPr algn="l">
              <a:lnSpc>
                <a:spcPts val="2198"/>
              </a:lnSpc>
            </a:pPr>
          </a:p>
        </p:txBody>
      </p:sp>
      <p:sp>
        <p:nvSpPr>
          <p:cNvPr name="TextBox 28" id="28"/>
          <p:cNvSpPr txBox="true"/>
          <p:nvPr/>
        </p:nvSpPr>
        <p:spPr>
          <a:xfrm rot="0">
            <a:off x="5893339" y="5732639"/>
            <a:ext cx="4468821" cy="282674"/>
          </a:xfrm>
          <a:prstGeom prst="rect">
            <a:avLst/>
          </a:prstGeom>
        </p:spPr>
        <p:txBody>
          <a:bodyPr anchor="t" rtlCol="false" tIns="0" lIns="0" bIns="0" rIns="0">
            <a:spAutoFit/>
          </a:bodyPr>
          <a:lstStyle/>
          <a:p>
            <a:pPr algn="l">
              <a:lnSpc>
                <a:spcPts val="2199"/>
              </a:lnSpc>
            </a:pPr>
            <a:r>
              <a:rPr lang="en-US" sz="2000" b="true">
                <a:solidFill>
                  <a:srgbClr val="2B473D"/>
                </a:solidFill>
                <a:latin typeface="Lato Bold"/>
                <a:ea typeface="Lato Bold"/>
                <a:cs typeface="Lato Bold"/>
                <a:sym typeface="Lato Bold"/>
              </a:rPr>
              <a:t>/collections/{collectionId}/items</a:t>
            </a:r>
          </a:p>
        </p:txBody>
      </p:sp>
      <p:sp>
        <p:nvSpPr>
          <p:cNvPr name="TextBox 29" id="29"/>
          <p:cNvSpPr txBox="true"/>
          <p:nvPr/>
        </p:nvSpPr>
        <p:spPr>
          <a:xfrm rot="0">
            <a:off x="11378156" y="5745129"/>
            <a:ext cx="5209656" cy="282829"/>
          </a:xfrm>
          <a:prstGeom prst="rect">
            <a:avLst/>
          </a:prstGeom>
        </p:spPr>
        <p:txBody>
          <a:bodyPr anchor="t" rtlCol="false" tIns="0" lIns="0" bIns="0" rIns="0">
            <a:spAutoFit/>
          </a:bodyPr>
          <a:lstStyle/>
          <a:p>
            <a:pPr algn="l">
              <a:lnSpc>
                <a:spcPts val="2198"/>
              </a:lnSpc>
            </a:pPr>
            <a:r>
              <a:rPr lang="en-US" sz="2000" b="true">
                <a:solidFill>
                  <a:srgbClr val="666666"/>
                </a:solidFill>
                <a:latin typeface="Lato Bold"/>
                <a:ea typeface="Lato Bold"/>
                <a:cs typeface="Lato Bold"/>
                <a:sym typeface="Lato Bold"/>
              </a:rPr>
              <a:t>Items innerhalb einer bestimmten Collection</a:t>
            </a:r>
          </a:p>
        </p:txBody>
      </p:sp>
      <p:sp>
        <p:nvSpPr>
          <p:cNvPr name="TextBox 30" id="30"/>
          <p:cNvSpPr txBox="true"/>
          <p:nvPr/>
        </p:nvSpPr>
        <p:spPr>
          <a:xfrm rot="0">
            <a:off x="5884536" y="6720374"/>
            <a:ext cx="5349159" cy="558977"/>
          </a:xfrm>
          <a:prstGeom prst="rect">
            <a:avLst/>
          </a:prstGeom>
        </p:spPr>
        <p:txBody>
          <a:bodyPr anchor="t" rtlCol="false" tIns="0" lIns="0" bIns="0" rIns="0">
            <a:spAutoFit/>
          </a:bodyPr>
          <a:lstStyle/>
          <a:p>
            <a:pPr algn="l">
              <a:lnSpc>
                <a:spcPts val="2199"/>
              </a:lnSpc>
            </a:pPr>
            <a:r>
              <a:rPr lang="en-US" sz="2000" b="true">
                <a:solidFill>
                  <a:srgbClr val="2B473D"/>
                </a:solidFill>
                <a:latin typeface="Lato Bold"/>
                <a:ea typeface="Lato Bold"/>
                <a:cs typeface="Lato Bold"/>
                <a:sym typeface="Lato Bold"/>
              </a:rPr>
              <a:t>/collections/{collectionId}/items/{itemId}</a:t>
            </a:r>
          </a:p>
          <a:p>
            <a:pPr algn="l">
              <a:lnSpc>
                <a:spcPts val="2198"/>
              </a:lnSpc>
            </a:pPr>
          </a:p>
        </p:txBody>
      </p:sp>
      <p:sp>
        <p:nvSpPr>
          <p:cNvPr name="TextBox 31" id="31"/>
          <p:cNvSpPr txBox="true"/>
          <p:nvPr/>
        </p:nvSpPr>
        <p:spPr>
          <a:xfrm rot="0">
            <a:off x="11391617" y="7705267"/>
            <a:ext cx="4004778" cy="282674"/>
          </a:xfrm>
          <a:prstGeom prst="rect">
            <a:avLst/>
          </a:prstGeom>
        </p:spPr>
        <p:txBody>
          <a:bodyPr anchor="t" rtlCol="false" tIns="0" lIns="0" bIns="0" rIns="0">
            <a:spAutoFit/>
          </a:bodyPr>
          <a:lstStyle/>
          <a:p>
            <a:pPr algn="l">
              <a:lnSpc>
                <a:spcPts val="2199"/>
              </a:lnSpc>
            </a:pPr>
            <a:r>
              <a:rPr lang="en-US" sz="2000" b="true">
                <a:solidFill>
                  <a:srgbClr val="666666"/>
                </a:solidFill>
                <a:latin typeface="Lato Bold"/>
                <a:ea typeface="Lato Bold"/>
                <a:cs typeface="Lato Bold"/>
                <a:sym typeface="Lato Bold"/>
              </a:rPr>
              <a:t>Suche über Items (GET oder POST)</a:t>
            </a:r>
          </a:p>
        </p:txBody>
      </p:sp>
      <p:sp>
        <p:nvSpPr>
          <p:cNvPr name="TextBox 32" id="32"/>
          <p:cNvSpPr txBox="true"/>
          <p:nvPr/>
        </p:nvSpPr>
        <p:spPr>
          <a:xfrm rot="0">
            <a:off x="5906144" y="8669503"/>
            <a:ext cx="3188397" cy="282674"/>
          </a:xfrm>
          <a:prstGeom prst="rect">
            <a:avLst/>
          </a:prstGeom>
        </p:spPr>
        <p:txBody>
          <a:bodyPr anchor="t" rtlCol="false" tIns="0" lIns="0" bIns="0" rIns="0">
            <a:spAutoFit/>
          </a:bodyPr>
          <a:lstStyle/>
          <a:p>
            <a:pPr algn="l">
              <a:lnSpc>
                <a:spcPts val="2199"/>
              </a:lnSpc>
            </a:pPr>
            <a:r>
              <a:rPr lang="en-US" sz="2000" b="true">
                <a:solidFill>
                  <a:srgbClr val="2B473D"/>
                </a:solidFill>
                <a:latin typeface="Lato Bold"/>
                <a:ea typeface="Lato Bold"/>
                <a:cs typeface="Lato Bold"/>
                <a:sym typeface="Lato Bold"/>
              </a:rPr>
              <a:t>/conformance und /api</a:t>
            </a:r>
          </a:p>
        </p:txBody>
      </p:sp>
      <p:sp>
        <p:nvSpPr>
          <p:cNvPr name="TextBox 33" id="33"/>
          <p:cNvSpPr txBox="true"/>
          <p:nvPr/>
        </p:nvSpPr>
        <p:spPr>
          <a:xfrm rot="0">
            <a:off x="11378156" y="8669025"/>
            <a:ext cx="5350930" cy="282674"/>
          </a:xfrm>
          <a:prstGeom prst="rect">
            <a:avLst/>
          </a:prstGeom>
        </p:spPr>
        <p:txBody>
          <a:bodyPr anchor="t" rtlCol="false" tIns="0" lIns="0" bIns="0" rIns="0">
            <a:spAutoFit/>
          </a:bodyPr>
          <a:lstStyle/>
          <a:p>
            <a:pPr algn="l">
              <a:lnSpc>
                <a:spcPts val="2199"/>
              </a:lnSpc>
            </a:pPr>
            <a:r>
              <a:rPr lang="en-US" sz="2000" b="true">
                <a:solidFill>
                  <a:srgbClr val="666666"/>
                </a:solidFill>
                <a:latin typeface="Lato Bold"/>
                <a:ea typeface="Lato Bold"/>
                <a:cs typeface="Lato Bold"/>
                <a:sym typeface="Lato Bold"/>
              </a:rPr>
              <a:t>Unterstützte Standards und API-Beschreibung</a:t>
            </a:r>
          </a:p>
        </p:txBody>
      </p:sp>
      <p:sp>
        <p:nvSpPr>
          <p:cNvPr name="TextBox 34" id="34"/>
          <p:cNvSpPr txBox="true"/>
          <p:nvPr/>
        </p:nvSpPr>
        <p:spPr>
          <a:xfrm rot="0">
            <a:off x="5927625" y="7690548"/>
            <a:ext cx="1040242" cy="282674"/>
          </a:xfrm>
          <a:prstGeom prst="rect">
            <a:avLst/>
          </a:prstGeom>
        </p:spPr>
        <p:txBody>
          <a:bodyPr anchor="t" rtlCol="false" tIns="0" lIns="0" bIns="0" rIns="0">
            <a:spAutoFit/>
          </a:bodyPr>
          <a:lstStyle/>
          <a:p>
            <a:pPr algn="l">
              <a:lnSpc>
                <a:spcPts val="2199"/>
              </a:lnSpc>
            </a:pPr>
            <a:r>
              <a:rPr lang="en-US" sz="2000" b="true">
                <a:solidFill>
                  <a:srgbClr val="2B473D"/>
                </a:solidFill>
                <a:latin typeface="Lato Bold"/>
                <a:ea typeface="Lato Bold"/>
                <a:cs typeface="Lato Bold"/>
                <a:sym typeface="Lato Bold"/>
              </a:rPr>
              <a:t>/search</a:t>
            </a:r>
          </a:p>
        </p:txBody>
      </p:sp>
      <p:sp>
        <p:nvSpPr>
          <p:cNvPr name="TextBox 35" id="35"/>
          <p:cNvSpPr txBox="true"/>
          <p:nvPr/>
        </p:nvSpPr>
        <p:spPr>
          <a:xfrm rot="0">
            <a:off x="11421997" y="6726313"/>
            <a:ext cx="3163116" cy="558977"/>
          </a:xfrm>
          <a:prstGeom prst="rect">
            <a:avLst/>
          </a:prstGeom>
        </p:spPr>
        <p:txBody>
          <a:bodyPr anchor="t" rtlCol="false" tIns="0" lIns="0" bIns="0" rIns="0">
            <a:spAutoFit/>
          </a:bodyPr>
          <a:lstStyle/>
          <a:p>
            <a:pPr algn="l">
              <a:lnSpc>
                <a:spcPts val="2199"/>
              </a:lnSpc>
            </a:pPr>
            <a:r>
              <a:rPr lang="en-US" sz="2000" b="true">
                <a:solidFill>
                  <a:srgbClr val="666666"/>
                </a:solidFill>
                <a:latin typeface="Lato Bold"/>
                <a:ea typeface="Lato Bold"/>
                <a:cs typeface="Lato Bold"/>
                <a:sym typeface="Lato Bold"/>
              </a:rPr>
              <a:t>Ein bestimmtes Item</a:t>
            </a:r>
          </a:p>
          <a:p>
            <a:pPr algn="l">
              <a:lnSpc>
                <a:spcPts val="2198"/>
              </a:lnSpc>
            </a:pPr>
          </a:p>
        </p:txBody>
      </p:sp>
      <p:sp>
        <p:nvSpPr>
          <p:cNvPr name="TextBox 36" id="36"/>
          <p:cNvSpPr txBox="true"/>
          <p:nvPr/>
        </p:nvSpPr>
        <p:spPr>
          <a:xfrm rot="0">
            <a:off x="5936876" y="2795775"/>
            <a:ext cx="115189" cy="282674"/>
          </a:xfrm>
          <a:prstGeom prst="rect">
            <a:avLst/>
          </a:prstGeom>
        </p:spPr>
        <p:txBody>
          <a:bodyPr anchor="t" rtlCol="false" tIns="0" lIns="0" bIns="0" rIns="0">
            <a:spAutoFit/>
          </a:bodyPr>
          <a:lstStyle/>
          <a:p>
            <a:pPr algn="l">
              <a:lnSpc>
                <a:spcPts val="2199"/>
              </a:lnSpc>
            </a:pPr>
            <a:r>
              <a:rPr lang="en-US" sz="2000" b="true">
                <a:solidFill>
                  <a:srgbClr val="2B473D"/>
                </a:solidFill>
                <a:latin typeface="Lato Bold"/>
                <a:ea typeface="Lato Bold"/>
                <a:cs typeface="Lato Bold"/>
                <a:sym typeface="Lato Bold"/>
              </a:rPr>
              <a:t>/</a:t>
            </a:r>
          </a:p>
        </p:txBody>
      </p:sp>
      <p:sp>
        <p:nvSpPr>
          <p:cNvPr name="TextBox 37" id="37"/>
          <p:cNvSpPr txBox="true"/>
          <p:nvPr/>
        </p:nvSpPr>
        <p:spPr>
          <a:xfrm rot="0">
            <a:off x="764145" y="2955027"/>
            <a:ext cx="3544273" cy="5865758"/>
          </a:xfrm>
          <a:prstGeom prst="rect">
            <a:avLst/>
          </a:prstGeom>
        </p:spPr>
        <p:txBody>
          <a:bodyPr anchor="t" rtlCol="false" tIns="0" lIns="0" bIns="0" rIns="0">
            <a:spAutoFit/>
          </a:bodyPr>
          <a:lstStyle/>
          <a:p>
            <a:pPr algn="l">
              <a:lnSpc>
                <a:spcPts val="3064"/>
              </a:lnSpc>
              <a:spcBef>
                <a:spcPct val="0"/>
              </a:spcBef>
            </a:pPr>
            <a:r>
              <a:rPr lang="en-US" sz="2043" spc="-81">
                <a:solidFill>
                  <a:srgbClr val="F4F4F4"/>
                </a:solidFill>
                <a:latin typeface="Lato"/>
                <a:ea typeface="Lato"/>
                <a:cs typeface="Lato"/>
                <a:sym typeface="Lato"/>
              </a:rPr>
              <a:t>Beispiel:</a:t>
            </a:r>
          </a:p>
          <a:p>
            <a:pPr algn="l">
              <a:lnSpc>
                <a:spcPts val="1414"/>
              </a:lnSpc>
              <a:spcBef>
                <a:spcPct val="0"/>
              </a:spcBef>
            </a:pPr>
          </a:p>
          <a:p>
            <a:pPr algn="l">
              <a:lnSpc>
                <a:spcPts val="3064"/>
              </a:lnSpc>
              <a:spcBef>
                <a:spcPct val="0"/>
              </a:spcBef>
            </a:pPr>
            <a:r>
              <a:rPr lang="en-US" sz="2043" spc="-81">
                <a:solidFill>
                  <a:srgbClr val="F4F4F4"/>
                </a:solidFill>
                <a:latin typeface="Lato"/>
                <a:ea typeface="Lato"/>
                <a:cs typeface="Lato"/>
                <a:sym typeface="Lato"/>
              </a:rPr>
              <a:t>Collection = Luftqualitätsdaten Münster</a:t>
            </a:r>
          </a:p>
          <a:p>
            <a:pPr algn="l">
              <a:lnSpc>
                <a:spcPts val="3064"/>
              </a:lnSpc>
              <a:spcBef>
                <a:spcPct val="0"/>
              </a:spcBef>
            </a:pPr>
          </a:p>
          <a:p>
            <a:pPr algn="l">
              <a:lnSpc>
                <a:spcPts val="3064"/>
              </a:lnSpc>
              <a:spcBef>
                <a:spcPct val="0"/>
              </a:spcBef>
            </a:pPr>
            <a:r>
              <a:rPr lang="en-US" sz="2043" spc="-81">
                <a:solidFill>
                  <a:srgbClr val="F4F4F4"/>
                </a:solidFill>
                <a:latin typeface="Lato"/>
                <a:ea typeface="Lato"/>
                <a:cs typeface="Lato"/>
                <a:sym typeface="Lato"/>
              </a:rPr>
              <a:t>Item = Datensatz/Messung vom 14.10.202</a:t>
            </a:r>
          </a:p>
          <a:p>
            <a:pPr algn="l">
              <a:lnSpc>
                <a:spcPts val="3064"/>
              </a:lnSpc>
              <a:spcBef>
                <a:spcPct val="0"/>
              </a:spcBef>
            </a:pPr>
          </a:p>
          <a:p>
            <a:pPr algn="l">
              <a:lnSpc>
                <a:spcPts val="3064"/>
              </a:lnSpc>
              <a:spcBef>
                <a:spcPct val="0"/>
              </a:spcBef>
            </a:pPr>
            <a:r>
              <a:rPr lang="en-US" sz="2043" spc="-81">
                <a:solidFill>
                  <a:srgbClr val="F4F4F4"/>
                </a:solidFill>
                <a:latin typeface="Lato"/>
                <a:ea typeface="Lato"/>
                <a:cs typeface="Lato"/>
                <a:sym typeface="Lato"/>
              </a:rPr>
              <a:t>/collections/air-quality-muenster</a:t>
            </a:r>
          </a:p>
          <a:p>
            <a:pPr algn="l">
              <a:lnSpc>
                <a:spcPts val="3064"/>
              </a:lnSpc>
              <a:spcBef>
                <a:spcPct val="0"/>
              </a:spcBef>
            </a:pPr>
            <a:r>
              <a:rPr lang="en-US" sz="2043" spc="-81">
                <a:solidFill>
                  <a:srgbClr val="F4F4F4"/>
                </a:solidFill>
                <a:latin typeface="Lato"/>
                <a:ea typeface="Lato"/>
                <a:cs typeface="Lato"/>
                <a:sym typeface="Lato"/>
              </a:rPr>
              <a:t>→ beschreibt den gesamten Datensatz</a:t>
            </a:r>
          </a:p>
          <a:p>
            <a:pPr algn="l">
              <a:lnSpc>
                <a:spcPts val="3064"/>
              </a:lnSpc>
              <a:spcBef>
                <a:spcPct val="0"/>
              </a:spcBef>
            </a:pPr>
          </a:p>
          <a:p>
            <a:pPr algn="l">
              <a:lnSpc>
                <a:spcPts val="3064"/>
              </a:lnSpc>
              <a:spcBef>
                <a:spcPct val="0"/>
              </a:spcBef>
            </a:pPr>
            <a:r>
              <a:rPr lang="en-US" sz="2043" spc="-81">
                <a:solidFill>
                  <a:srgbClr val="F4F4F4"/>
                </a:solidFill>
                <a:latin typeface="Lato"/>
                <a:ea typeface="Lato"/>
                <a:cs typeface="Lato"/>
                <a:sym typeface="Lato"/>
              </a:rPr>
              <a:t>/collections/air-quality-muenster/items/air-quality-2026-10-14</a:t>
            </a:r>
          </a:p>
          <a:p>
            <a:pPr algn="l">
              <a:lnSpc>
                <a:spcPts val="3064"/>
              </a:lnSpc>
              <a:spcBef>
                <a:spcPct val="0"/>
              </a:spcBef>
            </a:pPr>
            <a:r>
              <a:rPr lang="en-US" sz="2043" spc="-81">
                <a:solidFill>
                  <a:srgbClr val="F4F4F4"/>
                </a:solidFill>
                <a:latin typeface="Lato"/>
                <a:ea typeface="Lato"/>
                <a:cs typeface="Lato"/>
                <a:sym typeface="Lato"/>
              </a:rPr>
              <a:t>→ ruft ein bestimmtes Item ab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137486" y="2687412"/>
            <a:ext cx="6322048" cy="1289974"/>
          </a:xfrm>
          <a:custGeom>
            <a:avLst/>
            <a:gdLst/>
            <a:ahLst/>
            <a:cxnLst/>
            <a:rect r="r" b="b" t="t" l="l"/>
            <a:pathLst>
              <a:path h="1289974" w="6322048">
                <a:moveTo>
                  <a:pt x="0" y="0"/>
                </a:moveTo>
                <a:lnTo>
                  <a:pt x="6322047" y="0"/>
                </a:lnTo>
                <a:lnTo>
                  <a:pt x="6322047" y="1289974"/>
                </a:lnTo>
                <a:lnTo>
                  <a:pt x="0" y="1289974"/>
                </a:lnTo>
                <a:lnTo>
                  <a:pt x="0" y="0"/>
                </a:lnTo>
                <a:close/>
              </a:path>
            </a:pathLst>
          </a:custGeom>
          <a:blipFill>
            <a:blip r:embed="rId3"/>
            <a:stretch>
              <a:fillRect l="0" t="0" r="0" b="0"/>
            </a:stretch>
          </a:blipFill>
        </p:spPr>
      </p:sp>
      <p:sp>
        <p:nvSpPr>
          <p:cNvPr name="Freeform 4" id="4"/>
          <p:cNvSpPr/>
          <p:nvPr/>
        </p:nvSpPr>
        <p:spPr>
          <a:xfrm flipH="false" flipV="false" rot="0">
            <a:off x="2137486" y="3758746"/>
            <a:ext cx="6322048" cy="4503979"/>
          </a:xfrm>
          <a:custGeom>
            <a:avLst/>
            <a:gdLst/>
            <a:ahLst/>
            <a:cxnLst/>
            <a:rect r="r" b="b" t="t" l="l"/>
            <a:pathLst>
              <a:path h="4503979" w="6322048">
                <a:moveTo>
                  <a:pt x="0" y="0"/>
                </a:moveTo>
                <a:lnTo>
                  <a:pt x="6322047" y="0"/>
                </a:lnTo>
                <a:lnTo>
                  <a:pt x="6322047" y="4503979"/>
                </a:lnTo>
                <a:lnTo>
                  <a:pt x="0" y="4503979"/>
                </a:lnTo>
                <a:lnTo>
                  <a:pt x="0" y="0"/>
                </a:lnTo>
                <a:close/>
              </a:path>
            </a:pathLst>
          </a:custGeom>
          <a:blipFill>
            <a:blip r:embed="rId4"/>
            <a:stretch>
              <a:fillRect l="0" t="0" r="0" b="0"/>
            </a:stretch>
          </a:blipFill>
        </p:spPr>
      </p:sp>
      <p:sp>
        <p:nvSpPr>
          <p:cNvPr name="Freeform 5" id="5"/>
          <p:cNvSpPr/>
          <p:nvPr/>
        </p:nvSpPr>
        <p:spPr>
          <a:xfrm flipH="false" flipV="false" rot="0">
            <a:off x="10198643" y="2687412"/>
            <a:ext cx="6540804" cy="1289974"/>
          </a:xfrm>
          <a:custGeom>
            <a:avLst/>
            <a:gdLst/>
            <a:ahLst/>
            <a:cxnLst/>
            <a:rect r="r" b="b" t="t" l="l"/>
            <a:pathLst>
              <a:path h="1289974" w="6540804">
                <a:moveTo>
                  <a:pt x="0" y="0"/>
                </a:moveTo>
                <a:lnTo>
                  <a:pt x="6540804" y="0"/>
                </a:lnTo>
                <a:lnTo>
                  <a:pt x="6540804" y="1289974"/>
                </a:lnTo>
                <a:lnTo>
                  <a:pt x="0" y="1289974"/>
                </a:lnTo>
                <a:lnTo>
                  <a:pt x="0" y="0"/>
                </a:lnTo>
                <a:close/>
              </a:path>
            </a:pathLst>
          </a:custGeom>
          <a:blipFill>
            <a:blip r:embed="rId5"/>
            <a:stretch>
              <a:fillRect l="0" t="0" r="0" b="0"/>
            </a:stretch>
          </a:blipFill>
        </p:spPr>
      </p:sp>
      <p:sp>
        <p:nvSpPr>
          <p:cNvPr name="Freeform 6" id="6"/>
          <p:cNvSpPr/>
          <p:nvPr/>
        </p:nvSpPr>
        <p:spPr>
          <a:xfrm flipH="false" flipV="false" rot="0">
            <a:off x="10198643" y="3758746"/>
            <a:ext cx="6540804" cy="4503979"/>
          </a:xfrm>
          <a:custGeom>
            <a:avLst/>
            <a:gdLst/>
            <a:ahLst/>
            <a:cxnLst/>
            <a:rect r="r" b="b" t="t" l="l"/>
            <a:pathLst>
              <a:path h="4503979" w="6540804">
                <a:moveTo>
                  <a:pt x="0" y="0"/>
                </a:moveTo>
                <a:lnTo>
                  <a:pt x="6540804" y="0"/>
                </a:lnTo>
                <a:lnTo>
                  <a:pt x="6540804" y="4503979"/>
                </a:lnTo>
                <a:lnTo>
                  <a:pt x="0" y="4503979"/>
                </a:lnTo>
                <a:lnTo>
                  <a:pt x="0" y="0"/>
                </a:lnTo>
                <a:close/>
              </a:path>
            </a:pathLst>
          </a:custGeom>
          <a:blipFill>
            <a:blip r:embed="rId6"/>
            <a:stretch>
              <a:fillRect l="0" t="0" r="0" b="0"/>
            </a:stretch>
          </a:blipFill>
        </p:spPr>
      </p:sp>
      <p:sp>
        <p:nvSpPr>
          <p:cNvPr name="TextBox 7" id="7"/>
          <p:cNvSpPr txBox="true"/>
          <p:nvPr/>
        </p:nvSpPr>
        <p:spPr>
          <a:xfrm rot="0">
            <a:off x="662332" y="837531"/>
            <a:ext cx="13746656" cy="867357"/>
          </a:xfrm>
          <a:prstGeom prst="rect">
            <a:avLst/>
          </a:prstGeom>
        </p:spPr>
        <p:txBody>
          <a:bodyPr anchor="t" rtlCol="false" tIns="0" lIns="0" bIns="0" rIns="0">
            <a:spAutoFit/>
          </a:bodyPr>
          <a:lstStyle/>
          <a:p>
            <a:pPr algn="l">
              <a:lnSpc>
                <a:spcPts val="6747"/>
              </a:lnSpc>
            </a:pPr>
            <a:r>
              <a:rPr lang="en-US" sz="6246" b="true">
                <a:solidFill>
                  <a:srgbClr val="274237"/>
                </a:solidFill>
                <a:latin typeface="Lato Bold"/>
                <a:ea typeface="Lato Bold"/>
                <a:cs typeface="Lato Bold"/>
                <a:sym typeface="Lato Bold"/>
              </a:rPr>
              <a:t>Statischer STAC Catalog vs. STAC API</a:t>
            </a:r>
          </a:p>
        </p:txBody>
      </p:sp>
      <p:sp>
        <p:nvSpPr>
          <p:cNvPr name="TextBox 8" id="8"/>
          <p:cNvSpPr txBox="true"/>
          <p:nvPr/>
        </p:nvSpPr>
        <p:spPr>
          <a:xfrm rot="0">
            <a:off x="3171496" y="3089377"/>
            <a:ext cx="4204408" cy="409342"/>
          </a:xfrm>
          <a:prstGeom prst="rect">
            <a:avLst/>
          </a:prstGeom>
        </p:spPr>
        <p:txBody>
          <a:bodyPr anchor="t" rtlCol="false" tIns="0" lIns="0" bIns="0" rIns="0">
            <a:spAutoFit/>
          </a:bodyPr>
          <a:lstStyle/>
          <a:p>
            <a:pPr algn="ctr">
              <a:lnSpc>
                <a:spcPts val="3208"/>
              </a:lnSpc>
            </a:pPr>
            <a:r>
              <a:rPr lang="en-US" sz="2970" b="true">
                <a:solidFill>
                  <a:srgbClr val="F6F6F6"/>
                </a:solidFill>
                <a:latin typeface="Lato Bold"/>
                <a:ea typeface="Lato Bold"/>
                <a:cs typeface="Lato Bold"/>
                <a:sym typeface="Lato Bold"/>
              </a:rPr>
              <a:t>Statischer STAC Catalog</a:t>
            </a:r>
          </a:p>
        </p:txBody>
      </p:sp>
      <p:sp>
        <p:nvSpPr>
          <p:cNvPr name="TextBox 9" id="9"/>
          <p:cNvSpPr txBox="true"/>
          <p:nvPr/>
        </p:nvSpPr>
        <p:spPr>
          <a:xfrm rot="0">
            <a:off x="3660567" y="4399670"/>
            <a:ext cx="3275885" cy="362641"/>
          </a:xfrm>
          <a:prstGeom prst="rect">
            <a:avLst/>
          </a:prstGeom>
        </p:spPr>
        <p:txBody>
          <a:bodyPr anchor="t" rtlCol="false" tIns="0" lIns="0" bIns="0" rIns="0">
            <a:spAutoFit/>
          </a:bodyPr>
          <a:lstStyle/>
          <a:p>
            <a:pPr algn="ctr">
              <a:lnSpc>
                <a:spcPts val="2859"/>
              </a:lnSpc>
            </a:pPr>
            <a:r>
              <a:rPr lang="en-US" b="true" sz="2199">
                <a:solidFill>
                  <a:srgbClr val="444440"/>
                </a:solidFill>
                <a:latin typeface="Lato Bold"/>
                <a:ea typeface="Lato Bold"/>
                <a:cs typeface="Lato Bold"/>
                <a:sym typeface="Lato Bold"/>
              </a:rPr>
              <a:t>Verlinkte JSON-Dateien</a:t>
            </a:r>
          </a:p>
        </p:txBody>
      </p:sp>
      <p:sp>
        <p:nvSpPr>
          <p:cNvPr name="TextBox 10" id="10"/>
          <p:cNvSpPr txBox="true"/>
          <p:nvPr/>
        </p:nvSpPr>
        <p:spPr>
          <a:xfrm rot="0">
            <a:off x="2728587" y="6011180"/>
            <a:ext cx="5139845" cy="362641"/>
          </a:xfrm>
          <a:prstGeom prst="rect">
            <a:avLst/>
          </a:prstGeom>
        </p:spPr>
        <p:txBody>
          <a:bodyPr anchor="t" rtlCol="false" tIns="0" lIns="0" bIns="0" rIns="0">
            <a:spAutoFit/>
          </a:bodyPr>
          <a:lstStyle/>
          <a:p>
            <a:pPr algn="ctr">
              <a:lnSpc>
                <a:spcPts val="2859"/>
              </a:lnSpc>
            </a:pPr>
            <a:r>
              <a:rPr lang="en-US" b="true" sz="2199">
                <a:solidFill>
                  <a:srgbClr val="444440"/>
                </a:solidFill>
                <a:latin typeface="Lato Bold"/>
                <a:ea typeface="Lato Bold"/>
                <a:cs typeface="Lato Bold"/>
                <a:sym typeface="Lato Bold"/>
              </a:rPr>
              <a:t>Gut für kleinere oder stabile Bestände</a:t>
            </a:r>
          </a:p>
        </p:txBody>
      </p:sp>
      <p:sp>
        <p:nvSpPr>
          <p:cNvPr name="TextBox 11" id="11"/>
          <p:cNvSpPr txBox="true"/>
          <p:nvPr/>
        </p:nvSpPr>
        <p:spPr>
          <a:xfrm rot="0">
            <a:off x="3278756" y="6779283"/>
            <a:ext cx="4039507" cy="362641"/>
          </a:xfrm>
          <a:prstGeom prst="rect">
            <a:avLst/>
          </a:prstGeom>
        </p:spPr>
        <p:txBody>
          <a:bodyPr anchor="t" rtlCol="false" tIns="0" lIns="0" bIns="0" rIns="0">
            <a:spAutoFit/>
          </a:bodyPr>
          <a:lstStyle/>
          <a:p>
            <a:pPr algn="ctr">
              <a:lnSpc>
                <a:spcPts val="2859"/>
              </a:lnSpc>
            </a:pPr>
            <a:r>
              <a:rPr lang="en-US" b="true" sz="2199">
                <a:solidFill>
                  <a:srgbClr val="444440"/>
                </a:solidFill>
                <a:latin typeface="Lato Bold"/>
                <a:ea typeface="Lato Bold"/>
                <a:cs typeface="Lato Bold"/>
                <a:sym typeface="Lato Bold"/>
              </a:rPr>
              <a:t>Weniger flexibel bei Abfragen</a:t>
            </a:r>
          </a:p>
        </p:txBody>
      </p:sp>
      <p:sp>
        <p:nvSpPr>
          <p:cNvPr name="TextBox 12" id="12"/>
          <p:cNvSpPr txBox="true"/>
          <p:nvPr/>
        </p:nvSpPr>
        <p:spPr>
          <a:xfrm rot="0">
            <a:off x="12515993" y="3089377"/>
            <a:ext cx="1690648" cy="409342"/>
          </a:xfrm>
          <a:prstGeom prst="rect">
            <a:avLst/>
          </a:prstGeom>
        </p:spPr>
        <p:txBody>
          <a:bodyPr anchor="t" rtlCol="false" tIns="0" lIns="0" bIns="0" rIns="0">
            <a:spAutoFit/>
          </a:bodyPr>
          <a:lstStyle/>
          <a:p>
            <a:pPr algn="ctr">
              <a:lnSpc>
                <a:spcPts val="3208"/>
              </a:lnSpc>
            </a:pPr>
            <a:r>
              <a:rPr lang="en-US" sz="2970" b="true">
                <a:solidFill>
                  <a:srgbClr val="F6F6F6"/>
                </a:solidFill>
                <a:latin typeface="Lato Bold"/>
                <a:ea typeface="Lato Bold"/>
                <a:cs typeface="Lato Bold"/>
                <a:sym typeface="Lato Bold"/>
              </a:rPr>
              <a:t>STAC API</a:t>
            </a:r>
          </a:p>
        </p:txBody>
      </p:sp>
      <p:sp>
        <p:nvSpPr>
          <p:cNvPr name="TextBox 13" id="13"/>
          <p:cNvSpPr txBox="true"/>
          <p:nvPr/>
        </p:nvSpPr>
        <p:spPr>
          <a:xfrm rot="0">
            <a:off x="11172858" y="4294966"/>
            <a:ext cx="4592375" cy="362641"/>
          </a:xfrm>
          <a:prstGeom prst="rect">
            <a:avLst/>
          </a:prstGeom>
        </p:spPr>
        <p:txBody>
          <a:bodyPr anchor="t" rtlCol="false" tIns="0" lIns="0" bIns="0" rIns="0">
            <a:spAutoFit/>
          </a:bodyPr>
          <a:lstStyle/>
          <a:p>
            <a:pPr algn="r">
              <a:lnSpc>
                <a:spcPts val="2859"/>
              </a:lnSpc>
            </a:pPr>
            <a:r>
              <a:rPr lang="en-US" b="true" sz="2199">
                <a:solidFill>
                  <a:srgbClr val="444440"/>
                </a:solidFill>
                <a:latin typeface="Lato Bold"/>
                <a:ea typeface="Lato Bold"/>
                <a:cs typeface="Lato Bold"/>
                <a:sym typeface="Lato Bold"/>
              </a:rPr>
              <a:t>Server mit Endpoints (GET, POST)</a:t>
            </a:r>
          </a:p>
        </p:txBody>
      </p:sp>
      <p:sp>
        <p:nvSpPr>
          <p:cNvPr name="TextBox 14" id="14"/>
          <p:cNvSpPr txBox="true"/>
          <p:nvPr/>
        </p:nvSpPr>
        <p:spPr>
          <a:xfrm rot="0">
            <a:off x="11057151" y="4987765"/>
            <a:ext cx="4823789" cy="724591"/>
          </a:xfrm>
          <a:prstGeom prst="rect">
            <a:avLst/>
          </a:prstGeom>
        </p:spPr>
        <p:txBody>
          <a:bodyPr anchor="t" rtlCol="false" tIns="0" lIns="0" bIns="0" rIns="0">
            <a:spAutoFit/>
          </a:bodyPr>
          <a:lstStyle/>
          <a:p>
            <a:pPr algn="ctr">
              <a:lnSpc>
                <a:spcPts val="2859"/>
              </a:lnSpc>
            </a:pPr>
            <a:r>
              <a:rPr lang="en-US" b="true" sz="2199">
                <a:solidFill>
                  <a:srgbClr val="444440"/>
                </a:solidFill>
                <a:latin typeface="Lato Bold"/>
                <a:ea typeface="Lato Bold"/>
                <a:cs typeface="Lato Bold"/>
                <a:sym typeface="Lato Bold"/>
              </a:rPr>
              <a:t>Gezielte Requests über /search und /collections</a:t>
            </a:r>
          </a:p>
        </p:txBody>
      </p:sp>
      <p:sp>
        <p:nvSpPr>
          <p:cNvPr name="TextBox 15" id="15"/>
          <p:cNvSpPr txBox="true"/>
          <p:nvPr/>
        </p:nvSpPr>
        <p:spPr>
          <a:xfrm rot="0">
            <a:off x="10955858" y="5996841"/>
            <a:ext cx="5026374" cy="724591"/>
          </a:xfrm>
          <a:prstGeom prst="rect">
            <a:avLst/>
          </a:prstGeom>
        </p:spPr>
        <p:txBody>
          <a:bodyPr anchor="t" rtlCol="false" tIns="0" lIns="0" bIns="0" rIns="0">
            <a:spAutoFit/>
          </a:bodyPr>
          <a:lstStyle/>
          <a:p>
            <a:pPr algn="ctr">
              <a:lnSpc>
                <a:spcPts val="2859"/>
              </a:lnSpc>
            </a:pPr>
            <a:r>
              <a:rPr lang="en-US" b="true" sz="2199">
                <a:solidFill>
                  <a:srgbClr val="444440"/>
                </a:solidFill>
                <a:latin typeface="Lato Bold"/>
                <a:ea typeface="Lato Bold"/>
                <a:cs typeface="Lato Bold"/>
                <a:sym typeface="Lato Bold"/>
              </a:rPr>
              <a:t>Gut für große oder häufig veränderte Bestände</a:t>
            </a:r>
          </a:p>
        </p:txBody>
      </p:sp>
      <p:sp>
        <p:nvSpPr>
          <p:cNvPr name="TextBox 16" id="16"/>
          <p:cNvSpPr txBox="true"/>
          <p:nvPr/>
        </p:nvSpPr>
        <p:spPr>
          <a:xfrm rot="0">
            <a:off x="10490947" y="7066161"/>
            <a:ext cx="5956196" cy="362641"/>
          </a:xfrm>
          <a:prstGeom prst="rect">
            <a:avLst/>
          </a:prstGeom>
        </p:spPr>
        <p:txBody>
          <a:bodyPr anchor="t" rtlCol="false" tIns="0" lIns="0" bIns="0" rIns="0">
            <a:spAutoFit/>
          </a:bodyPr>
          <a:lstStyle/>
          <a:p>
            <a:pPr algn="ctr">
              <a:lnSpc>
                <a:spcPts val="2859"/>
              </a:lnSpc>
            </a:pPr>
            <a:r>
              <a:rPr lang="en-US" b="true" sz="2199">
                <a:solidFill>
                  <a:srgbClr val="444440"/>
                </a:solidFill>
                <a:latin typeface="Lato Bold"/>
                <a:ea typeface="Lato Bold"/>
                <a:cs typeface="Lato Bold"/>
                <a:sym typeface="Lato Bold"/>
              </a:rPr>
              <a:t>Mehr Flexibilität, dafür technisch komplexer</a:t>
            </a:r>
          </a:p>
        </p:txBody>
      </p:sp>
      <p:sp>
        <p:nvSpPr>
          <p:cNvPr name="TextBox 17" id="17"/>
          <p:cNvSpPr txBox="true"/>
          <p:nvPr/>
        </p:nvSpPr>
        <p:spPr>
          <a:xfrm rot="0">
            <a:off x="8529231" y="5416542"/>
            <a:ext cx="1599715" cy="473797"/>
          </a:xfrm>
          <a:prstGeom prst="rect">
            <a:avLst/>
          </a:prstGeom>
        </p:spPr>
        <p:txBody>
          <a:bodyPr anchor="t" rtlCol="false" tIns="0" lIns="0" bIns="0" rIns="0">
            <a:spAutoFit/>
          </a:bodyPr>
          <a:lstStyle/>
          <a:p>
            <a:pPr algn="ctr">
              <a:lnSpc>
                <a:spcPts val="3731"/>
              </a:lnSpc>
            </a:pPr>
            <a:r>
              <a:rPr lang="en-US" sz="3454" b="true">
                <a:solidFill>
                  <a:srgbClr val="999F8D"/>
                </a:solidFill>
                <a:latin typeface="Lato Bold"/>
                <a:ea typeface="Lato Bold"/>
                <a:cs typeface="Lato Bold"/>
                <a:sym typeface="Lato Bold"/>
              </a:rPr>
              <a:t>— VS. —</a:t>
            </a:r>
          </a:p>
        </p:txBody>
      </p:sp>
      <p:sp>
        <p:nvSpPr>
          <p:cNvPr name="TextBox 18" id="18"/>
          <p:cNvSpPr txBox="true"/>
          <p:nvPr/>
        </p:nvSpPr>
        <p:spPr>
          <a:xfrm rot="0">
            <a:off x="4078147" y="5182834"/>
            <a:ext cx="2440725" cy="362641"/>
          </a:xfrm>
          <a:prstGeom prst="rect">
            <a:avLst/>
          </a:prstGeom>
        </p:spPr>
        <p:txBody>
          <a:bodyPr anchor="t" rtlCol="false" tIns="0" lIns="0" bIns="0" rIns="0">
            <a:spAutoFit/>
          </a:bodyPr>
          <a:lstStyle/>
          <a:p>
            <a:pPr algn="ctr">
              <a:lnSpc>
                <a:spcPts val="2859"/>
              </a:lnSpc>
            </a:pPr>
            <a:r>
              <a:rPr lang="en-US" b="true" sz="2199">
                <a:solidFill>
                  <a:srgbClr val="444440"/>
                </a:solidFill>
                <a:latin typeface="Lato Bold"/>
                <a:ea typeface="Lato Bold"/>
                <a:cs typeface="Lato Bold"/>
                <a:sym typeface="Lato Bold"/>
              </a:rPr>
              <a:t>Einfaches Hosting</a:t>
            </a:r>
          </a:p>
        </p:txBody>
      </p:sp>
      <p:sp>
        <p:nvSpPr>
          <p:cNvPr name="TextBox 19" id="19"/>
          <p:cNvSpPr txBox="true"/>
          <p:nvPr/>
        </p:nvSpPr>
        <p:spPr>
          <a:xfrm rot="0">
            <a:off x="3821594" y="8910425"/>
            <a:ext cx="10886279" cy="333009"/>
          </a:xfrm>
          <a:prstGeom prst="rect">
            <a:avLst/>
          </a:prstGeom>
        </p:spPr>
        <p:txBody>
          <a:bodyPr anchor="t" rtlCol="false" tIns="0" lIns="0" bIns="0" rIns="0">
            <a:spAutoFit/>
          </a:bodyPr>
          <a:lstStyle/>
          <a:p>
            <a:pPr algn="l">
              <a:lnSpc>
                <a:spcPts val="2636"/>
              </a:lnSpc>
            </a:pPr>
            <a:r>
              <a:rPr lang="en-US" sz="2399" b="true">
                <a:solidFill>
                  <a:srgbClr val="666666"/>
                </a:solidFill>
                <a:latin typeface="Lato Bold"/>
                <a:ea typeface="Lato Bold"/>
                <a:cs typeface="Lato Bold"/>
                <a:sym typeface="Lato Bold"/>
              </a:rPr>
              <a:t>Static Catalog: einfacher – STAC API: flexibler und besser für gezielte Abfragen.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96284" y="701067"/>
            <a:ext cx="9491101" cy="848329"/>
          </a:xfrm>
          <a:prstGeom prst="rect">
            <a:avLst/>
          </a:prstGeom>
        </p:spPr>
        <p:txBody>
          <a:bodyPr anchor="t" rtlCol="false" tIns="0" lIns="0" bIns="0" rIns="0">
            <a:spAutoFit/>
          </a:bodyPr>
          <a:lstStyle/>
          <a:p>
            <a:pPr algn="l">
              <a:lnSpc>
                <a:spcPts val="6666"/>
              </a:lnSpc>
            </a:pPr>
            <a:r>
              <a:rPr lang="en-US" sz="5554" spc="-54" b="true">
                <a:solidFill>
                  <a:srgbClr val="264639"/>
                </a:solidFill>
                <a:latin typeface="Lato Bold"/>
                <a:ea typeface="Lato Bold"/>
                <a:cs typeface="Lato Bold"/>
                <a:sym typeface="Lato Bold"/>
              </a:rPr>
              <a:t>Typische Anwendungsfälle</a:t>
            </a:r>
          </a:p>
        </p:txBody>
      </p:sp>
      <p:sp>
        <p:nvSpPr>
          <p:cNvPr name="Freeform 4" id="4"/>
          <p:cNvSpPr/>
          <p:nvPr/>
        </p:nvSpPr>
        <p:spPr>
          <a:xfrm flipH="false" flipV="false" rot="0">
            <a:off x="645330" y="2142670"/>
            <a:ext cx="3062584" cy="3006296"/>
          </a:xfrm>
          <a:custGeom>
            <a:avLst/>
            <a:gdLst/>
            <a:ahLst/>
            <a:cxnLst/>
            <a:rect r="r" b="b" t="t" l="l"/>
            <a:pathLst>
              <a:path h="3006296" w="3062584">
                <a:moveTo>
                  <a:pt x="0" y="0"/>
                </a:moveTo>
                <a:lnTo>
                  <a:pt x="3062584" y="0"/>
                </a:lnTo>
                <a:lnTo>
                  <a:pt x="3062584" y="3006296"/>
                </a:lnTo>
                <a:lnTo>
                  <a:pt x="0" y="3006296"/>
                </a:lnTo>
                <a:lnTo>
                  <a:pt x="0" y="0"/>
                </a:lnTo>
                <a:close/>
              </a:path>
            </a:pathLst>
          </a:custGeom>
          <a:blipFill>
            <a:blip r:embed="rId3"/>
            <a:stretch>
              <a:fillRect l="0" t="0" r="0" b="0"/>
            </a:stretch>
          </a:blipFill>
        </p:spPr>
      </p:sp>
      <p:sp>
        <p:nvSpPr>
          <p:cNvPr name="TextBox 5" id="5"/>
          <p:cNvSpPr txBox="true"/>
          <p:nvPr/>
        </p:nvSpPr>
        <p:spPr>
          <a:xfrm rot="0">
            <a:off x="3940248" y="2876617"/>
            <a:ext cx="2453372" cy="412755"/>
          </a:xfrm>
          <a:prstGeom prst="rect">
            <a:avLst/>
          </a:prstGeom>
        </p:spPr>
        <p:txBody>
          <a:bodyPr anchor="t" rtlCol="false" tIns="0" lIns="0" bIns="0" rIns="0">
            <a:spAutoFit/>
          </a:bodyPr>
          <a:lstStyle/>
          <a:p>
            <a:pPr algn="l">
              <a:lnSpc>
                <a:spcPts val="3483"/>
              </a:lnSpc>
            </a:pPr>
            <a:r>
              <a:rPr lang="en-US" sz="2487" spc="-24" b="true">
                <a:solidFill>
                  <a:srgbClr val="264639"/>
                </a:solidFill>
                <a:latin typeface="Lato Bold"/>
                <a:ea typeface="Lato Bold"/>
                <a:cs typeface="Lato Bold"/>
                <a:sym typeface="Lato Bold"/>
              </a:rPr>
              <a:t>Satellitenbilder</a:t>
            </a:r>
          </a:p>
        </p:txBody>
      </p:sp>
      <p:sp>
        <p:nvSpPr>
          <p:cNvPr name="TextBox 6" id="6"/>
          <p:cNvSpPr txBox="true"/>
          <p:nvPr/>
        </p:nvSpPr>
        <p:spPr>
          <a:xfrm rot="0">
            <a:off x="3940709" y="3484658"/>
            <a:ext cx="2407247" cy="1003640"/>
          </a:xfrm>
          <a:prstGeom prst="rect">
            <a:avLst/>
          </a:prstGeom>
        </p:spPr>
        <p:txBody>
          <a:bodyPr anchor="t" rtlCol="false" tIns="0" lIns="0" bIns="0" rIns="0">
            <a:spAutoFit/>
          </a:bodyPr>
          <a:lstStyle/>
          <a:p>
            <a:pPr algn="l">
              <a:lnSpc>
                <a:spcPts val="2794"/>
              </a:lnSpc>
            </a:pPr>
            <a:r>
              <a:rPr lang="en-US" sz="1863" spc="-74" b="true">
                <a:solidFill>
                  <a:srgbClr val="444440"/>
                </a:solidFill>
                <a:latin typeface="Lato Bold"/>
                <a:ea typeface="Lato Bold"/>
                <a:cs typeface="Lato Bold"/>
                <a:sym typeface="Lato Bold"/>
              </a:rPr>
              <a:t>Nur Aufnahmen für </a:t>
            </a:r>
          </a:p>
          <a:p>
            <a:pPr algn="l">
              <a:lnSpc>
                <a:spcPts val="2794"/>
              </a:lnSpc>
            </a:pPr>
            <a:r>
              <a:rPr lang="en-US" sz="1863" spc="-74" b="true">
                <a:solidFill>
                  <a:srgbClr val="444440"/>
                </a:solidFill>
                <a:latin typeface="Lato Bold"/>
                <a:ea typeface="Lato Bold"/>
                <a:cs typeface="Lato Bold"/>
                <a:sym typeface="Lato Bold"/>
              </a:rPr>
              <a:t>einen bestimmten Ort und Zeitraum suchen</a:t>
            </a:r>
          </a:p>
        </p:txBody>
      </p:sp>
      <p:sp>
        <p:nvSpPr>
          <p:cNvPr name="Freeform 7" id="7"/>
          <p:cNvSpPr/>
          <p:nvPr/>
        </p:nvSpPr>
        <p:spPr>
          <a:xfrm flipH="false" flipV="false" rot="0">
            <a:off x="7136289" y="2946718"/>
            <a:ext cx="2466813" cy="1983609"/>
          </a:xfrm>
          <a:custGeom>
            <a:avLst/>
            <a:gdLst/>
            <a:ahLst/>
            <a:cxnLst/>
            <a:rect r="r" b="b" t="t" l="l"/>
            <a:pathLst>
              <a:path h="1983609" w="2466813">
                <a:moveTo>
                  <a:pt x="0" y="0"/>
                </a:moveTo>
                <a:lnTo>
                  <a:pt x="2466813" y="0"/>
                </a:lnTo>
                <a:lnTo>
                  <a:pt x="2466813" y="1983608"/>
                </a:lnTo>
                <a:lnTo>
                  <a:pt x="0" y="1983608"/>
                </a:lnTo>
                <a:lnTo>
                  <a:pt x="0" y="0"/>
                </a:lnTo>
                <a:close/>
              </a:path>
            </a:pathLst>
          </a:custGeom>
          <a:blipFill>
            <a:blip r:embed="rId4"/>
            <a:stretch>
              <a:fillRect l="0" t="0" r="0" b="0"/>
            </a:stretch>
          </a:blipFill>
        </p:spPr>
      </p:sp>
      <p:sp>
        <p:nvSpPr>
          <p:cNvPr name="TextBox 8" id="8"/>
          <p:cNvSpPr txBox="true"/>
          <p:nvPr/>
        </p:nvSpPr>
        <p:spPr>
          <a:xfrm rot="0">
            <a:off x="7586803" y="3582218"/>
            <a:ext cx="1617410" cy="590530"/>
          </a:xfrm>
          <a:prstGeom prst="rect">
            <a:avLst/>
          </a:prstGeom>
        </p:spPr>
        <p:txBody>
          <a:bodyPr anchor="t" rtlCol="false" tIns="0" lIns="0" bIns="0" rIns="0">
            <a:spAutoFit/>
          </a:bodyPr>
          <a:lstStyle/>
          <a:p>
            <a:pPr algn="ctr">
              <a:lnSpc>
                <a:spcPts val="2460"/>
              </a:lnSpc>
            </a:pPr>
            <a:r>
              <a:rPr lang="en-US" b="true" sz="1640" spc="-65">
                <a:solidFill>
                  <a:srgbClr val="2B4235"/>
                </a:solidFill>
                <a:latin typeface="Lato Bold"/>
                <a:ea typeface="Lato Bold"/>
                <a:cs typeface="Lato Bold"/>
                <a:sym typeface="Lato Bold"/>
              </a:rPr>
              <a:t>  STAC Client</a:t>
            </a:r>
          </a:p>
          <a:p>
            <a:pPr algn="ctr">
              <a:lnSpc>
                <a:spcPts val="2460"/>
              </a:lnSpc>
            </a:pPr>
            <a:r>
              <a:rPr lang="en-US" b="true" sz="1640" spc="-65">
                <a:solidFill>
                  <a:srgbClr val="2B4235"/>
                </a:solidFill>
                <a:latin typeface="Lato Bold"/>
                <a:ea typeface="Lato Bold"/>
                <a:cs typeface="Lato Bold"/>
                <a:sym typeface="Lato Bold"/>
              </a:rPr>
              <a:t>erstellt Anfrage</a:t>
            </a:r>
          </a:p>
        </p:txBody>
      </p:sp>
      <p:sp>
        <p:nvSpPr>
          <p:cNvPr name="Freeform 9" id="9"/>
          <p:cNvSpPr/>
          <p:nvPr/>
        </p:nvSpPr>
        <p:spPr>
          <a:xfrm flipH="false" flipV="false" rot="0">
            <a:off x="9367633" y="3607920"/>
            <a:ext cx="683980" cy="448273"/>
          </a:xfrm>
          <a:custGeom>
            <a:avLst/>
            <a:gdLst/>
            <a:ahLst/>
            <a:cxnLst/>
            <a:rect r="r" b="b" t="t" l="l"/>
            <a:pathLst>
              <a:path h="448273" w="683980">
                <a:moveTo>
                  <a:pt x="0" y="0"/>
                </a:moveTo>
                <a:lnTo>
                  <a:pt x="683980" y="0"/>
                </a:lnTo>
                <a:lnTo>
                  <a:pt x="683980" y="448274"/>
                </a:lnTo>
                <a:lnTo>
                  <a:pt x="0" y="448274"/>
                </a:lnTo>
                <a:lnTo>
                  <a:pt x="0" y="0"/>
                </a:lnTo>
                <a:close/>
              </a:path>
            </a:pathLst>
          </a:custGeom>
          <a:blipFill>
            <a:blip r:embed="rId5"/>
            <a:stretch>
              <a:fillRect l="0" t="0" r="0" b="0"/>
            </a:stretch>
          </a:blipFill>
        </p:spPr>
      </p:sp>
      <p:sp>
        <p:nvSpPr>
          <p:cNvPr name="Freeform 10" id="10"/>
          <p:cNvSpPr/>
          <p:nvPr/>
        </p:nvSpPr>
        <p:spPr>
          <a:xfrm flipH="false" flipV="false" rot="0">
            <a:off x="9816145" y="2946718"/>
            <a:ext cx="2466813" cy="1983609"/>
          </a:xfrm>
          <a:custGeom>
            <a:avLst/>
            <a:gdLst/>
            <a:ahLst/>
            <a:cxnLst/>
            <a:rect r="r" b="b" t="t" l="l"/>
            <a:pathLst>
              <a:path h="1983609" w="2466813">
                <a:moveTo>
                  <a:pt x="0" y="0"/>
                </a:moveTo>
                <a:lnTo>
                  <a:pt x="2466813" y="0"/>
                </a:lnTo>
                <a:lnTo>
                  <a:pt x="2466813" y="1983608"/>
                </a:lnTo>
                <a:lnTo>
                  <a:pt x="0" y="1983608"/>
                </a:lnTo>
                <a:lnTo>
                  <a:pt x="0" y="0"/>
                </a:lnTo>
                <a:close/>
              </a:path>
            </a:pathLst>
          </a:custGeom>
          <a:blipFill>
            <a:blip r:embed="rId6"/>
            <a:stretch>
              <a:fillRect l="0" t="0" r="0" b="0"/>
            </a:stretch>
          </a:blipFill>
        </p:spPr>
      </p:sp>
      <p:sp>
        <p:nvSpPr>
          <p:cNvPr name="TextBox 11" id="11"/>
          <p:cNvSpPr txBox="true"/>
          <p:nvPr/>
        </p:nvSpPr>
        <p:spPr>
          <a:xfrm rot="0">
            <a:off x="10277843" y="3320644"/>
            <a:ext cx="1646534" cy="1195927"/>
          </a:xfrm>
          <a:prstGeom prst="rect">
            <a:avLst/>
          </a:prstGeom>
        </p:spPr>
        <p:txBody>
          <a:bodyPr anchor="t" rtlCol="false" tIns="0" lIns="0" bIns="0" rIns="0">
            <a:spAutoFit/>
          </a:bodyPr>
          <a:lstStyle/>
          <a:p>
            <a:pPr algn="ctr">
              <a:lnSpc>
                <a:spcPts val="2460"/>
              </a:lnSpc>
            </a:pPr>
            <a:r>
              <a:rPr lang="en-US" b="true" sz="1640" spc="-65">
                <a:solidFill>
                  <a:srgbClr val="2A4437"/>
                </a:solidFill>
                <a:latin typeface="Lato Bold"/>
                <a:ea typeface="Lato Bold"/>
                <a:cs typeface="Lato Bold"/>
                <a:sym typeface="Lato Bold"/>
              </a:rPr>
              <a:t>GET /search</a:t>
            </a:r>
          </a:p>
          <a:p>
            <a:pPr algn="ctr">
              <a:lnSpc>
                <a:spcPts val="2460"/>
              </a:lnSpc>
            </a:pPr>
            <a:r>
              <a:rPr lang="en-US" b="true" sz="1640" spc="-65">
                <a:solidFill>
                  <a:srgbClr val="2A4437"/>
                </a:solidFill>
                <a:latin typeface="Lato Bold"/>
                <a:ea typeface="Lato Bold"/>
                <a:cs typeface="Lato Bold"/>
                <a:sym typeface="Lato Bold"/>
              </a:rPr>
              <a:t>mit räumlichem und zeitlichem Filter</a:t>
            </a:r>
          </a:p>
        </p:txBody>
      </p:sp>
      <p:sp>
        <p:nvSpPr>
          <p:cNvPr name="Freeform 12" id="12"/>
          <p:cNvSpPr/>
          <p:nvPr/>
        </p:nvSpPr>
        <p:spPr>
          <a:xfrm flipH="false" flipV="false" rot="0">
            <a:off x="12047489" y="3607920"/>
            <a:ext cx="683980" cy="448273"/>
          </a:xfrm>
          <a:custGeom>
            <a:avLst/>
            <a:gdLst/>
            <a:ahLst/>
            <a:cxnLst/>
            <a:rect r="r" b="b" t="t" l="l"/>
            <a:pathLst>
              <a:path h="448273" w="683980">
                <a:moveTo>
                  <a:pt x="0" y="0"/>
                </a:moveTo>
                <a:lnTo>
                  <a:pt x="683980" y="0"/>
                </a:lnTo>
                <a:lnTo>
                  <a:pt x="683980" y="448274"/>
                </a:lnTo>
                <a:lnTo>
                  <a:pt x="0" y="448274"/>
                </a:lnTo>
                <a:lnTo>
                  <a:pt x="0" y="0"/>
                </a:lnTo>
                <a:close/>
              </a:path>
            </a:pathLst>
          </a:custGeom>
          <a:blipFill>
            <a:blip r:embed="rId7"/>
            <a:stretch>
              <a:fillRect l="0" t="0" r="0" b="0"/>
            </a:stretch>
          </a:blipFill>
        </p:spPr>
      </p:sp>
      <p:sp>
        <p:nvSpPr>
          <p:cNvPr name="Freeform 13" id="13"/>
          <p:cNvSpPr/>
          <p:nvPr/>
        </p:nvSpPr>
        <p:spPr>
          <a:xfrm flipH="false" flipV="false" rot="0">
            <a:off x="12720257" y="2946718"/>
            <a:ext cx="2242557" cy="1983609"/>
          </a:xfrm>
          <a:custGeom>
            <a:avLst/>
            <a:gdLst/>
            <a:ahLst/>
            <a:cxnLst/>
            <a:rect r="r" b="b" t="t" l="l"/>
            <a:pathLst>
              <a:path h="1983609" w="2242557">
                <a:moveTo>
                  <a:pt x="0" y="0"/>
                </a:moveTo>
                <a:lnTo>
                  <a:pt x="2242557" y="0"/>
                </a:lnTo>
                <a:lnTo>
                  <a:pt x="2242557" y="1983608"/>
                </a:lnTo>
                <a:lnTo>
                  <a:pt x="0" y="1983608"/>
                </a:lnTo>
                <a:lnTo>
                  <a:pt x="0" y="0"/>
                </a:lnTo>
                <a:close/>
              </a:path>
            </a:pathLst>
          </a:custGeom>
          <a:blipFill>
            <a:blip r:embed="rId8"/>
            <a:stretch>
              <a:fillRect l="0" t="0" r="0" b="0"/>
            </a:stretch>
          </a:blipFill>
        </p:spPr>
      </p:sp>
      <p:sp>
        <p:nvSpPr>
          <p:cNvPr name="TextBox 14" id="14"/>
          <p:cNvSpPr txBox="true"/>
          <p:nvPr/>
        </p:nvSpPr>
        <p:spPr>
          <a:xfrm rot="0">
            <a:off x="12969167" y="3470001"/>
            <a:ext cx="1647321" cy="893228"/>
          </a:xfrm>
          <a:prstGeom prst="rect">
            <a:avLst/>
          </a:prstGeom>
        </p:spPr>
        <p:txBody>
          <a:bodyPr anchor="t" rtlCol="false" tIns="0" lIns="0" bIns="0" rIns="0">
            <a:spAutoFit/>
          </a:bodyPr>
          <a:lstStyle/>
          <a:p>
            <a:pPr algn="ctr">
              <a:lnSpc>
                <a:spcPts val="2460"/>
              </a:lnSpc>
            </a:pPr>
            <a:r>
              <a:rPr lang="en-US" b="true" sz="1640" spc="-65">
                <a:solidFill>
                  <a:srgbClr val="222222"/>
                </a:solidFill>
                <a:latin typeface="Lato Bold"/>
                <a:ea typeface="Lato Bold"/>
                <a:cs typeface="Lato Bold"/>
                <a:sym typeface="Lato Bold"/>
              </a:rPr>
              <a:t> </a:t>
            </a:r>
            <a:r>
              <a:rPr lang="en-US" b="true" sz="1640" spc="-65">
                <a:solidFill>
                  <a:srgbClr val="2A4437"/>
                </a:solidFill>
                <a:latin typeface="Lato Bold"/>
                <a:ea typeface="Lato Bold"/>
                <a:cs typeface="Lato Bold"/>
                <a:sym typeface="Lato Bold"/>
              </a:rPr>
              <a:t> STAC API </a:t>
            </a:r>
          </a:p>
          <a:p>
            <a:pPr algn="ctr">
              <a:lnSpc>
                <a:spcPts val="2460"/>
              </a:lnSpc>
            </a:pPr>
            <a:r>
              <a:rPr lang="en-US" b="true" sz="1640" spc="-65">
                <a:solidFill>
                  <a:srgbClr val="2A4437"/>
                </a:solidFill>
                <a:latin typeface="Lato Bold"/>
                <a:ea typeface="Lato Bold"/>
                <a:cs typeface="Lato Bold"/>
                <a:sym typeface="Lato Bold"/>
              </a:rPr>
              <a:t>liefert passende </a:t>
            </a:r>
          </a:p>
          <a:p>
            <a:pPr algn="ctr">
              <a:lnSpc>
                <a:spcPts val="2460"/>
              </a:lnSpc>
            </a:pPr>
            <a:r>
              <a:rPr lang="en-US" b="true" sz="1640" spc="-65">
                <a:solidFill>
                  <a:srgbClr val="2A4437"/>
                </a:solidFill>
                <a:latin typeface="Lato Bold"/>
                <a:ea typeface="Lato Bold"/>
                <a:cs typeface="Lato Bold"/>
                <a:sym typeface="Lato Bold"/>
              </a:rPr>
              <a:t>   Items (JSON)</a:t>
            </a:r>
          </a:p>
        </p:txBody>
      </p:sp>
      <p:sp>
        <p:nvSpPr>
          <p:cNvPr name="Freeform 15" id="15"/>
          <p:cNvSpPr/>
          <p:nvPr/>
        </p:nvSpPr>
        <p:spPr>
          <a:xfrm flipH="false" flipV="false" rot="0">
            <a:off x="14727345" y="3607920"/>
            <a:ext cx="683980" cy="448273"/>
          </a:xfrm>
          <a:custGeom>
            <a:avLst/>
            <a:gdLst/>
            <a:ahLst/>
            <a:cxnLst/>
            <a:rect r="r" b="b" t="t" l="l"/>
            <a:pathLst>
              <a:path h="448273" w="683980">
                <a:moveTo>
                  <a:pt x="0" y="0"/>
                </a:moveTo>
                <a:lnTo>
                  <a:pt x="683980" y="0"/>
                </a:lnTo>
                <a:lnTo>
                  <a:pt x="683980" y="448274"/>
                </a:lnTo>
                <a:lnTo>
                  <a:pt x="0" y="448274"/>
                </a:lnTo>
                <a:lnTo>
                  <a:pt x="0" y="0"/>
                </a:lnTo>
                <a:close/>
              </a:path>
            </a:pathLst>
          </a:custGeom>
          <a:blipFill>
            <a:blip r:embed="rId9"/>
            <a:stretch>
              <a:fillRect l="0" t="0" r="0" b="0"/>
            </a:stretch>
          </a:blipFill>
        </p:spPr>
      </p:sp>
      <p:sp>
        <p:nvSpPr>
          <p:cNvPr name="Freeform 16" id="16"/>
          <p:cNvSpPr/>
          <p:nvPr/>
        </p:nvSpPr>
        <p:spPr>
          <a:xfrm flipH="false" flipV="false" rot="0">
            <a:off x="15400113" y="2946718"/>
            <a:ext cx="2242557" cy="1983609"/>
          </a:xfrm>
          <a:custGeom>
            <a:avLst/>
            <a:gdLst/>
            <a:ahLst/>
            <a:cxnLst/>
            <a:rect r="r" b="b" t="t" l="l"/>
            <a:pathLst>
              <a:path h="1983609" w="2242557">
                <a:moveTo>
                  <a:pt x="0" y="0"/>
                </a:moveTo>
                <a:lnTo>
                  <a:pt x="2242557" y="0"/>
                </a:lnTo>
                <a:lnTo>
                  <a:pt x="2242557" y="1983608"/>
                </a:lnTo>
                <a:lnTo>
                  <a:pt x="0" y="1983608"/>
                </a:lnTo>
                <a:lnTo>
                  <a:pt x="0" y="0"/>
                </a:lnTo>
                <a:close/>
              </a:path>
            </a:pathLst>
          </a:custGeom>
          <a:blipFill>
            <a:blip r:embed="rId10"/>
            <a:stretch>
              <a:fillRect l="0" t="0" r="0" b="0"/>
            </a:stretch>
          </a:blipFill>
        </p:spPr>
      </p:sp>
      <p:sp>
        <p:nvSpPr>
          <p:cNvPr name="TextBox 17" id="17"/>
          <p:cNvSpPr txBox="true"/>
          <p:nvPr/>
        </p:nvSpPr>
        <p:spPr>
          <a:xfrm rot="0">
            <a:off x="15687966" y="3443500"/>
            <a:ext cx="1646807" cy="893228"/>
          </a:xfrm>
          <a:prstGeom prst="rect">
            <a:avLst/>
          </a:prstGeom>
        </p:spPr>
        <p:txBody>
          <a:bodyPr anchor="t" rtlCol="false" tIns="0" lIns="0" bIns="0" rIns="0">
            <a:spAutoFit/>
          </a:bodyPr>
          <a:lstStyle/>
          <a:p>
            <a:pPr algn="ctr">
              <a:lnSpc>
                <a:spcPts val="2460"/>
              </a:lnSpc>
            </a:pPr>
            <a:r>
              <a:rPr lang="en-US" b="true" sz="1640" spc="-65">
                <a:solidFill>
                  <a:srgbClr val="2A4437"/>
                </a:solidFill>
                <a:latin typeface="Lato Bold"/>
                <a:ea typeface="Lato Bold"/>
                <a:cs typeface="Lato Bold"/>
                <a:sym typeface="Lato Bold"/>
              </a:rPr>
              <a:t>Clients erhalten Metadaten und Datenlinks</a:t>
            </a:r>
          </a:p>
        </p:txBody>
      </p:sp>
      <p:sp>
        <p:nvSpPr>
          <p:cNvPr name="Freeform 18" id="18"/>
          <p:cNvSpPr/>
          <p:nvPr/>
        </p:nvSpPr>
        <p:spPr>
          <a:xfrm flipH="false" flipV="false" rot="0">
            <a:off x="3915732" y="5564382"/>
            <a:ext cx="13508182" cy="229572"/>
          </a:xfrm>
          <a:custGeom>
            <a:avLst/>
            <a:gdLst/>
            <a:ahLst/>
            <a:cxnLst/>
            <a:rect r="r" b="b" t="t" l="l"/>
            <a:pathLst>
              <a:path h="229572" w="13508182">
                <a:moveTo>
                  <a:pt x="0" y="0"/>
                </a:moveTo>
                <a:lnTo>
                  <a:pt x="13508182" y="0"/>
                </a:lnTo>
                <a:lnTo>
                  <a:pt x="13508182" y="229571"/>
                </a:lnTo>
                <a:lnTo>
                  <a:pt x="0" y="229571"/>
                </a:lnTo>
                <a:lnTo>
                  <a:pt x="0" y="0"/>
                </a:lnTo>
                <a:close/>
              </a:path>
            </a:pathLst>
          </a:custGeom>
          <a:blipFill>
            <a:blip r:embed="rId11"/>
            <a:stretch>
              <a:fillRect l="0" t="0" r="0" b="0"/>
            </a:stretch>
          </a:blipFill>
        </p:spPr>
      </p:sp>
      <p:sp>
        <p:nvSpPr>
          <p:cNvPr name="Freeform 19" id="19"/>
          <p:cNvSpPr/>
          <p:nvPr/>
        </p:nvSpPr>
        <p:spPr>
          <a:xfrm flipH="false" flipV="false" rot="0">
            <a:off x="645330" y="5783021"/>
            <a:ext cx="3062584" cy="3224936"/>
          </a:xfrm>
          <a:custGeom>
            <a:avLst/>
            <a:gdLst/>
            <a:ahLst/>
            <a:cxnLst/>
            <a:rect r="r" b="b" t="t" l="l"/>
            <a:pathLst>
              <a:path h="3224936" w="3062584">
                <a:moveTo>
                  <a:pt x="0" y="0"/>
                </a:moveTo>
                <a:lnTo>
                  <a:pt x="3062584" y="0"/>
                </a:lnTo>
                <a:lnTo>
                  <a:pt x="3062584" y="3224936"/>
                </a:lnTo>
                <a:lnTo>
                  <a:pt x="0" y="3224936"/>
                </a:lnTo>
                <a:lnTo>
                  <a:pt x="0" y="0"/>
                </a:lnTo>
                <a:close/>
              </a:path>
            </a:pathLst>
          </a:custGeom>
          <a:blipFill>
            <a:blip r:embed="rId12"/>
            <a:stretch>
              <a:fillRect l="0" t="0" r="0" b="0"/>
            </a:stretch>
          </a:blipFill>
        </p:spPr>
      </p:sp>
      <p:sp>
        <p:nvSpPr>
          <p:cNvPr name="TextBox 20" id="20"/>
          <p:cNvSpPr txBox="true"/>
          <p:nvPr/>
        </p:nvSpPr>
        <p:spPr>
          <a:xfrm rot="0">
            <a:off x="3937994" y="6310770"/>
            <a:ext cx="2678743" cy="807688"/>
          </a:xfrm>
          <a:prstGeom prst="rect">
            <a:avLst/>
          </a:prstGeom>
        </p:spPr>
        <p:txBody>
          <a:bodyPr anchor="t" rtlCol="false" tIns="0" lIns="0" bIns="0" rIns="0">
            <a:spAutoFit/>
          </a:bodyPr>
          <a:lstStyle/>
          <a:p>
            <a:pPr algn="l">
              <a:lnSpc>
                <a:spcPts val="3360"/>
              </a:lnSpc>
            </a:pPr>
            <a:r>
              <a:rPr lang="en-US" sz="2399" spc="-23" b="true">
                <a:solidFill>
                  <a:srgbClr val="264639"/>
                </a:solidFill>
                <a:latin typeface="Lato Bold"/>
                <a:ea typeface="Lato Bold"/>
                <a:cs typeface="Lato Bold"/>
                <a:sym typeface="Lato Bold"/>
              </a:rPr>
              <a:t>Gesundheits- und Umweltdaten</a:t>
            </a:r>
          </a:p>
        </p:txBody>
      </p:sp>
      <p:sp>
        <p:nvSpPr>
          <p:cNvPr name="TextBox 21" id="21"/>
          <p:cNvSpPr txBox="true"/>
          <p:nvPr/>
        </p:nvSpPr>
        <p:spPr>
          <a:xfrm rot="0">
            <a:off x="3938681" y="7355294"/>
            <a:ext cx="2610073" cy="1003640"/>
          </a:xfrm>
          <a:prstGeom prst="rect">
            <a:avLst/>
          </a:prstGeom>
        </p:spPr>
        <p:txBody>
          <a:bodyPr anchor="t" rtlCol="false" tIns="0" lIns="0" bIns="0" rIns="0">
            <a:spAutoFit/>
          </a:bodyPr>
          <a:lstStyle/>
          <a:p>
            <a:pPr algn="l">
              <a:lnSpc>
                <a:spcPts val="2794"/>
              </a:lnSpc>
            </a:pPr>
            <a:r>
              <a:rPr lang="en-US" sz="1863" spc="-74" b="true">
                <a:solidFill>
                  <a:srgbClr val="444440"/>
                </a:solidFill>
                <a:latin typeface="Lato Bold"/>
                <a:ea typeface="Lato Bold"/>
                <a:cs typeface="Lato Bold"/>
                <a:sym typeface="Lato Bold"/>
              </a:rPr>
              <a:t>Neue Datensätze gezielt über Collections und Items abrufen</a:t>
            </a:r>
          </a:p>
        </p:txBody>
      </p:sp>
      <p:sp>
        <p:nvSpPr>
          <p:cNvPr name="Freeform 22" id="22"/>
          <p:cNvSpPr/>
          <p:nvPr/>
        </p:nvSpPr>
        <p:spPr>
          <a:xfrm flipH="false" flipV="false" rot="0">
            <a:off x="7136289" y="6586794"/>
            <a:ext cx="2466813" cy="1994816"/>
          </a:xfrm>
          <a:custGeom>
            <a:avLst/>
            <a:gdLst/>
            <a:ahLst/>
            <a:cxnLst/>
            <a:rect r="r" b="b" t="t" l="l"/>
            <a:pathLst>
              <a:path h="1994816" w="2466813">
                <a:moveTo>
                  <a:pt x="0" y="0"/>
                </a:moveTo>
                <a:lnTo>
                  <a:pt x="2466813" y="0"/>
                </a:lnTo>
                <a:lnTo>
                  <a:pt x="2466813" y="1994816"/>
                </a:lnTo>
                <a:lnTo>
                  <a:pt x="0" y="1994816"/>
                </a:lnTo>
                <a:lnTo>
                  <a:pt x="0" y="0"/>
                </a:lnTo>
                <a:close/>
              </a:path>
            </a:pathLst>
          </a:custGeom>
          <a:blipFill>
            <a:blip r:embed="rId13"/>
            <a:stretch>
              <a:fillRect l="0" t="0" r="0" b="0"/>
            </a:stretch>
          </a:blipFill>
        </p:spPr>
      </p:sp>
      <p:sp>
        <p:nvSpPr>
          <p:cNvPr name="TextBox 23" id="23"/>
          <p:cNvSpPr txBox="true"/>
          <p:nvPr/>
        </p:nvSpPr>
        <p:spPr>
          <a:xfrm rot="0">
            <a:off x="7700418" y="7031977"/>
            <a:ext cx="1240947" cy="985156"/>
          </a:xfrm>
          <a:prstGeom prst="rect">
            <a:avLst/>
          </a:prstGeom>
        </p:spPr>
        <p:txBody>
          <a:bodyPr anchor="t" rtlCol="false" tIns="0" lIns="0" bIns="0" rIns="0">
            <a:spAutoFit/>
          </a:bodyPr>
          <a:lstStyle/>
          <a:p>
            <a:pPr algn="ctr">
              <a:lnSpc>
                <a:spcPts val="2675"/>
              </a:lnSpc>
            </a:pPr>
            <a:r>
              <a:rPr lang="en-US" b="true" sz="1783" spc="-71">
                <a:solidFill>
                  <a:srgbClr val="264639"/>
                </a:solidFill>
                <a:latin typeface="Lato Bold"/>
                <a:ea typeface="Lato Bold"/>
                <a:cs typeface="Lato Bold"/>
                <a:sym typeface="Lato Bold"/>
              </a:rPr>
              <a:t>STAC Client </a:t>
            </a:r>
          </a:p>
          <a:p>
            <a:pPr algn="ctr">
              <a:lnSpc>
                <a:spcPts val="2675"/>
              </a:lnSpc>
            </a:pPr>
            <a:r>
              <a:rPr lang="en-US" b="true" sz="1783" spc="-71">
                <a:solidFill>
                  <a:srgbClr val="264639"/>
                </a:solidFill>
                <a:latin typeface="Lato Bold"/>
                <a:ea typeface="Lato Bold"/>
                <a:cs typeface="Lato Bold"/>
                <a:sym typeface="Lato Bold"/>
              </a:rPr>
              <a:t>erkundet </a:t>
            </a:r>
          </a:p>
          <a:p>
            <a:pPr algn="ctr">
              <a:lnSpc>
                <a:spcPts val="2675"/>
              </a:lnSpc>
            </a:pPr>
            <a:r>
              <a:rPr lang="en-US" b="true" sz="1783" spc="-71">
                <a:solidFill>
                  <a:srgbClr val="264639"/>
                </a:solidFill>
                <a:latin typeface="Lato Bold"/>
                <a:ea typeface="Lato Bold"/>
                <a:cs typeface="Lato Bold"/>
                <a:sym typeface="Lato Bold"/>
              </a:rPr>
              <a:t>Collections</a:t>
            </a:r>
          </a:p>
        </p:txBody>
      </p:sp>
      <p:sp>
        <p:nvSpPr>
          <p:cNvPr name="Freeform 24" id="24"/>
          <p:cNvSpPr/>
          <p:nvPr/>
        </p:nvSpPr>
        <p:spPr>
          <a:xfrm flipH="false" flipV="false" rot="0">
            <a:off x="9367633" y="7247997"/>
            <a:ext cx="683980" cy="448273"/>
          </a:xfrm>
          <a:custGeom>
            <a:avLst/>
            <a:gdLst/>
            <a:ahLst/>
            <a:cxnLst/>
            <a:rect r="r" b="b" t="t" l="l"/>
            <a:pathLst>
              <a:path h="448273" w="683980">
                <a:moveTo>
                  <a:pt x="0" y="0"/>
                </a:moveTo>
                <a:lnTo>
                  <a:pt x="683980" y="0"/>
                </a:lnTo>
                <a:lnTo>
                  <a:pt x="683980" y="448274"/>
                </a:lnTo>
                <a:lnTo>
                  <a:pt x="0" y="448274"/>
                </a:lnTo>
                <a:lnTo>
                  <a:pt x="0" y="0"/>
                </a:lnTo>
                <a:close/>
              </a:path>
            </a:pathLst>
          </a:custGeom>
          <a:blipFill>
            <a:blip r:embed="rId14"/>
            <a:stretch>
              <a:fillRect l="0" t="0" r="0" b="0"/>
            </a:stretch>
          </a:blipFill>
        </p:spPr>
      </p:sp>
      <p:sp>
        <p:nvSpPr>
          <p:cNvPr name="Freeform 25" id="25"/>
          <p:cNvSpPr/>
          <p:nvPr/>
        </p:nvSpPr>
        <p:spPr>
          <a:xfrm flipH="false" flipV="false" rot="0">
            <a:off x="9816145" y="6586794"/>
            <a:ext cx="2466813" cy="1994816"/>
          </a:xfrm>
          <a:custGeom>
            <a:avLst/>
            <a:gdLst/>
            <a:ahLst/>
            <a:cxnLst/>
            <a:rect r="r" b="b" t="t" l="l"/>
            <a:pathLst>
              <a:path h="1994816" w="2466813">
                <a:moveTo>
                  <a:pt x="0" y="0"/>
                </a:moveTo>
                <a:lnTo>
                  <a:pt x="2466813" y="0"/>
                </a:lnTo>
                <a:lnTo>
                  <a:pt x="2466813" y="1994816"/>
                </a:lnTo>
                <a:lnTo>
                  <a:pt x="0" y="1994816"/>
                </a:lnTo>
                <a:lnTo>
                  <a:pt x="0" y="0"/>
                </a:lnTo>
                <a:close/>
              </a:path>
            </a:pathLst>
          </a:custGeom>
          <a:blipFill>
            <a:blip r:embed="rId15"/>
            <a:stretch>
              <a:fillRect l="0" t="0" r="0" b="0"/>
            </a:stretch>
          </a:blipFill>
        </p:spPr>
      </p:sp>
      <p:sp>
        <p:nvSpPr>
          <p:cNvPr name="TextBox 26" id="26"/>
          <p:cNvSpPr txBox="true"/>
          <p:nvPr/>
        </p:nvSpPr>
        <p:spPr>
          <a:xfrm rot="0">
            <a:off x="10222913" y="7033368"/>
            <a:ext cx="1647084" cy="985156"/>
          </a:xfrm>
          <a:prstGeom prst="rect">
            <a:avLst/>
          </a:prstGeom>
        </p:spPr>
        <p:txBody>
          <a:bodyPr anchor="t" rtlCol="false" tIns="0" lIns="0" bIns="0" rIns="0">
            <a:spAutoFit/>
          </a:bodyPr>
          <a:lstStyle/>
          <a:p>
            <a:pPr algn="ctr">
              <a:lnSpc>
                <a:spcPts val="2675"/>
              </a:lnSpc>
            </a:pPr>
            <a:r>
              <a:rPr lang="en-US" b="true" sz="1783" spc="-71">
                <a:solidFill>
                  <a:srgbClr val="2A4437"/>
                </a:solidFill>
                <a:latin typeface="Lato Bold"/>
                <a:ea typeface="Lato Bold"/>
                <a:cs typeface="Lato Bold"/>
                <a:sym typeface="Lato Bold"/>
              </a:rPr>
              <a:t>GET /collections</a:t>
            </a:r>
          </a:p>
          <a:p>
            <a:pPr algn="ctr">
              <a:lnSpc>
                <a:spcPts val="2675"/>
              </a:lnSpc>
            </a:pPr>
            <a:r>
              <a:rPr lang="en-US" b="true" sz="1783" spc="-71">
                <a:solidFill>
                  <a:srgbClr val="2A4437"/>
                </a:solidFill>
                <a:latin typeface="Lato Bold"/>
                <a:ea typeface="Lato Bold"/>
                <a:cs typeface="Lato Bold"/>
                <a:sym typeface="Lato Bold"/>
              </a:rPr>
              <a:t>und weitere </a:t>
            </a:r>
          </a:p>
          <a:p>
            <a:pPr algn="ctr">
              <a:lnSpc>
                <a:spcPts val="2675"/>
              </a:lnSpc>
            </a:pPr>
            <a:r>
              <a:rPr lang="en-US" b="true" sz="1783" spc="-71">
                <a:solidFill>
                  <a:srgbClr val="2A4437"/>
                </a:solidFill>
                <a:latin typeface="Lato Bold"/>
                <a:ea typeface="Lato Bold"/>
                <a:cs typeface="Lato Bold"/>
                <a:sym typeface="Lato Bold"/>
              </a:rPr>
              <a:t>   Anfragen</a:t>
            </a:r>
          </a:p>
        </p:txBody>
      </p:sp>
      <p:sp>
        <p:nvSpPr>
          <p:cNvPr name="Freeform 27" id="27"/>
          <p:cNvSpPr/>
          <p:nvPr/>
        </p:nvSpPr>
        <p:spPr>
          <a:xfrm flipH="false" flipV="false" rot="0">
            <a:off x="12047489" y="7247997"/>
            <a:ext cx="683980" cy="448273"/>
          </a:xfrm>
          <a:custGeom>
            <a:avLst/>
            <a:gdLst/>
            <a:ahLst/>
            <a:cxnLst/>
            <a:rect r="r" b="b" t="t" l="l"/>
            <a:pathLst>
              <a:path h="448273" w="683980">
                <a:moveTo>
                  <a:pt x="0" y="0"/>
                </a:moveTo>
                <a:lnTo>
                  <a:pt x="683980" y="0"/>
                </a:lnTo>
                <a:lnTo>
                  <a:pt x="683980" y="448274"/>
                </a:lnTo>
                <a:lnTo>
                  <a:pt x="0" y="448274"/>
                </a:lnTo>
                <a:lnTo>
                  <a:pt x="0" y="0"/>
                </a:lnTo>
                <a:close/>
              </a:path>
            </a:pathLst>
          </a:custGeom>
          <a:blipFill>
            <a:blip r:embed="rId16"/>
            <a:stretch>
              <a:fillRect l="0" t="0" r="0" b="0"/>
            </a:stretch>
          </a:blipFill>
        </p:spPr>
      </p:sp>
      <p:sp>
        <p:nvSpPr>
          <p:cNvPr name="Freeform 28" id="28"/>
          <p:cNvSpPr/>
          <p:nvPr/>
        </p:nvSpPr>
        <p:spPr>
          <a:xfrm flipH="false" flipV="false" rot="0">
            <a:off x="12720257" y="6586794"/>
            <a:ext cx="2242557" cy="1994816"/>
          </a:xfrm>
          <a:custGeom>
            <a:avLst/>
            <a:gdLst/>
            <a:ahLst/>
            <a:cxnLst/>
            <a:rect r="r" b="b" t="t" l="l"/>
            <a:pathLst>
              <a:path h="1994816" w="2242557">
                <a:moveTo>
                  <a:pt x="0" y="0"/>
                </a:moveTo>
                <a:lnTo>
                  <a:pt x="2242557" y="0"/>
                </a:lnTo>
                <a:lnTo>
                  <a:pt x="2242557" y="1994816"/>
                </a:lnTo>
                <a:lnTo>
                  <a:pt x="0" y="1994816"/>
                </a:lnTo>
                <a:lnTo>
                  <a:pt x="0" y="0"/>
                </a:lnTo>
                <a:close/>
              </a:path>
            </a:pathLst>
          </a:custGeom>
          <a:blipFill>
            <a:blip r:embed="rId17"/>
            <a:stretch>
              <a:fillRect l="0" t="0" r="0" b="0"/>
            </a:stretch>
          </a:blipFill>
        </p:spPr>
      </p:sp>
      <p:sp>
        <p:nvSpPr>
          <p:cNvPr name="TextBox 29" id="29"/>
          <p:cNvSpPr txBox="true"/>
          <p:nvPr/>
        </p:nvSpPr>
        <p:spPr>
          <a:xfrm rot="0">
            <a:off x="12907230" y="7041233"/>
            <a:ext cx="1820116" cy="921850"/>
          </a:xfrm>
          <a:prstGeom prst="rect">
            <a:avLst/>
          </a:prstGeom>
        </p:spPr>
        <p:txBody>
          <a:bodyPr anchor="t" rtlCol="false" tIns="0" lIns="0" bIns="0" rIns="0">
            <a:spAutoFit/>
          </a:bodyPr>
          <a:lstStyle/>
          <a:p>
            <a:pPr algn="ctr">
              <a:lnSpc>
                <a:spcPts val="2486"/>
              </a:lnSpc>
            </a:pPr>
            <a:r>
              <a:rPr lang="en-US" b="true" sz="1657" spc="-66">
                <a:solidFill>
                  <a:srgbClr val="2A4437"/>
                </a:solidFill>
                <a:latin typeface="Lato Bold"/>
                <a:ea typeface="Lato Bold"/>
                <a:cs typeface="Lato Bold"/>
                <a:sym typeface="Lato Bold"/>
              </a:rPr>
              <a:t>GET /collections/{collectionId}/items</a:t>
            </a:r>
          </a:p>
        </p:txBody>
      </p:sp>
      <p:sp>
        <p:nvSpPr>
          <p:cNvPr name="Freeform 30" id="30"/>
          <p:cNvSpPr/>
          <p:nvPr/>
        </p:nvSpPr>
        <p:spPr>
          <a:xfrm flipH="false" flipV="false" rot="0">
            <a:off x="14727345" y="7247997"/>
            <a:ext cx="683980" cy="448273"/>
          </a:xfrm>
          <a:custGeom>
            <a:avLst/>
            <a:gdLst/>
            <a:ahLst/>
            <a:cxnLst/>
            <a:rect r="r" b="b" t="t" l="l"/>
            <a:pathLst>
              <a:path h="448273" w="683980">
                <a:moveTo>
                  <a:pt x="0" y="0"/>
                </a:moveTo>
                <a:lnTo>
                  <a:pt x="683980" y="0"/>
                </a:lnTo>
                <a:lnTo>
                  <a:pt x="683980" y="448274"/>
                </a:lnTo>
                <a:lnTo>
                  <a:pt x="0" y="448274"/>
                </a:lnTo>
                <a:lnTo>
                  <a:pt x="0" y="0"/>
                </a:lnTo>
                <a:close/>
              </a:path>
            </a:pathLst>
          </a:custGeom>
          <a:blipFill>
            <a:blip r:embed="rId18"/>
            <a:stretch>
              <a:fillRect l="0" t="0" r="0" b="0"/>
            </a:stretch>
          </a:blipFill>
        </p:spPr>
      </p:sp>
      <p:sp>
        <p:nvSpPr>
          <p:cNvPr name="Freeform 31" id="31"/>
          <p:cNvSpPr/>
          <p:nvPr/>
        </p:nvSpPr>
        <p:spPr>
          <a:xfrm flipH="false" flipV="false" rot="0">
            <a:off x="15400113" y="6586794"/>
            <a:ext cx="2242557" cy="1994816"/>
          </a:xfrm>
          <a:custGeom>
            <a:avLst/>
            <a:gdLst/>
            <a:ahLst/>
            <a:cxnLst/>
            <a:rect r="r" b="b" t="t" l="l"/>
            <a:pathLst>
              <a:path h="1994816" w="2242557">
                <a:moveTo>
                  <a:pt x="0" y="0"/>
                </a:moveTo>
                <a:lnTo>
                  <a:pt x="2242557" y="0"/>
                </a:lnTo>
                <a:lnTo>
                  <a:pt x="2242557" y="1994816"/>
                </a:lnTo>
                <a:lnTo>
                  <a:pt x="0" y="1994816"/>
                </a:lnTo>
                <a:lnTo>
                  <a:pt x="0" y="0"/>
                </a:lnTo>
                <a:close/>
              </a:path>
            </a:pathLst>
          </a:custGeom>
          <a:blipFill>
            <a:blip r:embed="rId19"/>
            <a:stretch>
              <a:fillRect l="0" t="0" r="0" b="0"/>
            </a:stretch>
          </a:blipFill>
        </p:spPr>
      </p:sp>
      <p:sp>
        <p:nvSpPr>
          <p:cNvPr name="TextBox 32" id="32"/>
          <p:cNvSpPr txBox="true"/>
          <p:nvPr/>
        </p:nvSpPr>
        <p:spPr>
          <a:xfrm rot="0">
            <a:off x="15660504" y="7032216"/>
            <a:ext cx="1646809" cy="985156"/>
          </a:xfrm>
          <a:prstGeom prst="rect">
            <a:avLst/>
          </a:prstGeom>
        </p:spPr>
        <p:txBody>
          <a:bodyPr anchor="t" rtlCol="false" tIns="0" lIns="0" bIns="0" rIns="0">
            <a:spAutoFit/>
          </a:bodyPr>
          <a:lstStyle/>
          <a:p>
            <a:pPr algn="ctr">
              <a:lnSpc>
                <a:spcPts val="2675"/>
              </a:lnSpc>
            </a:pPr>
            <a:r>
              <a:rPr lang="en-US" b="true" sz="1783" spc="-71">
                <a:solidFill>
                  <a:srgbClr val="2A4437"/>
                </a:solidFill>
                <a:latin typeface="Lato Bold"/>
                <a:ea typeface="Lato Bold"/>
                <a:cs typeface="Lato Bold"/>
                <a:sym typeface="Lato Bold"/>
              </a:rPr>
              <a:t>Clients erhalten aktuelle Items (JSON)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04703" y="923182"/>
            <a:ext cx="10612544" cy="976069"/>
          </a:xfrm>
          <a:prstGeom prst="rect">
            <a:avLst/>
          </a:prstGeom>
        </p:spPr>
        <p:txBody>
          <a:bodyPr anchor="t" rtlCol="false" tIns="0" lIns="0" bIns="0" rIns="0">
            <a:spAutoFit/>
          </a:bodyPr>
          <a:lstStyle/>
          <a:p>
            <a:pPr algn="l">
              <a:lnSpc>
                <a:spcPts val="7522"/>
              </a:lnSpc>
            </a:pPr>
            <a:r>
              <a:rPr lang="en-US" sz="6841" spc="-136" b="true">
                <a:solidFill>
                  <a:srgbClr val="2A4437"/>
                </a:solidFill>
                <a:latin typeface="Lato Bold"/>
                <a:ea typeface="Lato Bold"/>
                <a:cs typeface="Lato Bold"/>
                <a:sym typeface="Lato Bold"/>
              </a:rPr>
              <a:t>Bedeutung für AIHealthMap</a:t>
            </a:r>
          </a:p>
        </p:txBody>
      </p:sp>
      <p:sp>
        <p:nvSpPr>
          <p:cNvPr name="TextBox 4" id="4"/>
          <p:cNvSpPr txBox="true"/>
          <p:nvPr/>
        </p:nvSpPr>
        <p:spPr>
          <a:xfrm rot="0">
            <a:off x="849879" y="2413493"/>
            <a:ext cx="10765685" cy="1896966"/>
          </a:xfrm>
          <a:prstGeom prst="rect">
            <a:avLst/>
          </a:prstGeom>
        </p:spPr>
        <p:txBody>
          <a:bodyPr anchor="t" rtlCol="false" tIns="0" lIns="0" bIns="0" rIns="0">
            <a:spAutoFit/>
          </a:bodyPr>
          <a:lstStyle/>
          <a:p>
            <a:pPr algn="l">
              <a:lnSpc>
                <a:spcPts val="3769"/>
              </a:lnSpc>
            </a:pPr>
            <a:r>
              <a:rPr lang="en-US" sz="2899" spc="-58" b="true">
                <a:solidFill>
                  <a:srgbClr val="737373"/>
                </a:solidFill>
                <a:latin typeface="Lato Bold"/>
                <a:ea typeface="Lato Bold"/>
                <a:cs typeface="Lato Bold"/>
                <a:sym typeface="Lato Bold"/>
              </a:rPr>
              <a:t>Für unser Projekt kann die STAC API als standardisierte Schnittstelle zwischen dem Web-Portal, dem KI-Agenten und den verfügbaren Geodaten dienen.</a:t>
            </a:r>
          </a:p>
          <a:p>
            <a:pPr algn="l">
              <a:lnSpc>
                <a:spcPts val="3767"/>
              </a:lnSpc>
            </a:pPr>
          </a:p>
        </p:txBody>
      </p:sp>
      <p:sp>
        <p:nvSpPr>
          <p:cNvPr name="Freeform 5" id="5"/>
          <p:cNvSpPr/>
          <p:nvPr/>
        </p:nvSpPr>
        <p:spPr>
          <a:xfrm flipH="false" flipV="false" rot="0">
            <a:off x="276425" y="4985212"/>
            <a:ext cx="2774730" cy="2727035"/>
          </a:xfrm>
          <a:custGeom>
            <a:avLst/>
            <a:gdLst/>
            <a:ahLst/>
            <a:cxnLst/>
            <a:rect r="r" b="b" t="t" l="l"/>
            <a:pathLst>
              <a:path h="2727035" w="2774730">
                <a:moveTo>
                  <a:pt x="0" y="0"/>
                </a:moveTo>
                <a:lnTo>
                  <a:pt x="2774730" y="0"/>
                </a:lnTo>
                <a:lnTo>
                  <a:pt x="2774730" y="2727034"/>
                </a:lnTo>
                <a:lnTo>
                  <a:pt x="0" y="2727034"/>
                </a:lnTo>
                <a:lnTo>
                  <a:pt x="0" y="0"/>
                </a:lnTo>
                <a:close/>
              </a:path>
            </a:pathLst>
          </a:custGeom>
          <a:blipFill>
            <a:blip r:embed="rId3"/>
            <a:stretch>
              <a:fillRect l="0" t="0" r="0" b="0"/>
            </a:stretch>
          </a:blipFill>
        </p:spPr>
      </p:sp>
      <p:sp>
        <p:nvSpPr>
          <p:cNvPr name="TextBox 6" id="6"/>
          <p:cNvSpPr txBox="true"/>
          <p:nvPr/>
        </p:nvSpPr>
        <p:spPr>
          <a:xfrm rot="0">
            <a:off x="736229" y="5935661"/>
            <a:ext cx="1750574" cy="709558"/>
          </a:xfrm>
          <a:prstGeom prst="rect">
            <a:avLst/>
          </a:prstGeom>
        </p:spPr>
        <p:txBody>
          <a:bodyPr anchor="t" rtlCol="false" tIns="0" lIns="0" bIns="0" rIns="0">
            <a:spAutoFit/>
          </a:bodyPr>
          <a:lstStyle/>
          <a:p>
            <a:pPr algn="ctr">
              <a:lnSpc>
                <a:spcPts val="2853"/>
              </a:lnSpc>
            </a:pPr>
            <a:r>
              <a:rPr lang="en-US" b="true" sz="1902" spc="-38">
                <a:solidFill>
                  <a:srgbClr val="FFFFFF">
                    <a:alpha val="84706"/>
                  </a:srgbClr>
                </a:solidFill>
                <a:latin typeface="Lato Bold"/>
                <a:ea typeface="Lato Bold"/>
                <a:cs typeface="Lato Bold"/>
                <a:sym typeface="Lato Bold"/>
              </a:rPr>
              <a:t>stellt Anfrage im Web-Portal</a:t>
            </a:r>
          </a:p>
        </p:txBody>
      </p:sp>
      <p:sp>
        <p:nvSpPr>
          <p:cNvPr name="Freeform 7" id="7"/>
          <p:cNvSpPr/>
          <p:nvPr/>
        </p:nvSpPr>
        <p:spPr>
          <a:xfrm flipH="false" flipV="false" rot="0">
            <a:off x="2808367" y="6117624"/>
            <a:ext cx="936471" cy="462209"/>
          </a:xfrm>
          <a:custGeom>
            <a:avLst/>
            <a:gdLst/>
            <a:ahLst/>
            <a:cxnLst/>
            <a:rect r="r" b="b" t="t" l="l"/>
            <a:pathLst>
              <a:path h="462209" w="936471">
                <a:moveTo>
                  <a:pt x="0" y="0"/>
                </a:moveTo>
                <a:lnTo>
                  <a:pt x="936471" y="0"/>
                </a:lnTo>
                <a:lnTo>
                  <a:pt x="936471" y="462210"/>
                </a:lnTo>
                <a:lnTo>
                  <a:pt x="0" y="462210"/>
                </a:lnTo>
                <a:lnTo>
                  <a:pt x="0" y="0"/>
                </a:lnTo>
                <a:close/>
              </a:path>
            </a:pathLst>
          </a:custGeom>
          <a:blipFill>
            <a:blip r:embed="rId4"/>
            <a:stretch>
              <a:fillRect l="0" t="0" r="0" b="0"/>
            </a:stretch>
          </a:blipFill>
        </p:spPr>
      </p:sp>
      <p:sp>
        <p:nvSpPr>
          <p:cNvPr name="Freeform 8" id="8"/>
          <p:cNvSpPr/>
          <p:nvPr/>
        </p:nvSpPr>
        <p:spPr>
          <a:xfrm flipH="false" flipV="false" rot="0">
            <a:off x="3502049" y="4985212"/>
            <a:ext cx="3005957" cy="2727035"/>
          </a:xfrm>
          <a:custGeom>
            <a:avLst/>
            <a:gdLst/>
            <a:ahLst/>
            <a:cxnLst/>
            <a:rect r="r" b="b" t="t" l="l"/>
            <a:pathLst>
              <a:path h="2727035" w="3005957">
                <a:moveTo>
                  <a:pt x="0" y="0"/>
                </a:moveTo>
                <a:lnTo>
                  <a:pt x="3005958" y="0"/>
                </a:lnTo>
                <a:lnTo>
                  <a:pt x="3005958" y="2727034"/>
                </a:lnTo>
                <a:lnTo>
                  <a:pt x="0" y="2727034"/>
                </a:lnTo>
                <a:lnTo>
                  <a:pt x="0" y="0"/>
                </a:lnTo>
                <a:close/>
              </a:path>
            </a:pathLst>
          </a:custGeom>
          <a:blipFill>
            <a:blip r:embed="rId5"/>
            <a:stretch>
              <a:fillRect l="0" t="0" r="0" b="0"/>
            </a:stretch>
          </a:blipFill>
        </p:spPr>
      </p:sp>
      <p:sp>
        <p:nvSpPr>
          <p:cNvPr name="TextBox 9" id="9"/>
          <p:cNvSpPr txBox="true"/>
          <p:nvPr/>
        </p:nvSpPr>
        <p:spPr>
          <a:xfrm rot="0">
            <a:off x="4452286" y="5324850"/>
            <a:ext cx="1325150" cy="358225"/>
          </a:xfrm>
          <a:prstGeom prst="rect">
            <a:avLst/>
          </a:prstGeom>
        </p:spPr>
        <p:txBody>
          <a:bodyPr anchor="t" rtlCol="false" tIns="0" lIns="0" bIns="0" rIns="0">
            <a:spAutoFit/>
          </a:bodyPr>
          <a:lstStyle/>
          <a:p>
            <a:pPr algn="ctr">
              <a:lnSpc>
                <a:spcPts val="2958"/>
              </a:lnSpc>
            </a:pPr>
            <a:r>
              <a:rPr lang="en-US" b="true" sz="2276" spc="-45">
                <a:solidFill>
                  <a:srgbClr val="2A4437"/>
                </a:solidFill>
                <a:latin typeface="Lato Bold"/>
                <a:ea typeface="Lato Bold"/>
                <a:cs typeface="Lato Bold"/>
                <a:sym typeface="Lato Bold"/>
              </a:rPr>
              <a:t>KI-AGENT</a:t>
            </a:r>
          </a:p>
        </p:txBody>
      </p:sp>
      <p:sp>
        <p:nvSpPr>
          <p:cNvPr name="TextBox 10" id="10"/>
          <p:cNvSpPr txBox="true"/>
          <p:nvPr/>
        </p:nvSpPr>
        <p:spPr>
          <a:xfrm rot="0">
            <a:off x="4189564" y="5846829"/>
            <a:ext cx="1880078" cy="1434457"/>
          </a:xfrm>
          <a:prstGeom prst="rect">
            <a:avLst/>
          </a:prstGeom>
        </p:spPr>
        <p:txBody>
          <a:bodyPr anchor="t" rtlCol="false" tIns="0" lIns="0" bIns="0" rIns="0">
            <a:spAutoFit/>
          </a:bodyPr>
          <a:lstStyle/>
          <a:p>
            <a:pPr algn="ctr">
              <a:lnSpc>
                <a:spcPts val="2853"/>
              </a:lnSpc>
            </a:pPr>
            <a:r>
              <a:rPr lang="en-US" b="true" sz="1902" spc="-38">
                <a:solidFill>
                  <a:srgbClr val="2A4437">
                    <a:alpha val="84706"/>
                  </a:srgbClr>
                </a:solidFill>
                <a:latin typeface="Lato Bold"/>
                <a:ea typeface="Lato Bold"/>
                <a:cs typeface="Lato Bold"/>
                <a:sym typeface="Lato Bold"/>
              </a:rPr>
              <a:t>versteht natürliche Sprache und</a:t>
            </a:r>
          </a:p>
          <a:p>
            <a:pPr algn="ctr">
              <a:lnSpc>
                <a:spcPts val="2853"/>
              </a:lnSpc>
            </a:pPr>
            <a:r>
              <a:rPr lang="en-US" b="true" sz="1902" spc="-38">
                <a:solidFill>
                  <a:srgbClr val="2A4437">
                    <a:alpha val="84706"/>
                  </a:srgbClr>
                </a:solidFill>
                <a:latin typeface="Lato Bold"/>
                <a:ea typeface="Lato Bold"/>
                <a:cs typeface="Lato Bold"/>
                <a:sym typeface="Lato Bold"/>
              </a:rPr>
              <a:t>plant die Suche</a:t>
            </a:r>
          </a:p>
        </p:txBody>
      </p:sp>
      <p:sp>
        <p:nvSpPr>
          <p:cNvPr name="Freeform 11" id="11"/>
          <p:cNvSpPr/>
          <p:nvPr/>
        </p:nvSpPr>
        <p:spPr>
          <a:xfrm flipH="false" flipV="false" rot="0">
            <a:off x="6265218" y="6117624"/>
            <a:ext cx="1156137" cy="462209"/>
          </a:xfrm>
          <a:custGeom>
            <a:avLst/>
            <a:gdLst/>
            <a:ahLst/>
            <a:cxnLst/>
            <a:rect r="r" b="b" t="t" l="l"/>
            <a:pathLst>
              <a:path h="462209" w="1156137">
                <a:moveTo>
                  <a:pt x="0" y="0"/>
                </a:moveTo>
                <a:lnTo>
                  <a:pt x="1156137" y="0"/>
                </a:lnTo>
                <a:lnTo>
                  <a:pt x="1156137" y="462210"/>
                </a:lnTo>
                <a:lnTo>
                  <a:pt x="0" y="462210"/>
                </a:lnTo>
                <a:lnTo>
                  <a:pt x="0" y="0"/>
                </a:lnTo>
                <a:close/>
              </a:path>
            </a:pathLst>
          </a:custGeom>
          <a:blipFill>
            <a:blip r:embed="rId6"/>
            <a:stretch>
              <a:fillRect l="0" t="0" r="0" b="0"/>
            </a:stretch>
          </a:blipFill>
        </p:spPr>
      </p:sp>
      <p:sp>
        <p:nvSpPr>
          <p:cNvPr name="Freeform 12" id="12"/>
          <p:cNvSpPr/>
          <p:nvPr/>
        </p:nvSpPr>
        <p:spPr>
          <a:xfrm flipH="false" flipV="false" rot="0">
            <a:off x="7178566" y="4985212"/>
            <a:ext cx="3237185" cy="2727035"/>
          </a:xfrm>
          <a:custGeom>
            <a:avLst/>
            <a:gdLst/>
            <a:ahLst/>
            <a:cxnLst/>
            <a:rect r="r" b="b" t="t" l="l"/>
            <a:pathLst>
              <a:path h="2727035" w="3237185">
                <a:moveTo>
                  <a:pt x="0" y="0"/>
                </a:moveTo>
                <a:lnTo>
                  <a:pt x="3237185" y="0"/>
                </a:lnTo>
                <a:lnTo>
                  <a:pt x="3237185" y="2727034"/>
                </a:lnTo>
                <a:lnTo>
                  <a:pt x="0" y="2727034"/>
                </a:lnTo>
                <a:lnTo>
                  <a:pt x="0" y="0"/>
                </a:lnTo>
                <a:close/>
              </a:path>
            </a:pathLst>
          </a:custGeom>
          <a:blipFill>
            <a:blip r:embed="rId7"/>
            <a:stretch>
              <a:fillRect l="0" t="0" r="0" b="0"/>
            </a:stretch>
          </a:blipFill>
        </p:spPr>
      </p:sp>
      <p:sp>
        <p:nvSpPr>
          <p:cNvPr name="TextBox 13" id="13"/>
          <p:cNvSpPr txBox="true"/>
          <p:nvPr/>
        </p:nvSpPr>
        <p:spPr>
          <a:xfrm rot="0">
            <a:off x="8243193" y="5306156"/>
            <a:ext cx="1243994" cy="386088"/>
          </a:xfrm>
          <a:prstGeom prst="rect">
            <a:avLst/>
          </a:prstGeom>
        </p:spPr>
        <p:txBody>
          <a:bodyPr anchor="t" rtlCol="false" tIns="0" lIns="0" bIns="0" rIns="0">
            <a:spAutoFit/>
          </a:bodyPr>
          <a:lstStyle/>
          <a:p>
            <a:pPr algn="ctr">
              <a:lnSpc>
                <a:spcPts val="3012"/>
              </a:lnSpc>
            </a:pPr>
            <a:r>
              <a:rPr lang="en-US" b="true" sz="2317" spc="-46">
                <a:solidFill>
                  <a:srgbClr val="2A4437"/>
                </a:solidFill>
                <a:latin typeface="Lato Bold"/>
                <a:ea typeface="Lato Bold"/>
                <a:cs typeface="Lato Bold"/>
                <a:sym typeface="Lato Bold"/>
              </a:rPr>
              <a:t>STAC API</a:t>
            </a:r>
          </a:p>
        </p:txBody>
      </p:sp>
      <p:sp>
        <p:nvSpPr>
          <p:cNvPr name="TextBox 14" id="14"/>
          <p:cNvSpPr txBox="true"/>
          <p:nvPr/>
        </p:nvSpPr>
        <p:spPr>
          <a:xfrm rot="0">
            <a:off x="7795108" y="5835147"/>
            <a:ext cx="2151732" cy="1434457"/>
          </a:xfrm>
          <a:prstGeom prst="rect">
            <a:avLst/>
          </a:prstGeom>
        </p:spPr>
        <p:txBody>
          <a:bodyPr anchor="t" rtlCol="false" tIns="0" lIns="0" bIns="0" rIns="0">
            <a:spAutoFit/>
          </a:bodyPr>
          <a:lstStyle/>
          <a:p>
            <a:pPr algn="ctr">
              <a:lnSpc>
                <a:spcPts val="2853"/>
              </a:lnSpc>
            </a:pPr>
            <a:r>
              <a:rPr lang="en-US" b="true" sz="1902" spc="-38">
                <a:solidFill>
                  <a:srgbClr val="2A4437">
                    <a:alpha val="84706"/>
                  </a:srgbClr>
                </a:solidFill>
                <a:latin typeface="Lato Bold"/>
                <a:ea typeface="Lato Bold"/>
                <a:cs typeface="Lato Bold"/>
                <a:sym typeface="Lato Bold"/>
              </a:rPr>
              <a:t>standardisierte Schnittstelle für Collections und Items</a:t>
            </a:r>
          </a:p>
        </p:txBody>
      </p:sp>
      <p:sp>
        <p:nvSpPr>
          <p:cNvPr name="Freeform 15" id="15"/>
          <p:cNvSpPr/>
          <p:nvPr/>
        </p:nvSpPr>
        <p:spPr>
          <a:xfrm flipH="false" flipV="false" rot="0">
            <a:off x="10172962" y="6117624"/>
            <a:ext cx="1167699" cy="462209"/>
          </a:xfrm>
          <a:custGeom>
            <a:avLst/>
            <a:gdLst/>
            <a:ahLst/>
            <a:cxnLst/>
            <a:rect r="r" b="b" t="t" l="l"/>
            <a:pathLst>
              <a:path h="462209" w="1167699">
                <a:moveTo>
                  <a:pt x="0" y="0"/>
                </a:moveTo>
                <a:lnTo>
                  <a:pt x="1167699" y="0"/>
                </a:lnTo>
                <a:lnTo>
                  <a:pt x="1167699" y="462210"/>
                </a:lnTo>
                <a:lnTo>
                  <a:pt x="0" y="462210"/>
                </a:lnTo>
                <a:lnTo>
                  <a:pt x="0" y="0"/>
                </a:lnTo>
                <a:close/>
              </a:path>
            </a:pathLst>
          </a:custGeom>
          <a:blipFill>
            <a:blip r:embed="rId8"/>
            <a:stretch>
              <a:fillRect l="0" t="0" r="0" b="0"/>
            </a:stretch>
          </a:blipFill>
        </p:spPr>
      </p:sp>
      <p:sp>
        <p:nvSpPr>
          <p:cNvPr name="Freeform 16" id="16"/>
          <p:cNvSpPr/>
          <p:nvPr/>
        </p:nvSpPr>
        <p:spPr>
          <a:xfrm flipH="false" flipV="false" rot="0">
            <a:off x="11097872" y="4985212"/>
            <a:ext cx="3225624" cy="2727035"/>
          </a:xfrm>
          <a:custGeom>
            <a:avLst/>
            <a:gdLst/>
            <a:ahLst/>
            <a:cxnLst/>
            <a:rect r="r" b="b" t="t" l="l"/>
            <a:pathLst>
              <a:path h="2727035" w="3225624">
                <a:moveTo>
                  <a:pt x="0" y="0"/>
                </a:moveTo>
                <a:lnTo>
                  <a:pt x="3225624" y="0"/>
                </a:lnTo>
                <a:lnTo>
                  <a:pt x="3225624" y="2727034"/>
                </a:lnTo>
                <a:lnTo>
                  <a:pt x="0" y="2727034"/>
                </a:lnTo>
                <a:lnTo>
                  <a:pt x="0" y="0"/>
                </a:lnTo>
                <a:close/>
              </a:path>
            </a:pathLst>
          </a:custGeom>
          <a:blipFill>
            <a:blip r:embed="rId9"/>
            <a:stretch>
              <a:fillRect l="0" t="0" r="0" b="0"/>
            </a:stretch>
          </a:blipFill>
        </p:spPr>
      </p:sp>
      <p:sp>
        <p:nvSpPr>
          <p:cNvPr name="TextBox 17" id="17"/>
          <p:cNvSpPr txBox="true"/>
          <p:nvPr/>
        </p:nvSpPr>
        <p:spPr>
          <a:xfrm rot="0">
            <a:off x="11436449" y="5257495"/>
            <a:ext cx="2548470" cy="634802"/>
          </a:xfrm>
          <a:prstGeom prst="rect">
            <a:avLst/>
          </a:prstGeom>
        </p:spPr>
        <p:txBody>
          <a:bodyPr anchor="t" rtlCol="false" tIns="0" lIns="0" bIns="0" rIns="0">
            <a:spAutoFit/>
          </a:bodyPr>
          <a:lstStyle/>
          <a:p>
            <a:pPr algn="ctr">
              <a:lnSpc>
                <a:spcPts val="2641"/>
              </a:lnSpc>
            </a:pPr>
            <a:r>
              <a:rPr lang="en-US" b="true" sz="2032" spc="-40">
                <a:solidFill>
                  <a:srgbClr val="2A4437"/>
                </a:solidFill>
                <a:latin typeface="Lato Bold"/>
                <a:ea typeface="Lato Bold"/>
                <a:cs typeface="Lato Bold"/>
                <a:sym typeface="Lato Bold"/>
              </a:rPr>
              <a:t>PASSENDE COLLECTIONS/ITEMS</a:t>
            </a:r>
          </a:p>
        </p:txBody>
      </p:sp>
      <p:sp>
        <p:nvSpPr>
          <p:cNvPr name="TextBox 18" id="18"/>
          <p:cNvSpPr txBox="true"/>
          <p:nvPr/>
        </p:nvSpPr>
        <p:spPr>
          <a:xfrm rot="0">
            <a:off x="11799507" y="6006304"/>
            <a:ext cx="1839686" cy="709558"/>
          </a:xfrm>
          <a:prstGeom prst="rect">
            <a:avLst/>
          </a:prstGeom>
        </p:spPr>
        <p:txBody>
          <a:bodyPr anchor="t" rtlCol="false" tIns="0" lIns="0" bIns="0" rIns="0">
            <a:spAutoFit/>
          </a:bodyPr>
          <a:lstStyle/>
          <a:p>
            <a:pPr algn="ctr">
              <a:lnSpc>
                <a:spcPts val="2853"/>
              </a:lnSpc>
            </a:pPr>
            <a:r>
              <a:rPr lang="en-US" b="true" sz="1902" spc="-38">
                <a:solidFill>
                  <a:srgbClr val="2A4437">
                    <a:alpha val="84706"/>
                  </a:srgbClr>
                </a:solidFill>
                <a:latin typeface="Lato Bold"/>
                <a:ea typeface="Lato Bold"/>
                <a:cs typeface="Lato Bold"/>
                <a:sym typeface="Lato Bold"/>
              </a:rPr>
              <a:t>relevante Daten</a:t>
            </a:r>
          </a:p>
          <a:p>
            <a:pPr algn="ctr">
              <a:lnSpc>
                <a:spcPts val="2853"/>
              </a:lnSpc>
            </a:pPr>
            <a:r>
              <a:rPr lang="en-US" b="true" sz="1902" spc="-38">
                <a:solidFill>
                  <a:srgbClr val="2A4437">
                    <a:alpha val="84706"/>
                  </a:srgbClr>
                </a:solidFill>
                <a:latin typeface="Lato Bold"/>
                <a:ea typeface="Lato Bold"/>
                <a:cs typeface="Lato Bold"/>
                <a:sym typeface="Lato Bold"/>
              </a:rPr>
              <a:t>werden gefunden</a:t>
            </a:r>
          </a:p>
        </p:txBody>
      </p:sp>
      <p:sp>
        <p:nvSpPr>
          <p:cNvPr name="Freeform 19" id="19"/>
          <p:cNvSpPr/>
          <p:nvPr/>
        </p:nvSpPr>
        <p:spPr>
          <a:xfrm flipH="false" flipV="false" rot="0">
            <a:off x="14080707" y="6117624"/>
            <a:ext cx="936471" cy="462209"/>
          </a:xfrm>
          <a:custGeom>
            <a:avLst/>
            <a:gdLst/>
            <a:ahLst/>
            <a:cxnLst/>
            <a:rect r="r" b="b" t="t" l="l"/>
            <a:pathLst>
              <a:path h="462209" w="936471">
                <a:moveTo>
                  <a:pt x="0" y="0"/>
                </a:moveTo>
                <a:lnTo>
                  <a:pt x="936471" y="0"/>
                </a:lnTo>
                <a:lnTo>
                  <a:pt x="936471" y="462210"/>
                </a:lnTo>
                <a:lnTo>
                  <a:pt x="0" y="462210"/>
                </a:lnTo>
                <a:lnTo>
                  <a:pt x="0" y="0"/>
                </a:lnTo>
                <a:close/>
              </a:path>
            </a:pathLst>
          </a:custGeom>
          <a:blipFill>
            <a:blip r:embed="rId10"/>
            <a:stretch>
              <a:fillRect l="0" t="0" r="0" b="0"/>
            </a:stretch>
          </a:blipFill>
        </p:spPr>
      </p:sp>
      <p:sp>
        <p:nvSpPr>
          <p:cNvPr name="Freeform 20" id="20"/>
          <p:cNvSpPr/>
          <p:nvPr/>
        </p:nvSpPr>
        <p:spPr>
          <a:xfrm flipH="false" flipV="false" rot="0">
            <a:off x="14774390" y="4985212"/>
            <a:ext cx="3237185" cy="2727035"/>
          </a:xfrm>
          <a:custGeom>
            <a:avLst/>
            <a:gdLst/>
            <a:ahLst/>
            <a:cxnLst/>
            <a:rect r="r" b="b" t="t" l="l"/>
            <a:pathLst>
              <a:path h="2727035" w="3237185">
                <a:moveTo>
                  <a:pt x="0" y="0"/>
                </a:moveTo>
                <a:lnTo>
                  <a:pt x="3237185" y="0"/>
                </a:lnTo>
                <a:lnTo>
                  <a:pt x="3237185" y="2727034"/>
                </a:lnTo>
                <a:lnTo>
                  <a:pt x="0" y="2727034"/>
                </a:lnTo>
                <a:lnTo>
                  <a:pt x="0" y="0"/>
                </a:lnTo>
                <a:close/>
              </a:path>
            </a:pathLst>
          </a:custGeom>
          <a:blipFill>
            <a:blip r:embed="rId11"/>
            <a:stretch>
              <a:fillRect l="0" t="0" r="0" b="0"/>
            </a:stretch>
          </a:blipFill>
        </p:spPr>
      </p:sp>
      <p:sp>
        <p:nvSpPr>
          <p:cNvPr name="TextBox 21" id="21"/>
          <p:cNvSpPr txBox="true"/>
          <p:nvPr/>
        </p:nvSpPr>
        <p:spPr>
          <a:xfrm rot="0">
            <a:off x="15469674" y="5391021"/>
            <a:ext cx="1846616" cy="358225"/>
          </a:xfrm>
          <a:prstGeom prst="rect">
            <a:avLst/>
          </a:prstGeom>
        </p:spPr>
        <p:txBody>
          <a:bodyPr anchor="t" rtlCol="false" tIns="0" lIns="0" bIns="0" rIns="0">
            <a:spAutoFit/>
          </a:bodyPr>
          <a:lstStyle/>
          <a:p>
            <a:pPr algn="ctr">
              <a:lnSpc>
                <a:spcPts val="2958"/>
              </a:lnSpc>
            </a:pPr>
            <a:r>
              <a:rPr lang="en-US" b="true" sz="2276" spc="-45">
                <a:solidFill>
                  <a:srgbClr val="2A4437"/>
                </a:solidFill>
                <a:latin typeface="Lato Bold"/>
                <a:ea typeface="Lato Bold"/>
                <a:cs typeface="Lato Bold"/>
                <a:sym typeface="Lato Bold"/>
              </a:rPr>
              <a:t>WEB-PORTAL</a:t>
            </a:r>
          </a:p>
        </p:txBody>
      </p:sp>
      <p:sp>
        <p:nvSpPr>
          <p:cNvPr name="TextBox 22" id="22"/>
          <p:cNvSpPr txBox="true"/>
          <p:nvPr/>
        </p:nvSpPr>
        <p:spPr>
          <a:xfrm rot="0">
            <a:off x="15325550" y="5935661"/>
            <a:ext cx="2280798" cy="1072007"/>
          </a:xfrm>
          <a:prstGeom prst="rect">
            <a:avLst/>
          </a:prstGeom>
        </p:spPr>
        <p:txBody>
          <a:bodyPr anchor="t" rtlCol="false" tIns="0" lIns="0" bIns="0" rIns="0">
            <a:spAutoFit/>
          </a:bodyPr>
          <a:lstStyle/>
          <a:p>
            <a:pPr algn="ctr">
              <a:lnSpc>
                <a:spcPts val="2853"/>
              </a:lnSpc>
            </a:pPr>
            <a:r>
              <a:rPr lang="en-US" b="true" sz="1902" spc="-38">
                <a:solidFill>
                  <a:srgbClr val="2A4437">
                    <a:alpha val="84706"/>
                  </a:srgbClr>
                </a:solidFill>
                <a:latin typeface="Lato Bold"/>
                <a:ea typeface="Lato Bold"/>
                <a:cs typeface="Lato Bold"/>
                <a:sym typeface="Lato Bold"/>
              </a:rPr>
              <a:t>Daten und Metadaten werden dargestellt</a:t>
            </a:r>
          </a:p>
        </p:txBody>
      </p:sp>
      <p:sp>
        <p:nvSpPr>
          <p:cNvPr name="TextBox 23" id="23"/>
          <p:cNvSpPr txBox="true"/>
          <p:nvPr/>
        </p:nvSpPr>
        <p:spPr>
          <a:xfrm rot="0">
            <a:off x="1052496" y="5324850"/>
            <a:ext cx="1106470" cy="358225"/>
          </a:xfrm>
          <a:prstGeom prst="rect">
            <a:avLst/>
          </a:prstGeom>
        </p:spPr>
        <p:txBody>
          <a:bodyPr anchor="t" rtlCol="false" tIns="0" lIns="0" bIns="0" rIns="0">
            <a:spAutoFit/>
          </a:bodyPr>
          <a:lstStyle/>
          <a:p>
            <a:pPr algn="ctr">
              <a:lnSpc>
                <a:spcPts val="2958"/>
              </a:lnSpc>
            </a:pPr>
            <a:r>
              <a:rPr lang="en-US" b="true" sz="2276" spc="-45">
                <a:solidFill>
                  <a:srgbClr val="FFFFFF"/>
                </a:solidFill>
                <a:latin typeface="Lato Bold"/>
                <a:ea typeface="Lato Bold"/>
                <a:cs typeface="Lato Bold"/>
                <a:sym typeface="Lato Bold"/>
              </a:rPr>
              <a:t>NUTZER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04703" y="923182"/>
            <a:ext cx="10612544" cy="1922378"/>
          </a:xfrm>
          <a:prstGeom prst="rect">
            <a:avLst/>
          </a:prstGeom>
        </p:spPr>
        <p:txBody>
          <a:bodyPr anchor="t" rtlCol="false" tIns="0" lIns="0" bIns="0" rIns="0">
            <a:spAutoFit/>
          </a:bodyPr>
          <a:lstStyle/>
          <a:p>
            <a:pPr algn="l">
              <a:lnSpc>
                <a:spcPts val="7522"/>
              </a:lnSpc>
            </a:pPr>
            <a:r>
              <a:rPr lang="en-US" sz="6841" spc="-136" b="true">
                <a:solidFill>
                  <a:srgbClr val="2A4437"/>
                </a:solidFill>
                <a:latin typeface="Lato Bold"/>
                <a:ea typeface="Lato Bold"/>
                <a:cs typeface="Lato Bold"/>
                <a:sym typeface="Lato Bold"/>
              </a:rPr>
              <a:t>Quellen</a:t>
            </a:r>
          </a:p>
          <a:p>
            <a:pPr algn="l">
              <a:lnSpc>
                <a:spcPts val="7518"/>
              </a:lnSpc>
            </a:pPr>
          </a:p>
        </p:txBody>
      </p:sp>
      <p:sp>
        <p:nvSpPr>
          <p:cNvPr name="TextBox 4" id="4"/>
          <p:cNvSpPr txBox="true"/>
          <p:nvPr/>
        </p:nvSpPr>
        <p:spPr>
          <a:xfrm rot="0">
            <a:off x="849879" y="2413493"/>
            <a:ext cx="12070719" cy="4294175"/>
          </a:xfrm>
          <a:prstGeom prst="rect">
            <a:avLst/>
          </a:prstGeom>
        </p:spPr>
        <p:txBody>
          <a:bodyPr anchor="t" rtlCol="false" tIns="0" lIns="0" bIns="0" rIns="0">
            <a:spAutoFit/>
          </a:bodyPr>
          <a:lstStyle/>
          <a:p>
            <a:pPr algn="l" marL="518160" indent="-259080" lvl="1">
              <a:lnSpc>
                <a:spcPts val="3117"/>
              </a:lnSpc>
              <a:buFont typeface="Arial"/>
              <a:buChar char="•"/>
            </a:pPr>
            <a:r>
              <a:rPr lang="en-US" b="true" sz="2400" spc="-48">
                <a:solidFill>
                  <a:srgbClr val="737373"/>
                </a:solidFill>
                <a:latin typeface="Lato Bold"/>
                <a:ea typeface="Lato Bold"/>
                <a:cs typeface="Lato Bold"/>
                <a:sym typeface="Lato Bold"/>
              </a:rPr>
              <a:t>STAC API Sp</a:t>
            </a:r>
            <a:r>
              <a:rPr lang="en-US" b="true" sz="2400" spc="-48">
                <a:solidFill>
                  <a:srgbClr val="737373"/>
                </a:solidFill>
                <a:latin typeface="Lato Bold"/>
                <a:ea typeface="Lato Bold"/>
                <a:cs typeface="Lato Bold"/>
                <a:sym typeface="Lato Bold"/>
              </a:rPr>
              <a:t>ecification v1.0.0</a:t>
            </a:r>
          </a:p>
          <a:p>
            <a:pPr algn="l">
              <a:lnSpc>
                <a:spcPts val="3117"/>
              </a:lnSpc>
            </a:pPr>
            <a:r>
              <a:rPr lang="en-US" sz="2400" spc="-48" b="true">
                <a:solidFill>
                  <a:srgbClr val="737373"/>
                </a:solidFill>
                <a:latin typeface="Lato Bold"/>
                <a:ea typeface="Lato Bold"/>
                <a:cs typeface="Lato Bold"/>
                <a:sym typeface="Lato Bold"/>
              </a:rPr>
              <a:t>  github.com/radiantearth/stac-api-spec</a:t>
            </a:r>
          </a:p>
          <a:p>
            <a:pPr algn="l">
              <a:lnSpc>
                <a:spcPts val="3117"/>
              </a:lnSpc>
            </a:pPr>
          </a:p>
          <a:p>
            <a:pPr algn="l" marL="518160" indent="-259080" lvl="1">
              <a:lnSpc>
                <a:spcPts val="3117"/>
              </a:lnSpc>
              <a:buFont typeface="Arial"/>
              <a:buChar char="•"/>
            </a:pPr>
            <a:r>
              <a:rPr lang="en-US" b="true" sz="2400" spc="-48">
                <a:solidFill>
                  <a:srgbClr val="737373"/>
                </a:solidFill>
                <a:latin typeface="Lato Bold"/>
                <a:ea typeface="Lato Bold"/>
                <a:cs typeface="Lato Bold"/>
                <a:sym typeface="Lato Bold"/>
              </a:rPr>
              <a:t>STAC API Overview</a:t>
            </a:r>
          </a:p>
          <a:p>
            <a:pPr algn="l">
              <a:lnSpc>
                <a:spcPts val="3117"/>
              </a:lnSpc>
            </a:pPr>
            <a:r>
              <a:rPr lang="en-US" sz="2400" spc="-48" b="true">
                <a:solidFill>
                  <a:srgbClr val="737373"/>
                </a:solidFill>
                <a:latin typeface="Lato Bold"/>
                <a:ea typeface="Lato Bold"/>
                <a:cs typeface="Lato Bold"/>
                <a:sym typeface="Lato Bold"/>
              </a:rPr>
              <a:t>  github.com/radiantearth/stac-api-spec/blob/release/v1.0.0/overview.md</a:t>
            </a:r>
          </a:p>
          <a:p>
            <a:pPr algn="l">
              <a:lnSpc>
                <a:spcPts val="3117"/>
              </a:lnSpc>
            </a:pPr>
          </a:p>
          <a:p>
            <a:pPr algn="l" marL="518160" indent="-259080" lvl="1">
              <a:lnSpc>
                <a:spcPts val="3117"/>
              </a:lnSpc>
              <a:buFont typeface="Arial"/>
              <a:buChar char="•"/>
            </a:pPr>
            <a:r>
              <a:rPr lang="en-US" b="true" sz="2400" spc="-48">
                <a:solidFill>
                  <a:srgbClr val="737373"/>
                </a:solidFill>
                <a:latin typeface="Lato Bold"/>
                <a:ea typeface="Lato Bold"/>
                <a:cs typeface="Lato Bold"/>
                <a:sym typeface="Lato Bold"/>
              </a:rPr>
              <a:t>STAC Specification Overview</a:t>
            </a:r>
          </a:p>
          <a:p>
            <a:pPr algn="l">
              <a:lnSpc>
                <a:spcPts val="3117"/>
              </a:lnSpc>
            </a:pPr>
            <a:r>
              <a:rPr lang="en-US" sz="2400" spc="-48" b="true">
                <a:solidFill>
                  <a:srgbClr val="737373"/>
                </a:solidFill>
                <a:latin typeface="Lato Bold"/>
                <a:ea typeface="Lato Bold"/>
                <a:cs typeface="Lato Bold"/>
                <a:sym typeface="Lato Bold"/>
              </a:rPr>
              <a:t>  github.com/radiantearth/stac-api-spec/blob/release/v1.0.0/stac-spec/overview.md</a:t>
            </a:r>
          </a:p>
          <a:p>
            <a:pPr algn="l">
              <a:lnSpc>
                <a:spcPts val="3117"/>
              </a:lnSpc>
            </a:pPr>
          </a:p>
          <a:p>
            <a:pPr algn="l" marL="518160" indent="-259080" lvl="1">
              <a:lnSpc>
                <a:spcPts val="3117"/>
              </a:lnSpc>
              <a:buFont typeface="Arial"/>
              <a:buChar char="•"/>
            </a:pPr>
            <a:r>
              <a:rPr lang="en-US" b="true" sz="2400" spc="-48">
                <a:solidFill>
                  <a:srgbClr val="737373"/>
                </a:solidFill>
                <a:latin typeface="Lato Bold"/>
                <a:ea typeface="Lato Bold"/>
                <a:cs typeface="Lato Bold"/>
                <a:sym typeface="Lato Bold"/>
              </a:rPr>
              <a:t>stacspec.org</a:t>
            </a:r>
          </a:p>
          <a:p>
            <a:pPr algn="l">
              <a:lnSpc>
                <a:spcPts val="3117"/>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04703" y="923182"/>
            <a:ext cx="10612544" cy="976069"/>
          </a:xfrm>
          <a:prstGeom prst="rect">
            <a:avLst/>
          </a:prstGeom>
        </p:spPr>
        <p:txBody>
          <a:bodyPr anchor="t" rtlCol="false" tIns="0" lIns="0" bIns="0" rIns="0">
            <a:spAutoFit/>
          </a:bodyPr>
          <a:lstStyle/>
          <a:p>
            <a:pPr algn="l">
              <a:lnSpc>
                <a:spcPts val="7522"/>
              </a:lnSpc>
            </a:pPr>
            <a:r>
              <a:rPr lang="en-US" sz="6841" spc="-136" b="true">
                <a:solidFill>
                  <a:srgbClr val="2A4437"/>
                </a:solidFill>
                <a:latin typeface="Lato Bold"/>
                <a:ea typeface="Lato Bold"/>
                <a:cs typeface="Lato Bold"/>
                <a:sym typeface="Lato Bold"/>
              </a:rPr>
              <a:t>Fragen</a:t>
            </a:r>
          </a:p>
        </p:txBody>
      </p:sp>
      <p:sp>
        <p:nvSpPr>
          <p:cNvPr name="TextBox 4" id="4"/>
          <p:cNvSpPr txBox="true"/>
          <p:nvPr/>
        </p:nvSpPr>
        <p:spPr>
          <a:xfrm rot="0">
            <a:off x="849879" y="2413493"/>
            <a:ext cx="12070719" cy="6519882"/>
          </a:xfrm>
          <a:prstGeom prst="rect">
            <a:avLst/>
          </a:prstGeom>
        </p:spPr>
        <p:txBody>
          <a:bodyPr anchor="t" rtlCol="false" tIns="0" lIns="0" bIns="0" rIns="0">
            <a:spAutoFit/>
          </a:bodyPr>
          <a:lstStyle/>
          <a:p>
            <a:pPr algn="l" marL="626111" indent="-313055" lvl="1">
              <a:lnSpc>
                <a:spcPts val="3767"/>
              </a:lnSpc>
              <a:buFont typeface="Arial"/>
              <a:buChar char="•"/>
            </a:pPr>
            <a:r>
              <a:rPr lang="en-US" b="true" sz="2900" spc="-58">
                <a:solidFill>
                  <a:srgbClr val="737373"/>
                </a:solidFill>
                <a:latin typeface="Lato Bold"/>
                <a:ea typeface="Lato Bold"/>
                <a:cs typeface="Lato Bold"/>
                <a:sym typeface="Lato Bold"/>
              </a:rPr>
              <a:t>Warum gibt es bei /search sowohl GET als auch POST?</a:t>
            </a:r>
          </a:p>
          <a:p>
            <a:pPr algn="l">
              <a:lnSpc>
                <a:spcPts val="3687"/>
              </a:lnSpc>
            </a:pPr>
          </a:p>
          <a:p>
            <a:pPr algn="l">
              <a:lnSpc>
                <a:spcPts val="3117"/>
              </a:lnSpc>
            </a:pPr>
            <a:r>
              <a:rPr lang="en-US" sz="2400" spc="-48" b="true">
                <a:solidFill>
                  <a:srgbClr val="737373"/>
                </a:solidFill>
                <a:latin typeface="Lato Bold"/>
                <a:ea typeface="Lato Bold"/>
                <a:cs typeface="Lato Bold"/>
                <a:sym typeface="Lato Bold"/>
              </a:rPr>
              <a:t>Bei GET werden die Suchparameter in der URL übergeben. Bei POST können sie als JSON im Request Body stehen, was besonders bei komplexeren Suchanfragen übersichtlicher ist. POST bedeutet hier also nicht, dass neue Daten erstellt werden.</a:t>
            </a:r>
          </a:p>
          <a:p>
            <a:pPr algn="l">
              <a:lnSpc>
                <a:spcPts val="2727"/>
              </a:lnSpc>
            </a:pPr>
          </a:p>
          <a:p>
            <a:pPr algn="l" marL="626111" indent="-313055" lvl="1">
              <a:lnSpc>
                <a:spcPts val="3767"/>
              </a:lnSpc>
              <a:buFont typeface="Arial"/>
              <a:buChar char="•"/>
            </a:pPr>
            <a:r>
              <a:rPr lang="en-US" b="true" sz="2900" spc="-58">
                <a:solidFill>
                  <a:srgbClr val="737373"/>
                </a:solidFill>
                <a:latin typeface="Lato Bold"/>
                <a:ea typeface="Lato Bold"/>
                <a:cs typeface="Lato Bold"/>
                <a:sym typeface="Lato Bold"/>
              </a:rPr>
              <a:t> Was passiert, wenn eine Suche sehr viele Items findet?</a:t>
            </a:r>
          </a:p>
          <a:p>
            <a:pPr algn="l">
              <a:lnSpc>
                <a:spcPts val="2727"/>
              </a:lnSpc>
            </a:pPr>
          </a:p>
          <a:p>
            <a:pPr algn="l">
              <a:lnSpc>
                <a:spcPts val="3117"/>
              </a:lnSpc>
            </a:pPr>
            <a:r>
              <a:rPr lang="en-US" sz="2400" spc="-48" b="true">
                <a:solidFill>
                  <a:srgbClr val="737373"/>
                </a:solidFill>
                <a:latin typeface="Lato Bold"/>
                <a:ea typeface="Lato Bold"/>
                <a:cs typeface="Lato Bold"/>
                <a:sym typeface="Lato Bold"/>
              </a:rPr>
              <a:t>Dann wird normalerweise Pagination verwendet. Die API liefert die Ergebnisse in mehreren Seiten und gibt über Links an, wie der Client die nächsten Ergebnisse abrufen kann.</a:t>
            </a:r>
          </a:p>
          <a:p>
            <a:pPr algn="l">
              <a:lnSpc>
                <a:spcPts val="2727"/>
              </a:lnSpc>
            </a:pPr>
          </a:p>
          <a:p>
            <a:pPr algn="l" marL="626111" indent="-313055" lvl="1">
              <a:lnSpc>
                <a:spcPts val="3767"/>
              </a:lnSpc>
              <a:buFont typeface="Arial"/>
              <a:buChar char="•"/>
            </a:pPr>
            <a:r>
              <a:rPr lang="en-US" b="true" sz="2900" spc="-58">
                <a:solidFill>
                  <a:srgbClr val="737373"/>
                </a:solidFill>
                <a:latin typeface="Lato Bold"/>
                <a:ea typeface="Lato Bold"/>
                <a:cs typeface="Lato Bold"/>
                <a:sym typeface="Lato Bold"/>
              </a:rPr>
              <a:t>Kann ein statischer STAC Catalog trotzdem im Internet liegen?</a:t>
            </a:r>
          </a:p>
          <a:p>
            <a:pPr algn="l">
              <a:lnSpc>
                <a:spcPts val="3767"/>
              </a:lnSpc>
            </a:pPr>
          </a:p>
          <a:p>
            <a:pPr algn="l">
              <a:lnSpc>
                <a:spcPts val="3117"/>
              </a:lnSpc>
            </a:pPr>
            <a:r>
              <a:rPr lang="en-US" sz="2400" spc="-48" b="true">
                <a:solidFill>
                  <a:srgbClr val="737373"/>
                </a:solidFill>
                <a:latin typeface="Lato Bold"/>
                <a:ea typeface="Lato Bold"/>
                <a:cs typeface="Lato Bold"/>
                <a:sym typeface="Lato Bold"/>
              </a:rPr>
              <a:t>Ja. „Statisch“ bedeutet nicht „offline“. Ein statischer Catalog kann auf einem Webserver liegen. Der Unterschied ist, dass er hauptsächlich aus bereits vorhandenen, verlinkten JSON-Dateien besteht und keine dynamischen API-Requests verarbeitet.</a:t>
            </a:r>
          </a:p>
        </p:txBody>
      </p:sp>
      <p:grpSp>
        <p:nvGrpSpPr>
          <p:cNvPr name="Group 5" id="5"/>
          <p:cNvGrpSpPr/>
          <p:nvPr/>
        </p:nvGrpSpPr>
        <p:grpSpPr>
          <a:xfrm rot="0">
            <a:off x="13677010" y="364054"/>
            <a:ext cx="4067974" cy="3674188"/>
            <a:chOff x="0" y="0"/>
            <a:chExt cx="1071400" cy="967687"/>
          </a:xfrm>
        </p:grpSpPr>
        <p:sp>
          <p:nvSpPr>
            <p:cNvPr name="Freeform 6" id="6"/>
            <p:cNvSpPr/>
            <p:nvPr/>
          </p:nvSpPr>
          <p:spPr>
            <a:xfrm flipH="false" flipV="false" rot="0">
              <a:off x="0" y="0"/>
              <a:ext cx="1071400" cy="967687"/>
            </a:xfrm>
            <a:custGeom>
              <a:avLst/>
              <a:gdLst/>
              <a:ahLst/>
              <a:cxnLst/>
              <a:rect r="r" b="b" t="t" l="l"/>
              <a:pathLst>
                <a:path h="967687" w="1071400">
                  <a:moveTo>
                    <a:pt x="57094" y="0"/>
                  </a:moveTo>
                  <a:lnTo>
                    <a:pt x="1014306" y="0"/>
                  </a:lnTo>
                  <a:cubicBezTo>
                    <a:pt x="1029449" y="0"/>
                    <a:pt x="1043971" y="6015"/>
                    <a:pt x="1054678" y="16722"/>
                  </a:cubicBezTo>
                  <a:cubicBezTo>
                    <a:pt x="1065385" y="27430"/>
                    <a:pt x="1071400" y="41952"/>
                    <a:pt x="1071400" y="57094"/>
                  </a:cubicBezTo>
                  <a:lnTo>
                    <a:pt x="1071400" y="910593"/>
                  </a:lnTo>
                  <a:cubicBezTo>
                    <a:pt x="1071400" y="925736"/>
                    <a:pt x="1065385" y="940258"/>
                    <a:pt x="1054678" y="950965"/>
                  </a:cubicBezTo>
                  <a:cubicBezTo>
                    <a:pt x="1043971" y="961672"/>
                    <a:pt x="1029449" y="967687"/>
                    <a:pt x="1014306" y="967687"/>
                  </a:cubicBezTo>
                  <a:lnTo>
                    <a:pt x="57094" y="967687"/>
                  </a:lnTo>
                  <a:cubicBezTo>
                    <a:pt x="41952" y="967687"/>
                    <a:pt x="27430" y="961672"/>
                    <a:pt x="16722" y="950965"/>
                  </a:cubicBezTo>
                  <a:cubicBezTo>
                    <a:pt x="6015" y="940258"/>
                    <a:pt x="0" y="925736"/>
                    <a:pt x="0" y="910593"/>
                  </a:cubicBezTo>
                  <a:lnTo>
                    <a:pt x="0" y="57094"/>
                  </a:lnTo>
                  <a:cubicBezTo>
                    <a:pt x="0" y="41952"/>
                    <a:pt x="6015" y="27430"/>
                    <a:pt x="16722" y="16722"/>
                  </a:cubicBezTo>
                  <a:cubicBezTo>
                    <a:pt x="27430" y="6015"/>
                    <a:pt x="41952" y="0"/>
                    <a:pt x="57094" y="0"/>
                  </a:cubicBezTo>
                  <a:close/>
                </a:path>
              </a:pathLst>
            </a:custGeom>
            <a:solidFill>
              <a:srgbClr val="2A4437"/>
            </a:solidFill>
          </p:spPr>
        </p:sp>
        <p:sp>
          <p:nvSpPr>
            <p:cNvPr name="TextBox 7" id="7"/>
            <p:cNvSpPr txBox="true"/>
            <p:nvPr/>
          </p:nvSpPr>
          <p:spPr>
            <a:xfrm>
              <a:off x="0" y="-47625"/>
              <a:ext cx="1071400" cy="1015312"/>
            </a:xfrm>
            <a:prstGeom prst="rect">
              <a:avLst/>
            </a:prstGeom>
          </p:spPr>
          <p:txBody>
            <a:bodyPr anchor="ctr" rtlCol="false" tIns="50800" lIns="50800" bIns="50800" rIns="50800"/>
            <a:lstStyle/>
            <a:p>
              <a:pPr algn="ctr">
                <a:lnSpc>
                  <a:spcPts val="2399"/>
                </a:lnSpc>
              </a:pPr>
            </a:p>
          </p:txBody>
        </p:sp>
      </p:grpSp>
      <p:sp>
        <p:nvSpPr>
          <p:cNvPr name="TextBox 8" id="8"/>
          <p:cNvSpPr txBox="true"/>
          <p:nvPr/>
        </p:nvSpPr>
        <p:spPr>
          <a:xfrm rot="0">
            <a:off x="13938860" y="461853"/>
            <a:ext cx="3544273" cy="3408308"/>
          </a:xfrm>
          <a:prstGeom prst="rect">
            <a:avLst/>
          </a:prstGeom>
        </p:spPr>
        <p:txBody>
          <a:bodyPr anchor="t" rtlCol="false" tIns="0" lIns="0" bIns="0" rIns="0">
            <a:spAutoFit/>
          </a:bodyPr>
          <a:lstStyle/>
          <a:p>
            <a:pPr algn="l">
              <a:lnSpc>
                <a:spcPts val="3064"/>
              </a:lnSpc>
            </a:pPr>
            <a:r>
              <a:rPr lang="en-US" sz="2043" spc="-81">
                <a:solidFill>
                  <a:srgbClr val="F4F4F4"/>
                </a:solidFill>
                <a:latin typeface="Lato"/>
                <a:ea typeface="Lato"/>
                <a:cs typeface="Lato"/>
                <a:sym typeface="Lato"/>
              </a:rPr>
              <a:t>GET:</a:t>
            </a:r>
          </a:p>
          <a:p>
            <a:pPr algn="l">
              <a:lnSpc>
                <a:spcPts val="3064"/>
              </a:lnSpc>
            </a:pPr>
            <a:r>
              <a:rPr lang="en-US" sz="2043" spc="-81">
                <a:solidFill>
                  <a:srgbClr val="F4F4F4"/>
                </a:solidFill>
                <a:latin typeface="Lato"/>
                <a:ea typeface="Lato"/>
                <a:cs typeface="Lato"/>
                <a:sym typeface="Lato"/>
              </a:rPr>
              <a:t>/search?collections=air-quality&amp;datetime=2026-10-14</a:t>
            </a:r>
          </a:p>
          <a:p>
            <a:pPr algn="l">
              <a:lnSpc>
                <a:spcPts val="3064"/>
              </a:lnSpc>
            </a:pPr>
          </a:p>
          <a:p>
            <a:pPr algn="l">
              <a:lnSpc>
                <a:spcPts val="3064"/>
              </a:lnSpc>
            </a:pPr>
            <a:r>
              <a:rPr lang="en-US" sz="2043" spc="-81">
                <a:solidFill>
                  <a:srgbClr val="F4F4F4"/>
                </a:solidFill>
                <a:latin typeface="Lato"/>
                <a:ea typeface="Lato"/>
                <a:cs typeface="Lato"/>
                <a:sym typeface="Lato"/>
              </a:rPr>
              <a:t>POST:</a:t>
            </a:r>
          </a:p>
          <a:p>
            <a:pPr algn="l">
              <a:lnSpc>
                <a:spcPts val="3064"/>
              </a:lnSpc>
            </a:pPr>
            <a:r>
              <a:rPr lang="en-US" sz="2043" spc="-81">
                <a:solidFill>
                  <a:srgbClr val="F4F4F4"/>
                </a:solidFill>
                <a:latin typeface="Lato"/>
                <a:ea typeface="Lato"/>
                <a:cs typeface="Lato"/>
                <a:sym typeface="Lato"/>
              </a:rPr>
              <a:t>{</a:t>
            </a:r>
          </a:p>
          <a:p>
            <a:pPr algn="l">
              <a:lnSpc>
                <a:spcPts val="3064"/>
              </a:lnSpc>
            </a:pPr>
            <a:r>
              <a:rPr lang="en-US" sz="2043" spc="-81">
                <a:solidFill>
                  <a:srgbClr val="F4F4F4"/>
                </a:solidFill>
                <a:latin typeface="Lato"/>
                <a:ea typeface="Lato"/>
                <a:cs typeface="Lato"/>
                <a:sym typeface="Lato"/>
              </a:rPr>
              <a:t>  "collections": ["air-quality"],</a:t>
            </a:r>
          </a:p>
          <a:p>
            <a:pPr algn="l">
              <a:lnSpc>
                <a:spcPts val="3064"/>
              </a:lnSpc>
            </a:pPr>
            <a:r>
              <a:rPr lang="en-US" sz="2043" spc="-81">
                <a:solidFill>
                  <a:srgbClr val="F4F4F4"/>
                </a:solidFill>
                <a:latin typeface="Lato"/>
                <a:ea typeface="Lato"/>
                <a:cs typeface="Lato"/>
                <a:sym typeface="Lato"/>
              </a:rPr>
              <a:t>  "datetime": "2026-10-14"</a:t>
            </a:r>
          </a:p>
          <a:p>
            <a:pPr algn="l">
              <a:lnSpc>
                <a:spcPts val="3064"/>
              </a:lnSpc>
              <a:spcBef>
                <a:spcPct val="0"/>
              </a:spcBef>
            </a:pPr>
            <a:r>
              <a:rPr lang="en-US" sz="2043" spc="-81">
                <a:solidFill>
                  <a:srgbClr val="F4F4F4"/>
                </a:solidFill>
                <a:latin typeface="Lato"/>
                <a:ea typeface="Lato"/>
                <a:cs typeface="Lato"/>
                <a:sym typeface="Lato"/>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DAHX-eAb0Nw</dc:identifier>
  <dcterms:modified xsi:type="dcterms:W3CDTF">2011-08-01T06:04:30Z</dcterms:modified>
  <cp:revision>1</cp:revision>
  <dc:title>STAC API Spezifikation</dc:title>
</cp:coreProperties>
</file>