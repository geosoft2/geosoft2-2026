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8288000" cy="10287000"/>
  <p:notesSz cx="6858000" cy="9144000"/>
  <p:embeddedFontLst>
    <p:embeddedFont>
      <p:font typeface="Lato" panose="020F0502020204030203" pitchFamily="34" charset="0"/>
      <p:regular r:id="rId13"/>
    </p:embeddedFont>
    <p:embeddedFont>
      <p:font typeface="Lato Bold" panose="020B0604020202020204" charset="0"/>
      <p:regular r:id="rId1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0" d="100"/>
          <a:sy n="70" d="100"/>
        </p:scale>
        <p:origin x="774" y="8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‹Nr.›</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‹Nr.›</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‹Nr.›</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‹Nr.›</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‹Nr.›</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‹Nr.›</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‹Nr.›</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‹Nr.›</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‹Nr.›</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‹Nr.›</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4.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12" Type="http://schemas.openxmlformats.org/officeDocument/2006/relationships/image" Target="../media/image30.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24.png"/><Relationship Id="rId11" Type="http://schemas.openxmlformats.org/officeDocument/2006/relationships/image" Target="../media/image29.png"/><Relationship Id="rId5" Type="http://schemas.openxmlformats.org/officeDocument/2006/relationships/image" Target="../media/image23.png"/><Relationship Id="rId10"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7.png"/></Relationships>
</file>

<file path=ppt/slides/_rels/slide5.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2.png"/><Relationship Id="rId3" Type="http://schemas.openxmlformats.org/officeDocument/2006/relationships/image" Target="../media/image32.png"/><Relationship Id="rId7" Type="http://schemas.openxmlformats.org/officeDocument/2006/relationships/image" Target="../media/image36.png"/><Relationship Id="rId12" Type="http://schemas.openxmlformats.org/officeDocument/2006/relationships/image" Target="../media/image41.png"/><Relationship Id="rId17" Type="http://schemas.openxmlformats.org/officeDocument/2006/relationships/image" Target="../media/image46.png"/><Relationship Id="rId2" Type="http://schemas.openxmlformats.org/officeDocument/2006/relationships/image" Target="../media/image31.png"/><Relationship Id="rId16"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35.png"/><Relationship Id="rId11" Type="http://schemas.openxmlformats.org/officeDocument/2006/relationships/image" Target="../media/image40.png"/><Relationship Id="rId5" Type="http://schemas.openxmlformats.org/officeDocument/2006/relationships/image" Target="../media/image34.png"/><Relationship Id="rId15" Type="http://schemas.openxmlformats.org/officeDocument/2006/relationships/image" Target="../media/image44.png"/><Relationship Id="rId10" Type="http://schemas.openxmlformats.org/officeDocument/2006/relationships/image" Target="../media/image39.png"/><Relationship Id="rId4" Type="http://schemas.openxmlformats.org/officeDocument/2006/relationships/image" Target="../media/image33.png"/><Relationship Id="rId9" Type="http://schemas.openxmlformats.org/officeDocument/2006/relationships/image" Target="../media/image38.png"/><Relationship Id="rId14" Type="http://schemas.openxmlformats.org/officeDocument/2006/relationships/image" Target="../media/image43.png"/></Relationships>
</file>

<file path=ppt/slides/_rels/slide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7.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7.xml.rels><?xml version="1.0" encoding="UTF-8" standalone="yes"?>
<Relationships xmlns="http://schemas.openxmlformats.org/package/2006/relationships"><Relationship Id="rId8" Type="http://schemas.openxmlformats.org/officeDocument/2006/relationships/image" Target="../media/image58.png"/><Relationship Id="rId13" Type="http://schemas.openxmlformats.org/officeDocument/2006/relationships/image" Target="../media/image63.png"/><Relationship Id="rId18" Type="http://schemas.openxmlformats.org/officeDocument/2006/relationships/image" Target="../media/image68.png"/><Relationship Id="rId3" Type="http://schemas.openxmlformats.org/officeDocument/2006/relationships/image" Target="../media/image53.png"/><Relationship Id="rId7" Type="http://schemas.openxmlformats.org/officeDocument/2006/relationships/image" Target="../media/image57.png"/><Relationship Id="rId12" Type="http://schemas.openxmlformats.org/officeDocument/2006/relationships/image" Target="../media/image62.png"/><Relationship Id="rId17" Type="http://schemas.openxmlformats.org/officeDocument/2006/relationships/image" Target="../media/image67.png"/><Relationship Id="rId2" Type="http://schemas.openxmlformats.org/officeDocument/2006/relationships/image" Target="../media/image52.png"/><Relationship Id="rId16"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56.png"/><Relationship Id="rId11" Type="http://schemas.openxmlformats.org/officeDocument/2006/relationships/image" Target="../media/image61.png"/><Relationship Id="rId5" Type="http://schemas.openxmlformats.org/officeDocument/2006/relationships/image" Target="../media/image55.png"/><Relationship Id="rId15" Type="http://schemas.openxmlformats.org/officeDocument/2006/relationships/image" Target="../media/image65.png"/><Relationship Id="rId10" Type="http://schemas.openxmlformats.org/officeDocument/2006/relationships/image" Target="../media/image60.png"/><Relationship Id="rId19" Type="http://schemas.openxmlformats.org/officeDocument/2006/relationships/image" Target="../media/image69.png"/><Relationship Id="rId4" Type="http://schemas.openxmlformats.org/officeDocument/2006/relationships/image" Target="../media/image54.png"/><Relationship Id="rId9" Type="http://schemas.openxmlformats.org/officeDocument/2006/relationships/image" Target="../media/image59.png"/><Relationship Id="rId14" Type="http://schemas.openxmlformats.org/officeDocument/2006/relationships/image" Target="../media/image64.png"/></Relationships>
</file>

<file path=ppt/slides/_rels/slide8.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70.png"/><Relationship Id="rId7" Type="http://schemas.openxmlformats.org/officeDocument/2006/relationships/image" Target="../media/image74.png"/><Relationship Id="rId2" Type="http://schemas.openxmlformats.org/officeDocument/2006/relationships/image" Target="../media/image47.png"/><Relationship Id="rId1" Type="http://schemas.openxmlformats.org/officeDocument/2006/relationships/slideLayout" Target="../slideLayouts/slideLayout7.xml"/><Relationship Id="rId6" Type="http://schemas.openxmlformats.org/officeDocument/2006/relationships/image" Target="../media/image73.png"/><Relationship Id="rId11" Type="http://schemas.openxmlformats.org/officeDocument/2006/relationships/image" Target="../media/image78.png"/><Relationship Id="rId5" Type="http://schemas.openxmlformats.org/officeDocument/2006/relationships/image" Target="../media/image72.png"/><Relationship Id="rId10" Type="http://schemas.openxmlformats.org/officeDocument/2006/relationships/image" Target="../media/image77.png"/><Relationship Id="rId4" Type="http://schemas.openxmlformats.org/officeDocument/2006/relationships/image" Target="../media/image71.png"/><Relationship Id="rId9" Type="http://schemas.openxmlformats.org/officeDocument/2006/relationships/image" Target="../media/image76.png"/></Relationships>
</file>

<file path=ppt/slides/_rels/slide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9.jpeg"/><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de-DE"/>
          </a:p>
        </p:txBody>
      </p:sp>
      <p:sp>
        <p:nvSpPr>
          <p:cNvPr id="3" name="Freeform 3"/>
          <p:cNvSpPr/>
          <p:nvPr/>
        </p:nvSpPr>
        <p:spPr>
          <a:xfrm>
            <a:off x="543552" y="6199883"/>
            <a:ext cx="2187560" cy="218640"/>
          </a:xfrm>
          <a:custGeom>
            <a:avLst/>
            <a:gdLst/>
            <a:ahLst/>
            <a:cxnLst/>
            <a:rect l="l" t="t" r="r" b="b"/>
            <a:pathLst>
              <a:path w="2187560" h="218640">
                <a:moveTo>
                  <a:pt x="0" y="0"/>
                </a:moveTo>
                <a:lnTo>
                  <a:pt x="2187559" y="0"/>
                </a:lnTo>
                <a:lnTo>
                  <a:pt x="2187559" y="218639"/>
                </a:lnTo>
                <a:lnTo>
                  <a:pt x="0" y="218639"/>
                </a:lnTo>
                <a:lnTo>
                  <a:pt x="0" y="0"/>
                </a:lnTo>
                <a:close/>
              </a:path>
            </a:pathLst>
          </a:custGeom>
          <a:blipFill>
            <a:blip r:embed="rId3"/>
            <a:stretch>
              <a:fillRect/>
            </a:stretch>
          </a:blipFill>
        </p:spPr>
        <p:txBody>
          <a:bodyPr/>
          <a:lstStyle/>
          <a:p>
            <a:endParaRPr lang="de-DE"/>
          </a:p>
        </p:txBody>
      </p:sp>
      <p:sp>
        <p:nvSpPr>
          <p:cNvPr id="4" name="Freeform 4"/>
          <p:cNvSpPr/>
          <p:nvPr/>
        </p:nvSpPr>
        <p:spPr>
          <a:xfrm>
            <a:off x="731445" y="428002"/>
            <a:ext cx="4470310" cy="1201396"/>
          </a:xfrm>
          <a:custGeom>
            <a:avLst/>
            <a:gdLst/>
            <a:ahLst/>
            <a:cxnLst/>
            <a:rect l="l" t="t" r="r" b="b"/>
            <a:pathLst>
              <a:path w="4470310" h="1201396">
                <a:moveTo>
                  <a:pt x="0" y="0"/>
                </a:moveTo>
                <a:lnTo>
                  <a:pt x="4470310" y="0"/>
                </a:lnTo>
                <a:lnTo>
                  <a:pt x="4470310" y="1201396"/>
                </a:lnTo>
                <a:lnTo>
                  <a:pt x="0" y="1201396"/>
                </a:lnTo>
                <a:lnTo>
                  <a:pt x="0" y="0"/>
                </a:lnTo>
                <a:close/>
              </a:path>
            </a:pathLst>
          </a:custGeom>
          <a:blipFill>
            <a:blip r:embed="rId4"/>
            <a:stretch>
              <a:fillRect/>
            </a:stretch>
          </a:blipFill>
        </p:spPr>
        <p:txBody>
          <a:bodyPr/>
          <a:lstStyle/>
          <a:p>
            <a:endParaRPr lang="de-DE"/>
          </a:p>
        </p:txBody>
      </p:sp>
      <p:sp>
        <p:nvSpPr>
          <p:cNvPr id="5" name="TextBox 5"/>
          <p:cNvSpPr txBox="1"/>
          <p:nvPr/>
        </p:nvSpPr>
        <p:spPr>
          <a:xfrm>
            <a:off x="693849" y="3061727"/>
            <a:ext cx="5717940" cy="1438191"/>
          </a:xfrm>
          <a:prstGeom prst="rect">
            <a:avLst/>
          </a:prstGeom>
        </p:spPr>
        <p:txBody>
          <a:bodyPr lIns="0" tIns="0" rIns="0" bIns="0" rtlCol="0" anchor="t">
            <a:spAutoFit/>
          </a:bodyPr>
          <a:lstStyle/>
          <a:p>
            <a:pPr algn="l">
              <a:lnSpc>
                <a:spcPts val="10718"/>
              </a:lnSpc>
            </a:pPr>
            <a:r>
              <a:rPr lang="en-US" sz="10718" b="1" spc="-214">
                <a:solidFill>
                  <a:srgbClr val="2B4235"/>
                </a:solidFill>
                <a:latin typeface="Lato Bold"/>
                <a:ea typeface="Lato Bold"/>
                <a:cs typeface="Lato Bold"/>
                <a:sym typeface="Lato Bold"/>
              </a:rPr>
              <a:t>STAC API</a:t>
            </a:r>
          </a:p>
        </p:txBody>
      </p:sp>
      <p:sp>
        <p:nvSpPr>
          <p:cNvPr id="6" name="TextBox 6"/>
          <p:cNvSpPr txBox="1"/>
          <p:nvPr/>
        </p:nvSpPr>
        <p:spPr>
          <a:xfrm>
            <a:off x="676938" y="4477670"/>
            <a:ext cx="7408975" cy="1366275"/>
          </a:xfrm>
          <a:prstGeom prst="rect">
            <a:avLst/>
          </a:prstGeom>
        </p:spPr>
        <p:txBody>
          <a:bodyPr lIns="0" tIns="0" rIns="0" bIns="0" rtlCol="0" anchor="t">
            <a:spAutoFit/>
          </a:bodyPr>
          <a:lstStyle/>
          <a:p>
            <a:pPr algn="l">
              <a:lnSpc>
                <a:spcPts val="10369"/>
              </a:lnSpc>
            </a:pPr>
            <a:r>
              <a:rPr lang="en-US" sz="10369" b="1" spc="-207">
                <a:solidFill>
                  <a:srgbClr val="2B4235"/>
                </a:solidFill>
                <a:latin typeface="Lato Bold"/>
                <a:ea typeface="Lato Bold"/>
                <a:cs typeface="Lato Bold"/>
                <a:sym typeface="Lato Bold"/>
              </a:rPr>
              <a:t>Spezifikation</a:t>
            </a:r>
          </a:p>
        </p:txBody>
      </p:sp>
      <p:sp>
        <p:nvSpPr>
          <p:cNvPr id="7" name="TextBox 7"/>
          <p:cNvSpPr txBox="1"/>
          <p:nvPr/>
        </p:nvSpPr>
        <p:spPr>
          <a:xfrm>
            <a:off x="725329" y="6828002"/>
            <a:ext cx="5248818" cy="420002"/>
          </a:xfrm>
          <a:prstGeom prst="rect">
            <a:avLst/>
          </a:prstGeom>
        </p:spPr>
        <p:txBody>
          <a:bodyPr lIns="0" tIns="0" rIns="0" bIns="0" rtlCol="0" anchor="t">
            <a:spAutoFit/>
          </a:bodyPr>
          <a:lstStyle/>
          <a:p>
            <a:pPr algn="l">
              <a:lnSpc>
                <a:spcPts val="3312"/>
              </a:lnSpc>
            </a:pPr>
            <a:r>
              <a:rPr lang="en-US" sz="2759" spc="-55">
                <a:solidFill>
                  <a:srgbClr val="899482"/>
                </a:solidFill>
                <a:latin typeface="Lato"/>
                <a:ea typeface="Lato"/>
                <a:cs typeface="Lato"/>
                <a:sym typeface="Lato"/>
              </a:rPr>
              <a:t>Geosoftware II – AIHealthMap</a:t>
            </a:r>
          </a:p>
        </p:txBody>
      </p:sp>
      <p:sp>
        <p:nvSpPr>
          <p:cNvPr id="8" name="TextBox 8"/>
          <p:cNvSpPr txBox="1"/>
          <p:nvPr/>
        </p:nvSpPr>
        <p:spPr>
          <a:xfrm>
            <a:off x="731445" y="7550922"/>
            <a:ext cx="4637206" cy="420002"/>
          </a:xfrm>
          <a:prstGeom prst="rect">
            <a:avLst/>
          </a:prstGeom>
        </p:spPr>
        <p:txBody>
          <a:bodyPr lIns="0" tIns="0" rIns="0" bIns="0" rtlCol="0" anchor="t">
            <a:spAutoFit/>
          </a:bodyPr>
          <a:lstStyle/>
          <a:p>
            <a:pPr algn="l">
              <a:lnSpc>
                <a:spcPts val="3312"/>
              </a:lnSpc>
            </a:pPr>
            <a:r>
              <a:rPr lang="en-US" sz="2759" spc="-55">
                <a:solidFill>
                  <a:srgbClr val="666666"/>
                </a:solidFill>
                <a:latin typeface="Lato"/>
                <a:ea typeface="Lato"/>
                <a:cs typeface="Lato"/>
                <a:sym typeface="Lato"/>
              </a:rPr>
              <a:t>Ekaterina Petrianina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de-DE"/>
          </a:p>
        </p:txBody>
      </p:sp>
      <p:sp>
        <p:nvSpPr>
          <p:cNvPr id="3" name="TextBox 3"/>
          <p:cNvSpPr txBox="1"/>
          <p:nvPr/>
        </p:nvSpPr>
        <p:spPr>
          <a:xfrm>
            <a:off x="874955" y="911919"/>
            <a:ext cx="11624075" cy="901868"/>
          </a:xfrm>
          <a:prstGeom prst="rect">
            <a:avLst/>
          </a:prstGeom>
        </p:spPr>
        <p:txBody>
          <a:bodyPr lIns="0" tIns="0" rIns="0" bIns="0" rtlCol="0" anchor="t">
            <a:spAutoFit/>
          </a:bodyPr>
          <a:lstStyle/>
          <a:p>
            <a:pPr algn="l">
              <a:lnSpc>
                <a:spcPts val="7165"/>
              </a:lnSpc>
            </a:pPr>
            <a:r>
              <a:rPr lang="en-US" sz="5969" b="1" spc="58">
                <a:solidFill>
                  <a:srgbClr val="243B32"/>
                </a:solidFill>
                <a:latin typeface="Lato Bold"/>
                <a:ea typeface="Lato Bold"/>
                <a:cs typeface="Lato Bold"/>
                <a:sym typeface="Lato Bold"/>
              </a:rPr>
              <a:t>STAC-Spezifikation vs. STAC API</a:t>
            </a:r>
          </a:p>
        </p:txBody>
      </p:sp>
      <p:sp>
        <p:nvSpPr>
          <p:cNvPr id="4" name="Freeform 4"/>
          <p:cNvSpPr/>
          <p:nvPr/>
        </p:nvSpPr>
        <p:spPr>
          <a:xfrm>
            <a:off x="645330" y="2995365"/>
            <a:ext cx="6978316" cy="5586245"/>
          </a:xfrm>
          <a:custGeom>
            <a:avLst/>
            <a:gdLst/>
            <a:ahLst/>
            <a:cxnLst/>
            <a:rect l="l" t="t" r="r" b="b"/>
            <a:pathLst>
              <a:path w="6978316" h="5586245">
                <a:moveTo>
                  <a:pt x="0" y="0"/>
                </a:moveTo>
                <a:lnTo>
                  <a:pt x="6978316" y="0"/>
                </a:lnTo>
                <a:lnTo>
                  <a:pt x="6978316" y="5586245"/>
                </a:lnTo>
                <a:lnTo>
                  <a:pt x="0" y="5586245"/>
                </a:lnTo>
                <a:lnTo>
                  <a:pt x="0" y="0"/>
                </a:lnTo>
                <a:close/>
              </a:path>
            </a:pathLst>
          </a:custGeom>
          <a:blipFill>
            <a:blip r:embed="rId3"/>
            <a:stretch>
              <a:fillRect/>
            </a:stretch>
          </a:blipFill>
        </p:spPr>
        <p:txBody>
          <a:bodyPr/>
          <a:lstStyle/>
          <a:p>
            <a:endParaRPr lang="de-DE"/>
          </a:p>
        </p:txBody>
      </p:sp>
      <p:sp>
        <p:nvSpPr>
          <p:cNvPr id="5" name="Freeform 5"/>
          <p:cNvSpPr/>
          <p:nvPr/>
        </p:nvSpPr>
        <p:spPr>
          <a:xfrm>
            <a:off x="645330" y="2995365"/>
            <a:ext cx="6978316" cy="1082267"/>
          </a:xfrm>
          <a:custGeom>
            <a:avLst/>
            <a:gdLst/>
            <a:ahLst/>
            <a:cxnLst/>
            <a:rect l="l" t="t" r="r" b="b"/>
            <a:pathLst>
              <a:path w="6978316" h="1082267">
                <a:moveTo>
                  <a:pt x="0" y="0"/>
                </a:moveTo>
                <a:lnTo>
                  <a:pt x="6978316" y="0"/>
                </a:lnTo>
                <a:lnTo>
                  <a:pt x="6978316" y="1082266"/>
                </a:lnTo>
                <a:lnTo>
                  <a:pt x="0" y="1082266"/>
                </a:lnTo>
                <a:lnTo>
                  <a:pt x="0" y="0"/>
                </a:lnTo>
                <a:close/>
              </a:path>
            </a:pathLst>
          </a:custGeom>
          <a:blipFill>
            <a:blip r:embed="rId4"/>
            <a:stretch>
              <a:fillRect/>
            </a:stretch>
          </a:blipFill>
        </p:spPr>
        <p:txBody>
          <a:bodyPr/>
          <a:lstStyle/>
          <a:p>
            <a:endParaRPr lang="de-DE"/>
          </a:p>
        </p:txBody>
      </p:sp>
      <p:sp>
        <p:nvSpPr>
          <p:cNvPr id="6" name="TextBox 6"/>
          <p:cNvSpPr txBox="1"/>
          <p:nvPr/>
        </p:nvSpPr>
        <p:spPr>
          <a:xfrm>
            <a:off x="2583122" y="3336714"/>
            <a:ext cx="3154974" cy="420002"/>
          </a:xfrm>
          <a:prstGeom prst="rect">
            <a:avLst/>
          </a:prstGeom>
        </p:spPr>
        <p:txBody>
          <a:bodyPr lIns="0" tIns="0" rIns="0" bIns="0" rtlCol="0" anchor="t">
            <a:spAutoFit/>
          </a:bodyPr>
          <a:lstStyle/>
          <a:p>
            <a:pPr algn="ctr">
              <a:lnSpc>
                <a:spcPts val="3312"/>
              </a:lnSpc>
            </a:pPr>
            <a:r>
              <a:rPr lang="en-US" sz="2759" b="1">
                <a:solidFill>
                  <a:srgbClr val="FFFFFF">
                    <a:alpha val="84706"/>
                  </a:srgbClr>
                </a:solidFill>
                <a:latin typeface="Lato Bold"/>
                <a:ea typeface="Lato Bold"/>
                <a:cs typeface="Lato Bold"/>
                <a:sym typeface="Lato Bold"/>
              </a:rPr>
              <a:t>STAC-Spezifikation</a:t>
            </a:r>
          </a:p>
        </p:txBody>
      </p:sp>
      <p:sp>
        <p:nvSpPr>
          <p:cNvPr id="7" name="TextBox 7"/>
          <p:cNvSpPr txBox="1"/>
          <p:nvPr/>
        </p:nvSpPr>
        <p:spPr>
          <a:xfrm>
            <a:off x="2042052" y="4374340"/>
            <a:ext cx="4237112" cy="420002"/>
          </a:xfrm>
          <a:prstGeom prst="rect">
            <a:avLst/>
          </a:prstGeom>
        </p:spPr>
        <p:txBody>
          <a:bodyPr lIns="0" tIns="0" rIns="0" bIns="0" rtlCol="0" anchor="t">
            <a:spAutoFit/>
          </a:bodyPr>
          <a:lstStyle/>
          <a:p>
            <a:pPr algn="ctr">
              <a:lnSpc>
                <a:spcPts val="3312"/>
              </a:lnSpc>
            </a:pPr>
            <a:r>
              <a:rPr lang="en-US" sz="2759" b="1">
                <a:solidFill>
                  <a:srgbClr val="243B32">
                    <a:alpha val="69804"/>
                  </a:srgbClr>
                </a:solidFill>
                <a:latin typeface="Lato Bold"/>
                <a:ea typeface="Lato Bold"/>
                <a:cs typeface="Lato Bold"/>
                <a:sym typeface="Lato Bold"/>
              </a:rPr>
              <a:t>Datenmodell und Struktur</a:t>
            </a:r>
          </a:p>
        </p:txBody>
      </p:sp>
      <p:sp>
        <p:nvSpPr>
          <p:cNvPr id="8" name="TextBox 8"/>
          <p:cNvSpPr txBox="1"/>
          <p:nvPr/>
        </p:nvSpPr>
        <p:spPr>
          <a:xfrm>
            <a:off x="1442423" y="5156149"/>
            <a:ext cx="5436373" cy="403561"/>
          </a:xfrm>
          <a:prstGeom prst="rect">
            <a:avLst/>
          </a:prstGeom>
        </p:spPr>
        <p:txBody>
          <a:bodyPr lIns="0" tIns="0" rIns="0" bIns="0" rtlCol="0" anchor="t">
            <a:spAutoFit/>
          </a:bodyPr>
          <a:lstStyle/>
          <a:p>
            <a:pPr algn="ctr">
              <a:lnSpc>
                <a:spcPts val="3486"/>
              </a:lnSpc>
            </a:pPr>
            <a:r>
              <a:rPr lang="en-US" sz="2179">
                <a:solidFill>
                  <a:srgbClr val="242424">
                    <a:alpha val="74902"/>
                  </a:srgbClr>
                </a:solidFill>
                <a:latin typeface="Lato"/>
                <a:ea typeface="Lato"/>
                <a:cs typeface="Lato"/>
                <a:sym typeface="Lato"/>
              </a:rPr>
              <a:t>Definiert die Objekte und ihre Beziehungen</a:t>
            </a:r>
          </a:p>
        </p:txBody>
      </p:sp>
      <p:sp>
        <p:nvSpPr>
          <p:cNvPr id="9" name="TextBox 9"/>
          <p:cNvSpPr txBox="1"/>
          <p:nvPr/>
        </p:nvSpPr>
        <p:spPr>
          <a:xfrm>
            <a:off x="2120475" y="5818826"/>
            <a:ext cx="4080267" cy="403561"/>
          </a:xfrm>
          <a:prstGeom prst="rect">
            <a:avLst/>
          </a:prstGeom>
        </p:spPr>
        <p:txBody>
          <a:bodyPr lIns="0" tIns="0" rIns="0" bIns="0" rtlCol="0" anchor="t">
            <a:spAutoFit/>
          </a:bodyPr>
          <a:lstStyle/>
          <a:p>
            <a:pPr algn="ctr">
              <a:lnSpc>
                <a:spcPts val="3486"/>
              </a:lnSpc>
            </a:pPr>
            <a:r>
              <a:rPr lang="en-US" sz="2179">
                <a:solidFill>
                  <a:srgbClr val="242424">
                    <a:alpha val="74902"/>
                  </a:srgbClr>
                </a:solidFill>
                <a:latin typeface="Lato"/>
                <a:ea typeface="Lato"/>
                <a:cs typeface="Lato"/>
                <a:sym typeface="Lato"/>
              </a:rPr>
              <a:t>Standardisierte Struktur in JSON</a:t>
            </a:r>
          </a:p>
        </p:txBody>
      </p:sp>
      <p:sp>
        <p:nvSpPr>
          <p:cNvPr id="10" name="TextBox 10"/>
          <p:cNvSpPr txBox="1"/>
          <p:nvPr/>
        </p:nvSpPr>
        <p:spPr>
          <a:xfrm>
            <a:off x="1538324" y="7454085"/>
            <a:ext cx="5244568" cy="403561"/>
          </a:xfrm>
          <a:prstGeom prst="rect">
            <a:avLst/>
          </a:prstGeom>
        </p:spPr>
        <p:txBody>
          <a:bodyPr lIns="0" tIns="0" rIns="0" bIns="0" rtlCol="0" anchor="t">
            <a:spAutoFit/>
          </a:bodyPr>
          <a:lstStyle/>
          <a:p>
            <a:pPr algn="ctr">
              <a:lnSpc>
                <a:spcPts val="3486"/>
              </a:lnSpc>
            </a:pPr>
            <a:r>
              <a:rPr lang="en-US" sz="2179">
                <a:solidFill>
                  <a:srgbClr val="242424">
                    <a:alpha val="74902"/>
                  </a:srgbClr>
                </a:solidFill>
                <a:latin typeface="Lato"/>
                <a:ea typeface="Lato"/>
                <a:cs typeface="Lato"/>
                <a:sym typeface="Lato"/>
              </a:rPr>
              <a:t>benötigt nicht zwingend ein Backend</a:t>
            </a:r>
          </a:p>
        </p:txBody>
      </p:sp>
      <p:sp>
        <p:nvSpPr>
          <p:cNvPr id="11" name="Freeform 11"/>
          <p:cNvSpPr/>
          <p:nvPr/>
        </p:nvSpPr>
        <p:spPr>
          <a:xfrm>
            <a:off x="10445598" y="2995365"/>
            <a:ext cx="6978316" cy="5586245"/>
          </a:xfrm>
          <a:custGeom>
            <a:avLst/>
            <a:gdLst/>
            <a:ahLst/>
            <a:cxnLst/>
            <a:rect l="l" t="t" r="r" b="b"/>
            <a:pathLst>
              <a:path w="6978316" h="5586245">
                <a:moveTo>
                  <a:pt x="0" y="0"/>
                </a:moveTo>
                <a:lnTo>
                  <a:pt x="6978316" y="0"/>
                </a:lnTo>
                <a:lnTo>
                  <a:pt x="6978316" y="5586245"/>
                </a:lnTo>
                <a:lnTo>
                  <a:pt x="0" y="5586245"/>
                </a:lnTo>
                <a:lnTo>
                  <a:pt x="0" y="0"/>
                </a:lnTo>
                <a:close/>
              </a:path>
            </a:pathLst>
          </a:custGeom>
          <a:blipFill>
            <a:blip r:embed="rId5"/>
            <a:stretch>
              <a:fillRect/>
            </a:stretch>
          </a:blipFill>
        </p:spPr>
        <p:txBody>
          <a:bodyPr/>
          <a:lstStyle/>
          <a:p>
            <a:endParaRPr lang="de-DE"/>
          </a:p>
        </p:txBody>
      </p:sp>
      <p:sp>
        <p:nvSpPr>
          <p:cNvPr id="12" name="Freeform 12"/>
          <p:cNvSpPr/>
          <p:nvPr/>
        </p:nvSpPr>
        <p:spPr>
          <a:xfrm>
            <a:off x="10445598" y="2995365"/>
            <a:ext cx="6978316" cy="1082267"/>
          </a:xfrm>
          <a:custGeom>
            <a:avLst/>
            <a:gdLst/>
            <a:ahLst/>
            <a:cxnLst/>
            <a:rect l="l" t="t" r="r" b="b"/>
            <a:pathLst>
              <a:path w="6978316" h="1082267">
                <a:moveTo>
                  <a:pt x="0" y="0"/>
                </a:moveTo>
                <a:lnTo>
                  <a:pt x="6978316" y="0"/>
                </a:lnTo>
                <a:lnTo>
                  <a:pt x="6978316" y="1082266"/>
                </a:lnTo>
                <a:lnTo>
                  <a:pt x="0" y="1082266"/>
                </a:lnTo>
                <a:lnTo>
                  <a:pt x="0" y="0"/>
                </a:lnTo>
                <a:close/>
              </a:path>
            </a:pathLst>
          </a:custGeom>
          <a:blipFill>
            <a:blip r:embed="rId6"/>
            <a:stretch>
              <a:fillRect/>
            </a:stretch>
          </a:blipFill>
        </p:spPr>
        <p:txBody>
          <a:bodyPr/>
          <a:lstStyle/>
          <a:p>
            <a:endParaRPr lang="de-DE"/>
          </a:p>
        </p:txBody>
      </p:sp>
      <p:sp>
        <p:nvSpPr>
          <p:cNvPr id="13" name="TextBox 13"/>
          <p:cNvSpPr txBox="1"/>
          <p:nvPr/>
        </p:nvSpPr>
        <p:spPr>
          <a:xfrm>
            <a:off x="13091332" y="3336714"/>
            <a:ext cx="1587415" cy="420002"/>
          </a:xfrm>
          <a:prstGeom prst="rect">
            <a:avLst/>
          </a:prstGeom>
        </p:spPr>
        <p:txBody>
          <a:bodyPr lIns="0" tIns="0" rIns="0" bIns="0" rtlCol="0" anchor="t">
            <a:spAutoFit/>
          </a:bodyPr>
          <a:lstStyle/>
          <a:p>
            <a:pPr algn="ctr">
              <a:lnSpc>
                <a:spcPts val="3312"/>
              </a:lnSpc>
            </a:pPr>
            <a:r>
              <a:rPr lang="en-US" sz="2759" b="1">
                <a:solidFill>
                  <a:srgbClr val="FFFFFF">
                    <a:alpha val="84706"/>
                  </a:srgbClr>
                </a:solidFill>
                <a:latin typeface="Lato Bold"/>
                <a:ea typeface="Lato Bold"/>
                <a:cs typeface="Lato Bold"/>
                <a:sym typeface="Lato Bold"/>
              </a:rPr>
              <a:t>STAC API</a:t>
            </a:r>
          </a:p>
        </p:txBody>
      </p:sp>
      <p:sp>
        <p:nvSpPr>
          <p:cNvPr id="14" name="TextBox 14"/>
          <p:cNvSpPr txBox="1"/>
          <p:nvPr/>
        </p:nvSpPr>
        <p:spPr>
          <a:xfrm>
            <a:off x="11194305" y="4374340"/>
            <a:ext cx="5660958" cy="420002"/>
          </a:xfrm>
          <a:prstGeom prst="rect">
            <a:avLst/>
          </a:prstGeom>
        </p:spPr>
        <p:txBody>
          <a:bodyPr lIns="0" tIns="0" rIns="0" bIns="0" rtlCol="0" anchor="t">
            <a:spAutoFit/>
          </a:bodyPr>
          <a:lstStyle/>
          <a:p>
            <a:pPr algn="ctr">
              <a:lnSpc>
                <a:spcPts val="3312"/>
              </a:lnSpc>
            </a:pPr>
            <a:r>
              <a:rPr lang="en-US" sz="2759" b="1">
                <a:solidFill>
                  <a:srgbClr val="243B32">
                    <a:alpha val="69804"/>
                  </a:srgbClr>
                </a:solidFill>
                <a:latin typeface="Lato Bold"/>
                <a:ea typeface="Lato Bold"/>
                <a:cs typeface="Lato Bold"/>
                <a:sym typeface="Lato Bold"/>
              </a:rPr>
              <a:t>Standardisierter Zugriff über HTTP</a:t>
            </a:r>
          </a:p>
        </p:txBody>
      </p:sp>
      <p:sp>
        <p:nvSpPr>
          <p:cNvPr id="15" name="TextBox 15"/>
          <p:cNvSpPr txBox="1"/>
          <p:nvPr/>
        </p:nvSpPr>
        <p:spPr>
          <a:xfrm>
            <a:off x="11698713" y="5156149"/>
            <a:ext cx="4652142" cy="403561"/>
          </a:xfrm>
          <a:prstGeom prst="rect">
            <a:avLst/>
          </a:prstGeom>
        </p:spPr>
        <p:txBody>
          <a:bodyPr lIns="0" tIns="0" rIns="0" bIns="0" rtlCol="0" anchor="t">
            <a:spAutoFit/>
          </a:bodyPr>
          <a:lstStyle/>
          <a:p>
            <a:pPr algn="ctr">
              <a:lnSpc>
                <a:spcPts val="3486"/>
              </a:lnSpc>
            </a:pPr>
            <a:r>
              <a:rPr lang="en-US" sz="2179">
                <a:solidFill>
                  <a:srgbClr val="242424">
                    <a:alpha val="74902"/>
                  </a:srgbClr>
                </a:solidFill>
                <a:latin typeface="Lato"/>
                <a:ea typeface="Lato"/>
                <a:cs typeface="Lato"/>
                <a:sym typeface="Lato"/>
              </a:rPr>
              <a:t>Definiert Endpoints und Operationen</a:t>
            </a:r>
          </a:p>
        </p:txBody>
      </p:sp>
      <p:sp>
        <p:nvSpPr>
          <p:cNvPr id="16" name="TextBox 16"/>
          <p:cNvSpPr txBox="1"/>
          <p:nvPr/>
        </p:nvSpPr>
        <p:spPr>
          <a:xfrm>
            <a:off x="11955473" y="5818826"/>
            <a:ext cx="4138622" cy="403561"/>
          </a:xfrm>
          <a:prstGeom prst="rect">
            <a:avLst/>
          </a:prstGeom>
        </p:spPr>
        <p:txBody>
          <a:bodyPr lIns="0" tIns="0" rIns="0" bIns="0" rtlCol="0" anchor="t">
            <a:spAutoFit/>
          </a:bodyPr>
          <a:lstStyle/>
          <a:p>
            <a:pPr algn="ctr">
              <a:lnSpc>
                <a:spcPts val="3486"/>
              </a:lnSpc>
            </a:pPr>
            <a:r>
              <a:rPr lang="en-US" sz="2179">
                <a:solidFill>
                  <a:srgbClr val="242424">
                    <a:alpha val="74902"/>
                  </a:srgbClr>
                </a:solidFill>
                <a:latin typeface="Lato"/>
                <a:ea typeface="Lato"/>
                <a:cs typeface="Lato"/>
                <a:sym typeface="Lato"/>
              </a:rPr>
              <a:t>Nutzung über HTTP (GET, POST)</a:t>
            </a:r>
          </a:p>
        </p:txBody>
      </p:sp>
      <p:sp>
        <p:nvSpPr>
          <p:cNvPr id="17" name="TextBox 17"/>
          <p:cNvSpPr txBox="1"/>
          <p:nvPr/>
        </p:nvSpPr>
        <p:spPr>
          <a:xfrm>
            <a:off x="10999461" y="7140298"/>
            <a:ext cx="6050647" cy="831958"/>
          </a:xfrm>
          <a:prstGeom prst="rect">
            <a:avLst/>
          </a:prstGeom>
        </p:spPr>
        <p:txBody>
          <a:bodyPr lIns="0" tIns="0" rIns="0" bIns="0" rtlCol="0" anchor="t">
            <a:spAutoFit/>
          </a:bodyPr>
          <a:lstStyle/>
          <a:p>
            <a:pPr algn="ctr">
              <a:lnSpc>
                <a:spcPts val="3486"/>
              </a:lnSpc>
            </a:pPr>
            <a:r>
              <a:rPr lang="en-US" sz="2179">
                <a:solidFill>
                  <a:srgbClr val="242424">
                    <a:alpha val="74902"/>
                  </a:srgbClr>
                </a:solidFill>
                <a:latin typeface="Lato"/>
                <a:ea typeface="Lato"/>
                <a:cs typeface="Lato"/>
                <a:sym typeface="Lato"/>
              </a:rPr>
              <a:t>benötigt einen API-Server bzw. ein Backend, das Requests verarbeitet</a:t>
            </a:r>
          </a:p>
        </p:txBody>
      </p:sp>
      <p:sp>
        <p:nvSpPr>
          <p:cNvPr id="18" name="TextBox 18"/>
          <p:cNvSpPr txBox="1"/>
          <p:nvPr/>
        </p:nvSpPr>
        <p:spPr>
          <a:xfrm>
            <a:off x="8187303" y="4307665"/>
            <a:ext cx="1771769" cy="793421"/>
          </a:xfrm>
          <a:prstGeom prst="rect">
            <a:avLst/>
          </a:prstGeom>
        </p:spPr>
        <p:txBody>
          <a:bodyPr lIns="0" tIns="0" rIns="0" bIns="0" rtlCol="0" anchor="t">
            <a:spAutoFit/>
          </a:bodyPr>
          <a:lstStyle/>
          <a:p>
            <a:pPr algn="ctr">
              <a:lnSpc>
                <a:spcPts val="3275"/>
              </a:lnSpc>
            </a:pPr>
            <a:r>
              <a:rPr lang="en-US" sz="2047" b="1">
                <a:solidFill>
                  <a:srgbClr val="243B32">
                    <a:alpha val="84706"/>
                  </a:srgbClr>
                </a:solidFill>
                <a:latin typeface="Lato Bold"/>
                <a:ea typeface="Lato Bold"/>
                <a:cs typeface="Lato Bold"/>
                <a:sym typeface="Lato Bold"/>
              </a:rPr>
              <a:t>Die API nutzt STAC-Objekte</a:t>
            </a:r>
          </a:p>
        </p:txBody>
      </p:sp>
      <p:sp>
        <p:nvSpPr>
          <p:cNvPr id="19" name="Freeform 19"/>
          <p:cNvSpPr/>
          <p:nvPr/>
        </p:nvSpPr>
        <p:spPr>
          <a:xfrm>
            <a:off x="7831464" y="5356674"/>
            <a:ext cx="2625072" cy="644987"/>
          </a:xfrm>
          <a:custGeom>
            <a:avLst/>
            <a:gdLst/>
            <a:ahLst/>
            <a:cxnLst/>
            <a:rect l="l" t="t" r="r" b="b"/>
            <a:pathLst>
              <a:path w="2625072" h="644987">
                <a:moveTo>
                  <a:pt x="0" y="0"/>
                </a:moveTo>
                <a:lnTo>
                  <a:pt x="2625072" y="0"/>
                </a:lnTo>
                <a:lnTo>
                  <a:pt x="2625072" y="644987"/>
                </a:lnTo>
                <a:lnTo>
                  <a:pt x="0" y="644987"/>
                </a:lnTo>
                <a:lnTo>
                  <a:pt x="0" y="0"/>
                </a:lnTo>
                <a:close/>
              </a:path>
            </a:pathLst>
          </a:custGeom>
          <a:blipFill>
            <a:blip r:embed="rId7"/>
            <a:stretch>
              <a:fillRect/>
            </a:stretch>
          </a:blipFill>
        </p:spPr>
        <p:txBody>
          <a:bodyPr/>
          <a:lstStyle/>
          <a:p>
            <a:endParaRPr lang="de-DE"/>
          </a:p>
        </p:txBody>
      </p:sp>
      <p:sp>
        <p:nvSpPr>
          <p:cNvPr id="20" name="TextBox 20"/>
          <p:cNvSpPr txBox="1"/>
          <p:nvPr/>
        </p:nvSpPr>
        <p:spPr>
          <a:xfrm>
            <a:off x="7988879" y="6160625"/>
            <a:ext cx="2168618" cy="793421"/>
          </a:xfrm>
          <a:prstGeom prst="rect">
            <a:avLst/>
          </a:prstGeom>
        </p:spPr>
        <p:txBody>
          <a:bodyPr lIns="0" tIns="0" rIns="0" bIns="0" rtlCol="0" anchor="t">
            <a:spAutoFit/>
          </a:bodyPr>
          <a:lstStyle/>
          <a:p>
            <a:pPr algn="ctr">
              <a:lnSpc>
                <a:spcPts val="3275"/>
              </a:lnSpc>
            </a:pPr>
            <a:r>
              <a:rPr lang="en-US" sz="2047" b="1">
                <a:solidFill>
                  <a:srgbClr val="243B32">
                    <a:alpha val="84706"/>
                  </a:srgbClr>
                </a:solidFill>
                <a:latin typeface="Lato Bold"/>
                <a:ea typeface="Lato Bold"/>
                <a:cs typeface="Lato Bold"/>
                <a:sym typeface="Lato Bold"/>
              </a:rPr>
              <a:t>die API baut auf STAC auf</a:t>
            </a:r>
          </a:p>
        </p:txBody>
      </p:sp>
      <p:sp>
        <p:nvSpPr>
          <p:cNvPr id="21" name="TextBox 21"/>
          <p:cNvSpPr txBox="1"/>
          <p:nvPr/>
        </p:nvSpPr>
        <p:spPr>
          <a:xfrm>
            <a:off x="1033807" y="6422257"/>
            <a:ext cx="6253605" cy="831958"/>
          </a:xfrm>
          <a:prstGeom prst="rect">
            <a:avLst/>
          </a:prstGeom>
        </p:spPr>
        <p:txBody>
          <a:bodyPr lIns="0" tIns="0" rIns="0" bIns="0" rtlCol="0" anchor="t">
            <a:spAutoFit/>
          </a:bodyPr>
          <a:lstStyle/>
          <a:p>
            <a:pPr algn="ctr">
              <a:lnSpc>
                <a:spcPts val="3486"/>
              </a:lnSpc>
            </a:pPr>
            <a:r>
              <a:rPr lang="en-US" sz="2179">
                <a:solidFill>
                  <a:srgbClr val="242424">
                    <a:alpha val="74902"/>
                  </a:srgbClr>
                </a:solidFill>
                <a:latin typeface="Lato"/>
                <a:ea typeface="Lato"/>
                <a:cs typeface="Lato"/>
                <a:sym typeface="Lato"/>
              </a:rPr>
              <a:t>kann als statischer Katalog aus verlinkten JSON-Dateien veröffentlicht werden</a:t>
            </a:r>
          </a:p>
        </p:txBody>
      </p:sp>
      <p:sp>
        <p:nvSpPr>
          <p:cNvPr id="22" name="TextBox 22"/>
          <p:cNvSpPr txBox="1"/>
          <p:nvPr/>
        </p:nvSpPr>
        <p:spPr>
          <a:xfrm>
            <a:off x="11046547" y="6479562"/>
            <a:ext cx="5956474" cy="403561"/>
          </a:xfrm>
          <a:prstGeom prst="rect">
            <a:avLst/>
          </a:prstGeom>
        </p:spPr>
        <p:txBody>
          <a:bodyPr lIns="0" tIns="0" rIns="0" bIns="0" rtlCol="0" anchor="t">
            <a:spAutoFit/>
          </a:bodyPr>
          <a:lstStyle/>
          <a:p>
            <a:pPr algn="ctr">
              <a:lnSpc>
                <a:spcPts val="3486"/>
              </a:lnSpc>
            </a:pPr>
            <a:r>
              <a:rPr lang="en-US" sz="2179">
                <a:solidFill>
                  <a:srgbClr val="242424">
                    <a:alpha val="74902"/>
                  </a:srgbClr>
                </a:solidFill>
                <a:latin typeface="Lato"/>
                <a:ea typeface="Lato"/>
                <a:cs typeface="Lato"/>
                <a:sym typeface="Lato"/>
              </a:rPr>
              <a:t>ermöglicht dynamische Requests an einen Server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de-DE"/>
          </a:p>
        </p:txBody>
      </p:sp>
      <p:sp>
        <p:nvSpPr>
          <p:cNvPr id="3" name="TextBox 3"/>
          <p:cNvSpPr txBox="1"/>
          <p:nvPr/>
        </p:nvSpPr>
        <p:spPr>
          <a:xfrm>
            <a:off x="914920" y="712412"/>
            <a:ext cx="4948611" cy="1156650"/>
          </a:xfrm>
          <a:prstGeom prst="rect">
            <a:avLst/>
          </a:prstGeom>
        </p:spPr>
        <p:txBody>
          <a:bodyPr lIns="0" tIns="0" rIns="0" bIns="0" rtlCol="0" anchor="t">
            <a:spAutoFit/>
          </a:bodyPr>
          <a:lstStyle/>
          <a:p>
            <a:pPr algn="l">
              <a:lnSpc>
                <a:spcPts val="9520"/>
              </a:lnSpc>
            </a:pPr>
            <a:r>
              <a:rPr lang="en-US" sz="6800" b="1" spc="-136">
                <a:solidFill>
                  <a:srgbClr val="264237"/>
                </a:solidFill>
                <a:latin typeface="Lato Bold"/>
                <a:ea typeface="Lato Bold"/>
                <a:cs typeface="Lato Bold"/>
                <a:sym typeface="Lato Bold"/>
              </a:rPr>
              <a:t>Architektur</a:t>
            </a:r>
          </a:p>
        </p:txBody>
      </p:sp>
      <p:sp>
        <p:nvSpPr>
          <p:cNvPr id="4" name="TextBox 4"/>
          <p:cNvSpPr txBox="1"/>
          <p:nvPr/>
        </p:nvSpPr>
        <p:spPr>
          <a:xfrm>
            <a:off x="908580" y="2053431"/>
            <a:ext cx="5582595" cy="469036"/>
          </a:xfrm>
          <a:prstGeom prst="rect">
            <a:avLst/>
          </a:prstGeom>
        </p:spPr>
        <p:txBody>
          <a:bodyPr lIns="0" tIns="0" rIns="0" bIns="0" rtlCol="0" anchor="t">
            <a:spAutoFit/>
          </a:bodyPr>
          <a:lstStyle/>
          <a:p>
            <a:pPr algn="l">
              <a:lnSpc>
                <a:spcPts val="3863"/>
              </a:lnSpc>
            </a:pPr>
            <a:r>
              <a:rPr lang="en-US" sz="2759" b="1" spc="-55">
                <a:solidFill>
                  <a:srgbClr val="545454"/>
                </a:solidFill>
                <a:latin typeface="Lato Bold"/>
                <a:ea typeface="Lato Bold"/>
                <a:cs typeface="Lato Bold"/>
                <a:sym typeface="Lato Bold"/>
              </a:rPr>
              <a:t>Wie ein STAC API Request abläuft</a:t>
            </a:r>
          </a:p>
        </p:txBody>
      </p:sp>
      <p:sp>
        <p:nvSpPr>
          <p:cNvPr id="5" name="Freeform 5"/>
          <p:cNvSpPr/>
          <p:nvPr/>
        </p:nvSpPr>
        <p:spPr>
          <a:xfrm>
            <a:off x="864086" y="3421712"/>
            <a:ext cx="4145426" cy="2372241"/>
          </a:xfrm>
          <a:custGeom>
            <a:avLst/>
            <a:gdLst/>
            <a:ahLst/>
            <a:cxnLst/>
            <a:rect l="l" t="t" r="r" b="b"/>
            <a:pathLst>
              <a:path w="4145426" h="2372241">
                <a:moveTo>
                  <a:pt x="0" y="0"/>
                </a:moveTo>
                <a:lnTo>
                  <a:pt x="4145426" y="0"/>
                </a:lnTo>
                <a:lnTo>
                  <a:pt x="4145426" y="2372241"/>
                </a:lnTo>
                <a:lnTo>
                  <a:pt x="0" y="2372241"/>
                </a:lnTo>
                <a:lnTo>
                  <a:pt x="0" y="0"/>
                </a:lnTo>
                <a:close/>
              </a:path>
            </a:pathLst>
          </a:custGeom>
          <a:blipFill>
            <a:blip r:embed="rId3"/>
            <a:stretch>
              <a:fillRect/>
            </a:stretch>
          </a:blipFill>
        </p:spPr>
        <p:txBody>
          <a:bodyPr/>
          <a:lstStyle/>
          <a:p>
            <a:endParaRPr lang="de-DE"/>
          </a:p>
        </p:txBody>
      </p:sp>
      <p:sp>
        <p:nvSpPr>
          <p:cNvPr id="6" name="TextBox 6"/>
          <p:cNvSpPr txBox="1"/>
          <p:nvPr/>
        </p:nvSpPr>
        <p:spPr>
          <a:xfrm>
            <a:off x="1423786" y="3806551"/>
            <a:ext cx="3025662" cy="1594402"/>
          </a:xfrm>
          <a:prstGeom prst="rect">
            <a:avLst/>
          </a:prstGeom>
        </p:spPr>
        <p:txBody>
          <a:bodyPr lIns="0" tIns="0" rIns="0" bIns="0" rtlCol="0" anchor="t">
            <a:spAutoFit/>
          </a:bodyPr>
          <a:lstStyle/>
          <a:p>
            <a:pPr algn="ctr">
              <a:lnSpc>
                <a:spcPts val="4343"/>
              </a:lnSpc>
            </a:pPr>
            <a:r>
              <a:rPr lang="en-US" sz="3102" b="1" spc="-62">
                <a:solidFill>
                  <a:srgbClr val="F4F4F4"/>
                </a:solidFill>
                <a:latin typeface="Lato Bold"/>
                <a:ea typeface="Lato Bold"/>
                <a:cs typeface="Lato Bold"/>
                <a:sym typeface="Lato Bold"/>
              </a:rPr>
              <a:t>Client /</a:t>
            </a:r>
          </a:p>
          <a:p>
            <a:pPr algn="ctr">
              <a:lnSpc>
                <a:spcPts val="4343"/>
              </a:lnSpc>
            </a:pPr>
            <a:r>
              <a:rPr lang="en-US" sz="3102" b="1" spc="-62">
                <a:solidFill>
                  <a:srgbClr val="F4F4F4"/>
                </a:solidFill>
                <a:latin typeface="Lato Bold"/>
                <a:ea typeface="Lato Bold"/>
                <a:cs typeface="Lato Bold"/>
                <a:sym typeface="Lato Bold"/>
              </a:rPr>
              <a:t>Web-Frontend /</a:t>
            </a:r>
          </a:p>
          <a:p>
            <a:pPr algn="ctr">
              <a:lnSpc>
                <a:spcPts val="4343"/>
              </a:lnSpc>
            </a:pPr>
            <a:r>
              <a:rPr lang="en-US" sz="3102" b="1" spc="-62">
                <a:solidFill>
                  <a:srgbClr val="F4F4F4"/>
                </a:solidFill>
                <a:latin typeface="Lato Bold"/>
                <a:ea typeface="Lato Bold"/>
                <a:cs typeface="Lato Bold"/>
                <a:sym typeface="Lato Bold"/>
              </a:rPr>
              <a:t>KI-Agent</a:t>
            </a:r>
          </a:p>
        </p:txBody>
      </p:sp>
      <p:sp>
        <p:nvSpPr>
          <p:cNvPr id="7" name="Freeform 7"/>
          <p:cNvSpPr/>
          <p:nvPr/>
        </p:nvSpPr>
        <p:spPr>
          <a:xfrm>
            <a:off x="4998574" y="4285339"/>
            <a:ext cx="2625072" cy="644987"/>
          </a:xfrm>
          <a:custGeom>
            <a:avLst/>
            <a:gdLst/>
            <a:ahLst/>
            <a:cxnLst/>
            <a:rect l="l" t="t" r="r" b="b"/>
            <a:pathLst>
              <a:path w="2625072" h="644987">
                <a:moveTo>
                  <a:pt x="0" y="0"/>
                </a:moveTo>
                <a:lnTo>
                  <a:pt x="2625072" y="0"/>
                </a:lnTo>
                <a:lnTo>
                  <a:pt x="2625072" y="644987"/>
                </a:lnTo>
                <a:lnTo>
                  <a:pt x="0" y="644987"/>
                </a:lnTo>
                <a:lnTo>
                  <a:pt x="0" y="0"/>
                </a:lnTo>
                <a:close/>
              </a:path>
            </a:pathLst>
          </a:custGeom>
          <a:blipFill>
            <a:blip r:embed="rId4"/>
            <a:stretch>
              <a:fillRect/>
            </a:stretch>
          </a:blipFill>
        </p:spPr>
        <p:txBody>
          <a:bodyPr/>
          <a:lstStyle/>
          <a:p>
            <a:endParaRPr lang="de-DE"/>
          </a:p>
        </p:txBody>
      </p:sp>
      <p:sp>
        <p:nvSpPr>
          <p:cNvPr id="8" name="TextBox 8"/>
          <p:cNvSpPr txBox="1"/>
          <p:nvPr/>
        </p:nvSpPr>
        <p:spPr>
          <a:xfrm>
            <a:off x="5400877" y="4030773"/>
            <a:ext cx="1677663" cy="326822"/>
          </a:xfrm>
          <a:prstGeom prst="rect">
            <a:avLst/>
          </a:prstGeom>
        </p:spPr>
        <p:txBody>
          <a:bodyPr lIns="0" tIns="0" rIns="0" bIns="0" rtlCol="0" anchor="t">
            <a:spAutoFit/>
          </a:bodyPr>
          <a:lstStyle/>
          <a:p>
            <a:pPr algn="ctr">
              <a:lnSpc>
                <a:spcPts val="2780"/>
              </a:lnSpc>
            </a:pPr>
            <a:r>
              <a:rPr lang="en-US" sz="1986" b="1" spc="-39">
                <a:solidFill>
                  <a:srgbClr val="545454"/>
                </a:solidFill>
                <a:latin typeface="Lato Bold"/>
                <a:ea typeface="Lato Bold"/>
                <a:cs typeface="Lato Bold"/>
                <a:sym typeface="Lato Bold"/>
              </a:rPr>
              <a:t>HTTP Request</a:t>
            </a:r>
          </a:p>
        </p:txBody>
      </p:sp>
      <p:sp>
        <p:nvSpPr>
          <p:cNvPr id="9" name="Freeform 9"/>
          <p:cNvSpPr/>
          <p:nvPr/>
        </p:nvSpPr>
        <p:spPr>
          <a:xfrm>
            <a:off x="7393952" y="3421712"/>
            <a:ext cx="4145426" cy="2372241"/>
          </a:xfrm>
          <a:custGeom>
            <a:avLst/>
            <a:gdLst/>
            <a:ahLst/>
            <a:cxnLst/>
            <a:rect l="l" t="t" r="r" b="b"/>
            <a:pathLst>
              <a:path w="4145426" h="2372241">
                <a:moveTo>
                  <a:pt x="0" y="0"/>
                </a:moveTo>
                <a:lnTo>
                  <a:pt x="4145426" y="0"/>
                </a:lnTo>
                <a:lnTo>
                  <a:pt x="4145426" y="2372241"/>
                </a:lnTo>
                <a:lnTo>
                  <a:pt x="0" y="2372241"/>
                </a:lnTo>
                <a:lnTo>
                  <a:pt x="0" y="0"/>
                </a:lnTo>
                <a:close/>
              </a:path>
            </a:pathLst>
          </a:custGeom>
          <a:blipFill>
            <a:blip r:embed="rId5"/>
            <a:stretch>
              <a:fillRect/>
            </a:stretch>
          </a:blipFill>
        </p:spPr>
        <p:txBody>
          <a:bodyPr/>
          <a:lstStyle/>
          <a:p>
            <a:endParaRPr lang="de-DE"/>
          </a:p>
        </p:txBody>
      </p:sp>
      <p:sp>
        <p:nvSpPr>
          <p:cNvPr id="10" name="TextBox 10"/>
          <p:cNvSpPr txBox="1"/>
          <p:nvPr/>
        </p:nvSpPr>
        <p:spPr>
          <a:xfrm>
            <a:off x="8094344" y="4111114"/>
            <a:ext cx="2744643" cy="1058906"/>
          </a:xfrm>
          <a:prstGeom prst="rect">
            <a:avLst/>
          </a:prstGeom>
        </p:spPr>
        <p:txBody>
          <a:bodyPr lIns="0" tIns="0" rIns="0" bIns="0" rtlCol="0" anchor="t">
            <a:spAutoFit/>
          </a:bodyPr>
          <a:lstStyle/>
          <a:p>
            <a:pPr algn="ctr">
              <a:lnSpc>
                <a:spcPts val="4343"/>
              </a:lnSpc>
            </a:pPr>
            <a:r>
              <a:rPr lang="en-US" sz="3102" b="1" spc="-62">
                <a:solidFill>
                  <a:srgbClr val="F4F4F4"/>
                </a:solidFill>
                <a:latin typeface="Lato Bold"/>
                <a:ea typeface="Lato Bold"/>
                <a:cs typeface="Lato Bold"/>
                <a:sym typeface="Lato Bold"/>
              </a:rPr>
              <a:t>STAC API</a:t>
            </a:r>
          </a:p>
          <a:p>
            <a:pPr algn="ctr">
              <a:lnSpc>
                <a:spcPts val="4343"/>
              </a:lnSpc>
            </a:pPr>
            <a:r>
              <a:rPr lang="en-US" sz="3102" b="1" spc="-62">
                <a:solidFill>
                  <a:srgbClr val="F4F4F4"/>
                </a:solidFill>
                <a:latin typeface="Lato Bold"/>
                <a:ea typeface="Lato Bold"/>
                <a:cs typeface="Lato Bold"/>
                <a:sym typeface="Lato Bold"/>
              </a:rPr>
              <a:t>   (API-SERVER)</a:t>
            </a:r>
          </a:p>
        </p:txBody>
      </p:sp>
      <p:sp>
        <p:nvSpPr>
          <p:cNvPr id="11" name="Freeform 11"/>
          <p:cNvSpPr/>
          <p:nvPr/>
        </p:nvSpPr>
        <p:spPr>
          <a:xfrm>
            <a:off x="11528440" y="4285339"/>
            <a:ext cx="1542230" cy="644987"/>
          </a:xfrm>
          <a:custGeom>
            <a:avLst/>
            <a:gdLst/>
            <a:ahLst/>
            <a:cxnLst/>
            <a:rect l="l" t="t" r="r" b="b"/>
            <a:pathLst>
              <a:path w="1542230" h="644987">
                <a:moveTo>
                  <a:pt x="0" y="0"/>
                </a:moveTo>
                <a:lnTo>
                  <a:pt x="1542230" y="0"/>
                </a:lnTo>
                <a:lnTo>
                  <a:pt x="1542230" y="644987"/>
                </a:lnTo>
                <a:lnTo>
                  <a:pt x="0" y="644987"/>
                </a:lnTo>
                <a:lnTo>
                  <a:pt x="0" y="0"/>
                </a:lnTo>
                <a:close/>
              </a:path>
            </a:pathLst>
          </a:custGeom>
          <a:blipFill>
            <a:blip r:embed="rId6"/>
            <a:stretch>
              <a:fillRect/>
            </a:stretch>
          </a:blipFill>
        </p:spPr>
        <p:txBody>
          <a:bodyPr/>
          <a:lstStyle/>
          <a:p>
            <a:endParaRPr lang="de-DE"/>
          </a:p>
        </p:txBody>
      </p:sp>
      <p:sp>
        <p:nvSpPr>
          <p:cNvPr id="12" name="Freeform 12"/>
          <p:cNvSpPr/>
          <p:nvPr/>
        </p:nvSpPr>
        <p:spPr>
          <a:xfrm>
            <a:off x="13059732" y="3421712"/>
            <a:ext cx="4364182" cy="2372241"/>
          </a:xfrm>
          <a:custGeom>
            <a:avLst/>
            <a:gdLst/>
            <a:ahLst/>
            <a:cxnLst/>
            <a:rect l="l" t="t" r="r" b="b"/>
            <a:pathLst>
              <a:path w="4364182" h="2372241">
                <a:moveTo>
                  <a:pt x="0" y="0"/>
                </a:moveTo>
                <a:lnTo>
                  <a:pt x="4364182" y="0"/>
                </a:lnTo>
                <a:lnTo>
                  <a:pt x="4364182" y="2372241"/>
                </a:lnTo>
                <a:lnTo>
                  <a:pt x="0" y="2372241"/>
                </a:lnTo>
                <a:lnTo>
                  <a:pt x="0" y="0"/>
                </a:lnTo>
                <a:close/>
              </a:path>
            </a:pathLst>
          </a:custGeom>
          <a:blipFill>
            <a:blip r:embed="rId7"/>
            <a:stretch>
              <a:fillRect/>
            </a:stretch>
          </a:blipFill>
        </p:spPr>
        <p:txBody>
          <a:bodyPr/>
          <a:lstStyle/>
          <a:p>
            <a:endParaRPr lang="de-DE"/>
          </a:p>
        </p:txBody>
      </p:sp>
      <p:sp>
        <p:nvSpPr>
          <p:cNvPr id="13" name="TextBox 13"/>
          <p:cNvSpPr txBox="1"/>
          <p:nvPr/>
        </p:nvSpPr>
        <p:spPr>
          <a:xfrm>
            <a:off x="13202526" y="3843366"/>
            <a:ext cx="4078595" cy="1594402"/>
          </a:xfrm>
          <a:prstGeom prst="rect">
            <a:avLst/>
          </a:prstGeom>
        </p:spPr>
        <p:txBody>
          <a:bodyPr lIns="0" tIns="0" rIns="0" bIns="0" rtlCol="0" anchor="t">
            <a:spAutoFit/>
          </a:bodyPr>
          <a:lstStyle/>
          <a:p>
            <a:pPr algn="ctr">
              <a:lnSpc>
                <a:spcPts val="4343"/>
              </a:lnSpc>
            </a:pPr>
            <a:r>
              <a:rPr lang="en-US" sz="3102" b="1" spc="-62">
                <a:solidFill>
                  <a:srgbClr val="365042"/>
                </a:solidFill>
                <a:latin typeface="Lato Bold"/>
                <a:ea typeface="Lato Bold"/>
                <a:cs typeface="Lato Bold"/>
                <a:sym typeface="Lato Bold"/>
              </a:rPr>
              <a:t>Datenbank / STAC-Daten /</a:t>
            </a:r>
          </a:p>
          <a:p>
            <a:pPr algn="ctr">
              <a:lnSpc>
                <a:spcPts val="4343"/>
              </a:lnSpc>
            </a:pPr>
            <a:r>
              <a:rPr lang="en-US" sz="3102" b="1" spc="-62">
                <a:solidFill>
                  <a:srgbClr val="365042"/>
                </a:solidFill>
                <a:latin typeface="Lato Bold"/>
                <a:ea typeface="Lato Bold"/>
                <a:cs typeface="Lato Bold"/>
                <a:sym typeface="Lato Bold"/>
              </a:rPr>
              <a:t>  andere Datenquellen</a:t>
            </a:r>
          </a:p>
        </p:txBody>
      </p:sp>
      <p:sp>
        <p:nvSpPr>
          <p:cNvPr id="14" name="Freeform 14"/>
          <p:cNvSpPr/>
          <p:nvPr/>
        </p:nvSpPr>
        <p:spPr>
          <a:xfrm>
            <a:off x="2603196" y="5783021"/>
            <a:ext cx="667206" cy="1082267"/>
          </a:xfrm>
          <a:custGeom>
            <a:avLst/>
            <a:gdLst/>
            <a:ahLst/>
            <a:cxnLst/>
            <a:rect l="l" t="t" r="r" b="b"/>
            <a:pathLst>
              <a:path w="667206" h="1082267">
                <a:moveTo>
                  <a:pt x="0" y="0"/>
                </a:moveTo>
                <a:lnTo>
                  <a:pt x="667206" y="0"/>
                </a:lnTo>
                <a:lnTo>
                  <a:pt x="667206" y="1082267"/>
                </a:lnTo>
                <a:lnTo>
                  <a:pt x="0" y="1082267"/>
                </a:lnTo>
                <a:lnTo>
                  <a:pt x="0" y="0"/>
                </a:lnTo>
                <a:close/>
              </a:path>
            </a:pathLst>
          </a:custGeom>
          <a:blipFill>
            <a:blip r:embed="rId8"/>
            <a:stretch>
              <a:fillRect/>
            </a:stretch>
          </a:blipFill>
        </p:spPr>
        <p:txBody>
          <a:bodyPr/>
          <a:lstStyle/>
          <a:p>
            <a:endParaRPr lang="de-DE"/>
          </a:p>
        </p:txBody>
      </p:sp>
      <p:sp>
        <p:nvSpPr>
          <p:cNvPr id="15" name="Freeform 15"/>
          <p:cNvSpPr/>
          <p:nvPr/>
        </p:nvSpPr>
        <p:spPr>
          <a:xfrm>
            <a:off x="2821952" y="6635716"/>
            <a:ext cx="12644096" cy="229572"/>
          </a:xfrm>
          <a:custGeom>
            <a:avLst/>
            <a:gdLst/>
            <a:ahLst/>
            <a:cxnLst/>
            <a:rect l="l" t="t" r="r" b="b"/>
            <a:pathLst>
              <a:path w="12644096" h="229572">
                <a:moveTo>
                  <a:pt x="0" y="0"/>
                </a:moveTo>
                <a:lnTo>
                  <a:pt x="12644096" y="0"/>
                </a:lnTo>
                <a:lnTo>
                  <a:pt x="12644096" y="229572"/>
                </a:lnTo>
                <a:lnTo>
                  <a:pt x="0" y="229572"/>
                </a:lnTo>
                <a:lnTo>
                  <a:pt x="0" y="0"/>
                </a:lnTo>
                <a:close/>
              </a:path>
            </a:pathLst>
          </a:custGeom>
          <a:blipFill>
            <a:blip r:embed="rId9"/>
            <a:stretch>
              <a:fillRect/>
            </a:stretch>
          </a:blipFill>
        </p:spPr>
        <p:txBody>
          <a:bodyPr/>
          <a:lstStyle/>
          <a:p>
            <a:endParaRPr lang="de-DE"/>
          </a:p>
        </p:txBody>
      </p:sp>
      <p:sp>
        <p:nvSpPr>
          <p:cNvPr id="16" name="Freeform 16"/>
          <p:cNvSpPr/>
          <p:nvPr/>
        </p:nvSpPr>
        <p:spPr>
          <a:xfrm>
            <a:off x="15017598" y="5783021"/>
            <a:ext cx="448450" cy="1082267"/>
          </a:xfrm>
          <a:custGeom>
            <a:avLst/>
            <a:gdLst/>
            <a:ahLst/>
            <a:cxnLst/>
            <a:rect l="l" t="t" r="r" b="b"/>
            <a:pathLst>
              <a:path w="448450" h="1082267">
                <a:moveTo>
                  <a:pt x="0" y="0"/>
                </a:moveTo>
                <a:lnTo>
                  <a:pt x="448450" y="0"/>
                </a:lnTo>
                <a:lnTo>
                  <a:pt x="448450" y="1082267"/>
                </a:lnTo>
                <a:lnTo>
                  <a:pt x="0" y="1082267"/>
                </a:lnTo>
                <a:lnTo>
                  <a:pt x="0" y="0"/>
                </a:lnTo>
                <a:close/>
              </a:path>
            </a:pathLst>
          </a:custGeom>
          <a:blipFill>
            <a:blip r:embed="rId10"/>
            <a:stretch>
              <a:fillRect/>
            </a:stretch>
          </a:blipFill>
        </p:spPr>
        <p:txBody>
          <a:bodyPr/>
          <a:lstStyle/>
          <a:p>
            <a:endParaRPr lang="de-DE"/>
          </a:p>
        </p:txBody>
      </p:sp>
      <p:sp>
        <p:nvSpPr>
          <p:cNvPr id="17" name="TextBox 17"/>
          <p:cNvSpPr txBox="1"/>
          <p:nvPr/>
        </p:nvSpPr>
        <p:spPr>
          <a:xfrm>
            <a:off x="8200580" y="6259778"/>
            <a:ext cx="1835226" cy="326822"/>
          </a:xfrm>
          <a:prstGeom prst="rect">
            <a:avLst/>
          </a:prstGeom>
        </p:spPr>
        <p:txBody>
          <a:bodyPr lIns="0" tIns="0" rIns="0" bIns="0" rtlCol="0" anchor="t">
            <a:spAutoFit/>
          </a:bodyPr>
          <a:lstStyle/>
          <a:p>
            <a:pPr algn="ctr">
              <a:lnSpc>
                <a:spcPts val="2780"/>
              </a:lnSpc>
            </a:pPr>
            <a:r>
              <a:rPr lang="en-US" sz="1986" b="1" spc="-39">
                <a:solidFill>
                  <a:srgbClr val="545454"/>
                </a:solidFill>
                <a:latin typeface="Lato Bold"/>
                <a:ea typeface="Lato Bold"/>
                <a:cs typeface="Lato Bold"/>
                <a:sym typeface="Lato Bold"/>
              </a:rPr>
              <a:t>JSON Response</a:t>
            </a:r>
          </a:p>
        </p:txBody>
      </p:sp>
      <p:sp>
        <p:nvSpPr>
          <p:cNvPr id="18" name="Freeform 18"/>
          <p:cNvSpPr/>
          <p:nvPr/>
        </p:nvSpPr>
        <p:spPr>
          <a:xfrm>
            <a:off x="2176622" y="7707051"/>
            <a:ext cx="13726938" cy="1300906"/>
          </a:xfrm>
          <a:custGeom>
            <a:avLst/>
            <a:gdLst/>
            <a:ahLst/>
            <a:cxnLst/>
            <a:rect l="l" t="t" r="r" b="b"/>
            <a:pathLst>
              <a:path w="13726938" h="1300906">
                <a:moveTo>
                  <a:pt x="0" y="0"/>
                </a:moveTo>
                <a:lnTo>
                  <a:pt x="13726938" y="0"/>
                </a:lnTo>
                <a:lnTo>
                  <a:pt x="13726938" y="1300906"/>
                </a:lnTo>
                <a:lnTo>
                  <a:pt x="0" y="1300906"/>
                </a:lnTo>
                <a:lnTo>
                  <a:pt x="0" y="0"/>
                </a:lnTo>
                <a:close/>
              </a:path>
            </a:pathLst>
          </a:custGeom>
          <a:blipFill>
            <a:blip r:embed="rId11"/>
            <a:stretch>
              <a:fillRect/>
            </a:stretch>
          </a:blipFill>
        </p:spPr>
        <p:txBody>
          <a:bodyPr/>
          <a:lstStyle/>
          <a:p>
            <a:endParaRPr lang="de-DE"/>
          </a:p>
        </p:txBody>
      </p:sp>
      <p:sp>
        <p:nvSpPr>
          <p:cNvPr id="19" name="TextBox 19"/>
          <p:cNvSpPr txBox="1"/>
          <p:nvPr/>
        </p:nvSpPr>
        <p:spPr>
          <a:xfrm>
            <a:off x="2903035" y="8138011"/>
            <a:ext cx="12142601" cy="469036"/>
          </a:xfrm>
          <a:prstGeom prst="rect">
            <a:avLst/>
          </a:prstGeom>
        </p:spPr>
        <p:txBody>
          <a:bodyPr lIns="0" tIns="0" rIns="0" bIns="0" rtlCol="0" anchor="t">
            <a:spAutoFit/>
          </a:bodyPr>
          <a:lstStyle/>
          <a:p>
            <a:pPr algn="ctr">
              <a:lnSpc>
                <a:spcPts val="3863"/>
              </a:lnSpc>
            </a:pPr>
            <a:r>
              <a:rPr lang="en-US" sz="2759" b="1" spc="-55">
                <a:solidFill>
                  <a:srgbClr val="264237"/>
                </a:solidFill>
                <a:latin typeface="Lato Bold"/>
                <a:ea typeface="Lato Bold"/>
                <a:cs typeface="Lato Bold"/>
                <a:sym typeface="Lato Bold"/>
              </a:rPr>
              <a:t>Die STAC API definiert die Schnittstelle, nicht die interne Speicherung.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de-DE"/>
          </a:p>
        </p:txBody>
      </p:sp>
      <p:sp>
        <p:nvSpPr>
          <p:cNvPr id="3" name="TextBox 3"/>
          <p:cNvSpPr txBox="1"/>
          <p:nvPr/>
        </p:nvSpPr>
        <p:spPr>
          <a:xfrm>
            <a:off x="699106" y="1017345"/>
            <a:ext cx="13135465" cy="759093"/>
          </a:xfrm>
          <a:prstGeom prst="rect">
            <a:avLst/>
          </a:prstGeom>
        </p:spPr>
        <p:txBody>
          <a:bodyPr lIns="0" tIns="0" rIns="0" bIns="0" rtlCol="0" anchor="t">
            <a:spAutoFit/>
          </a:bodyPr>
          <a:lstStyle/>
          <a:p>
            <a:pPr algn="l">
              <a:lnSpc>
                <a:spcPts val="6002"/>
              </a:lnSpc>
            </a:pPr>
            <a:r>
              <a:rPr lang="en-US" sz="5000" b="1" spc="-100">
                <a:solidFill>
                  <a:srgbClr val="264137"/>
                </a:solidFill>
                <a:latin typeface="Lato Bold"/>
                <a:ea typeface="Lato Bold"/>
                <a:cs typeface="Lato Bold"/>
                <a:sym typeface="Lato Bold"/>
              </a:rPr>
              <a:t>Foundation Specifications &amp; Conformance</a:t>
            </a:r>
          </a:p>
        </p:txBody>
      </p:sp>
      <p:sp>
        <p:nvSpPr>
          <p:cNvPr id="4" name="TextBox 4"/>
          <p:cNvSpPr txBox="1"/>
          <p:nvPr/>
        </p:nvSpPr>
        <p:spPr>
          <a:xfrm>
            <a:off x="796178" y="2051007"/>
            <a:ext cx="15677469" cy="713964"/>
          </a:xfrm>
          <a:prstGeom prst="rect">
            <a:avLst/>
          </a:prstGeom>
        </p:spPr>
        <p:txBody>
          <a:bodyPr lIns="0" tIns="0" rIns="0" bIns="0" rtlCol="0" anchor="t">
            <a:spAutoFit/>
          </a:bodyPr>
          <a:lstStyle/>
          <a:p>
            <a:pPr algn="l">
              <a:lnSpc>
                <a:spcPts val="2932"/>
              </a:lnSpc>
            </a:pPr>
            <a:r>
              <a:rPr lang="en-US" sz="2443" b="1" spc="-48">
                <a:solidFill>
                  <a:srgbClr val="666666"/>
                </a:solidFill>
                <a:latin typeface="Lato Bold"/>
                <a:ea typeface="Lato Bold"/>
                <a:cs typeface="Lato Bold"/>
                <a:sym typeface="Lato Bold"/>
              </a:rPr>
              <a:t>Die STAC API ist modular aufgebaut. Das bedeutet, dass nicht jeder Server alle Funktionen unterstützen muss.</a:t>
            </a:r>
          </a:p>
          <a:p>
            <a:pPr algn="l">
              <a:lnSpc>
                <a:spcPts val="2932"/>
              </a:lnSpc>
            </a:pPr>
            <a:endParaRPr lang="en-US" sz="2443" b="1" spc="-48">
              <a:solidFill>
                <a:srgbClr val="666666"/>
              </a:solidFill>
              <a:latin typeface="Lato Bold"/>
              <a:ea typeface="Lato Bold"/>
              <a:cs typeface="Lato Bold"/>
              <a:sym typeface="Lato Bold"/>
            </a:endParaRPr>
          </a:p>
        </p:txBody>
      </p:sp>
      <p:sp>
        <p:nvSpPr>
          <p:cNvPr id="5" name="Freeform 5"/>
          <p:cNvSpPr/>
          <p:nvPr/>
        </p:nvSpPr>
        <p:spPr>
          <a:xfrm>
            <a:off x="645330" y="2995365"/>
            <a:ext cx="5457962" cy="4722618"/>
          </a:xfrm>
          <a:custGeom>
            <a:avLst/>
            <a:gdLst/>
            <a:ahLst/>
            <a:cxnLst/>
            <a:rect l="l" t="t" r="r" b="b"/>
            <a:pathLst>
              <a:path w="5457962" h="4722618">
                <a:moveTo>
                  <a:pt x="0" y="0"/>
                </a:moveTo>
                <a:lnTo>
                  <a:pt x="5457962" y="0"/>
                </a:lnTo>
                <a:lnTo>
                  <a:pt x="5457962" y="4722618"/>
                </a:lnTo>
                <a:lnTo>
                  <a:pt x="0" y="4722618"/>
                </a:lnTo>
                <a:lnTo>
                  <a:pt x="0" y="0"/>
                </a:lnTo>
                <a:close/>
              </a:path>
            </a:pathLst>
          </a:custGeom>
          <a:blipFill>
            <a:blip r:embed="rId3"/>
            <a:stretch>
              <a:fillRect/>
            </a:stretch>
          </a:blipFill>
        </p:spPr>
        <p:txBody>
          <a:bodyPr/>
          <a:lstStyle/>
          <a:p>
            <a:endParaRPr lang="de-DE"/>
          </a:p>
        </p:txBody>
      </p:sp>
      <p:sp>
        <p:nvSpPr>
          <p:cNvPr id="6" name="Freeform 6"/>
          <p:cNvSpPr/>
          <p:nvPr/>
        </p:nvSpPr>
        <p:spPr>
          <a:xfrm>
            <a:off x="645330" y="2995365"/>
            <a:ext cx="5457962" cy="437279"/>
          </a:xfrm>
          <a:custGeom>
            <a:avLst/>
            <a:gdLst/>
            <a:ahLst/>
            <a:cxnLst/>
            <a:rect l="l" t="t" r="r" b="b"/>
            <a:pathLst>
              <a:path w="5457962" h="437279">
                <a:moveTo>
                  <a:pt x="0" y="0"/>
                </a:moveTo>
                <a:lnTo>
                  <a:pt x="5457962" y="0"/>
                </a:lnTo>
                <a:lnTo>
                  <a:pt x="5457962" y="437279"/>
                </a:lnTo>
                <a:lnTo>
                  <a:pt x="0" y="437279"/>
                </a:lnTo>
                <a:lnTo>
                  <a:pt x="0" y="0"/>
                </a:lnTo>
                <a:close/>
              </a:path>
            </a:pathLst>
          </a:custGeom>
          <a:blipFill>
            <a:blip r:embed="rId4"/>
            <a:stretch>
              <a:fillRect/>
            </a:stretch>
          </a:blipFill>
        </p:spPr>
        <p:txBody>
          <a:bodyPr/>
          <a:lstStyle/>
          <a:p>
            <a:endParaRPr lang="de-DE"/>
          </a:p>
        </p:txBody>
      </p:sp>
      <p:sp>
        <p:nvSpPr>
          <p:cNvPr id="7" name="TextBox 7"/>
          <p:cNvSpPr txBox="1"/>
          <p:nvPr/>
        </p:nvSpPr>
        <p:spPr>
          <a:xfrm>
            <a:off x="1253808" y="3442140"/>
            <a:ext cx="527795" cy="1116031"/>
          </a:xfrm>
          <a:prstGeom prst="rect">
            <a:avLst/>
          </a:prstGeom>
        </p:spPr>
        <p:txBody>
          <a:bodyPr lIns="0" tIns="0" rIns="0" bIns="0" rtlCol="0" anchor="t">
            <a:spAutoFit/>
          </a:bodyPr>
          <a:lstStyle/>
          <a:p>
            <a:pPr algn="l">
              <a:lnSpc>
                <a:spcPts val="8826"/>
              </a:lnSpc>
            </a:pPr>
            <a:r>
              <a:rPr lang="en-US" sz="7354" b="1" spc="-147">
                <a:solidFill>
                  <a:srgbClr val="264137"/>
                </a:solidFill>
                <a:latin typeface="Lato Bold"/>
                <a:ea typeface="Lato Bold"/>
                <a:cs typeface="Lato Bold"/>
                <a:sym typeface="Lato Bold"/>
              </a:rPr>
              <a:t>1</a:t>
            </a:r>
          </a:p>
        </p:txBody>
      </p:sp>
      <p:sp>
        <p:nvSpPr>
          <p:cNvPr id="8" name="TextBox 8"/>
          <p:cNvSpPr txBox="1"/>
          <p:nvPr/>
        </p:nvSpPr>
        <p:spPr>
          <a:xfrm>
            <a:off x="1248294" y="4812677"/>
            <a:ext cx="1079158" cy="562777"/>
          </a:xfrm>
          <a:prstGeom prst="rect">
            <a:avLst/>
          </a:prstGeom>
        </p:spPr>
        <p:txBody>
          <a:bodyPr lIns="0" tIns="0" rIns="0" bIns="0" rtlCol="0" anchor="t">
            <a:spAutoFit/>
          </a:bodyPr>
          <a:lstStyle/>
          <a:p>
            <a:pPr algn="l">
              <a:lnSpc>
                <a:spcPts val="4456"/>
              </a:lnSpc>
            </a:pPr>
            <a:r>
              <a:rPr lang="en-US" sz="3713" b="1" spc="-74">
                <a:solidFill>
                  <a:srgbClr val="264137"/>
                </a:solidFill>
                <a:latin typeface="Lato Bold"/>
                <a:ea typeface="Lato Bold"/>
                <a:cs typeface="Lato Bold"/>
                <a:sym typeface="Lato Bold"/>
              </a:rPr>
              <a:t>Core</a:t>
            </a:r>
          </a:p>
        </p:txBody>
      </p:sp>
      <p:sp>
        <p:nvSpPr>
          <p:cNvPr id="9" name="Freeform 9"/>
          <p:cNvSpPr/>
          <p:nvPr/>
        </p:nvSpPr>
        <p:spPr>
          <a:xfrm>
            <a:off x="1082842" y="5564382"/>
            <a:ext cx="885962" cy="229572"/>
          </a:xfrm>
          <a:custGeom>
            <a:avLst/>
            <a:gdLst/>
            <a:ahLst/>
            <a:cxnLst/>
            <a:rect l="l" t="t" r="r" b="b"/>
            <a:pathLst>
              <a:path w="885962" h="229572">
                <a:moveTo>
                  <a:pt x="0" y="0"/>
                </a:moveTo>
                <a:lnTo>
                  <a:pt x="885962" y="0"/>
                </a:lnTo>
                <a:lnTo>
                  <a:pt x="885962" y="229571"/>
                </a:lnTo>
                <a:lnTo>
                  <a:pt x="0" y="229571"/>
                </a:lnTo>
                <a:lnTo>
                  <a:pt x="0" y="0"/>
                </a:lnTo>
                <a:close/>
              </a:path>
            </a:pathLst>
          </a:custGeom>
          <a:blipFill>
            <a:blip r:embed="rId5"/>
            <a:stretch>
              <a:fillRect/>
            </a:stretch>
          </a:blipFill>
        </p:spPr>
        <p:txBody>
          <a:bodyPr/>
          <a:lstStyle/>
          <a:p>
            <a:endParaRPr lang="de-DE"/>
          </a:p>
        </p:txBody>
      </p:sp>
      <p:sp>
        <p:nvSpPr>
          <p:cNvPr id="10" name="Freeform 10"/>
          <p:cNvSpPr/>
          <p:nvPr/>
        </p:nvSpPr>
        <p:spPr>
          <a:xfrm>
            <a:off x="6311110" y="2995365"/>
            <a:ext cx="5447024" cy="4722618"/>
          </a:xfrm>
          <a:custGeom>
            <a:avLst/>
            <a:gdLst/>
            <a:ahLst/>
            <a:cxnLst/>
            <a:rect l="l" t="t" r="r" b="b"/>
            <a:pathLst>
              <a:path w="5447024" h="4722618">
                <a:moveTo>
                  <a:pt x="0" y="0"/>
                </a:moveTo>
                <a:lnTo>
                  <a:pt x="5447024" y="0"/>
                </a:lnTo>
                <a:lnTo>
                  <a:pt x="5447024" y="4722618"/>
                </a:lnTo>
                <a:lnTo>
                  <a:pt x="0" y="4722618"/>
                </a:lnTo>
                <a:lnTo>
                  <a:pt x="0" y="0"/>
                </a:lnTo>
                <a:close/>
              </a:path>
            </a:pathLst>
          </a:custGeom>
          <a:blipFill>
            <a:blip r:embed="rId6"/>
            <a:stretch>
              <a:fillRect/>
            </a:stretch>
          </a:blipFill>
        </p:spPr>
        <p:txBody>
          <a:bodyPr/>
          <a:lstStyle/>
          <a:p>
            <a:endParaRPr lang="de-DE"/>
          </a:p>
        </p:txBody>
      </p:sp>
      <p:sp>
        <p:nvSpPr>
          <p:cNvPr id="11" name="Freeform 11"/>
          <p:cNvSpPr/>
          <p:nvPr/>
        </p:nvSpPr>
        <p:spPr>
          <a:xfrm>
            <a:off x="6311110" y="2995365"/>
            <a:ext cx="5447024" cy="437279"/>
          </a:xfrm>
          <a:custGeom>
            <a:avLst/>
            <a:gdLst/>
            <a:ahLst/>
            <a:cxnLst/>
            <a:rect l="l" t="t" r="r" b="b"/>
            <a:pathLst>
              <a:path w="5447024" h="437279">
                <a:moveTo>
                  <a:pt x="0" y="0"/>
                </a:moveTo>
                <a:lnTo>
                  <a:pt x="5447024" y="0"/>
                </a:lnTo>
                <a:lnTo>
                  <a:pt x="5447024" y="437279"/>
                </a:lnTo>
                <a:lnTo>
                  <a:pt x="0" y="437279"/>
                </a:lnTo>
                <a:lnTo>
                  <a:pt x="0" y="0"/>
                </a:lnTo>
                <a:close/>
              </a:path>
            </a:pathLst>
          </a:custGeom>
          <a:blipFill>
            <a:blip r:embed="rId7"/>
            <a:stretch>
              <a:fillRect/>
            </a:stretch>
          </a:blipFill>
        </p:spPr>
        <p:txBody>
          <a:bodyPr/>
          <a:lstStyle/>
          <a:p>
            <a:endParaRPr lang="de-DE"/>
          </a:p>
        </p:txBody>
      </p:sp>
      <p:sp>
        <p:nvSpPr>
          <p:cNvPr id="12" name="TextBox 12"/>
          <p:cNvSpPr txBox="1"/>
          <p:nvPr/>
        </p:nvSpPr>
        <p:spPr>
          <a:xfrm>
            <a:off x="6852722" y="3442140"/>
            <a:ext cx="527795" cy="1116031"/>
          </a:xfrm>
          <a:prstGeom prst="rect">
            <a:avLst/>
          </a:prstGeom>
        </p:spPr>
        <p:txBody>
          <a:bodyPr lIns="0" tIns="0" rIns="0" bIns="0" rtlCol="0" anchor="t">
            <a:spAutoFit/>
          </a:bodyPr>
          <a:lstStyle/>
          <a:p>
            <a:pPr algn="l">
              <a:lnSpc>
                <a:spcPts val="8826"/>
              </a:lnSpc>
            </a:pPr>
            <a:r>
              <a:rPr lang="en-US" sz="7354" b="1" spc="-147">
                <a:solidFill>
                  <a:srgbClr val="264137"/>
                </a:solidFill>
                <a:latin typeface="Lato Bold"/>
                <a:ea typeface="Lato Bold"/>
                <a:cs typeface="Lato Bold"/>
                <a:sym typeface="Lato Bold"/>
              </a:rPr>
              <a:t>2</a:t>
            </a:r>
          </a:p>
        </p:txBody>
      </p:sp>
      <p:sp>
        <p:nvSpPr>
          <p:cNvPr id="13" name="TextBox 13"/>
          <p:cNvSpPr txBox="1"/>
          <p:nvPr/>
        </p:nvSpPr>
        <p:spPr>
          <a:xfrm>
            <a:off x="6830071" y="4812677"/>
            <a:ext cx="2792905" cy="562777"/>
          </a:xfrm>
          <a:prstGeom prst="rect">
            <a:avLst/>
          </a:prstGeom>
        </p:spPr>
        <p:txBody>
          <a:bodyPr lIns="0" tIns="0" rIns="0" bIns="0" rtlCol="0" anchor="t">
            <a:spAutoFit/>
          </a:bodyPr>
          <a:lstStyle/>
          <a:p>
            <a:pPr algn="l">
              <a:lnSpc>
                <a:spcPts val="4456"/>
              </a:lnSpc>
            </a:pPr>
            <a:r>
              <a:rPr lang="en-US" sz="3713" b="1" spc="-74">
                <a:solidFill>
                  <a:srgbClr val="264137"/>
                </a:solidFill>
                <a:latin typeface="Lato Bold"/>
                <a:ea typeface="Lato Bold"/>
                <a:cs typeface="Lato Bold"/>
                <a:sym typeface="Lato Bold"/>
              </a:rPr>
              <a:t>Item Search</a:t>
            </a:r>
          </a:p>
        </p:txBody>
      </p:sp>
      <p:sp>
        <p:nvSpPr>
          <p:cNvPr id="14" name="Freeform 14"/>
          <p:cNvSpPr/>
          <p:nvPr/>
        </p:nvSpPr>
        <p:spPr>
          <a:xfrm>
            <a:off x="6748622" y="5564382"/>
            <a:ext cx="875024" cy="229572"/>
          </a:xfrm>
          <a:custGeom>
            <a:avLst/>
            <a:gdLst/>
            <a:ahLst/>
            <a:cxnLst/>
            <a:rect l="l" t="t" r="r" b="b"/>
            <a:pathLst>
              <a:path w="875024" h="229572">
                <a:moveTo>
                  <a:pt x="0" y="0"/>
                </a:moveTo>
                <a:lnTo>
                  <a:pt x="875024" y="0"/>
                </a:lnTo>
                <a:lnTo>
                  <a:pt x="875024" y="229571"/>
                </a:lnTo>
                <a:lnTo>
                  <a:pt x="0" y="229571"/>
                </a:lnTo>
                <a:lnTo>
                  <a:pt x="0" y="0"/>
                </a:lnTo>
                <a:close/>
              </a:path>
            </a:pathLst>
          </a:custGeom>
          <a:blipFill>
            <a:blip r:embed="rId8"/>
            <a:stretch>
              <a:fillRect/>
            </a:stretch>
          </a:blipFill>
        </p:spPr>
        <p:txBody>
          <a:bodyPr/>
          <a:lstStyle/>
          <a:p>
            <a:endParaRPr lang="de-DE"/>
          </a:p>
        </p:txBody>
      </p:sp>
      <p:sp>
        <p:nvSpPr>
          <p:cNvPr id="15" name="Freeform 15"/>
          <p:cNvSpPr/>
          <p:nvPr/>
        </p:nvSpPr>
        <p:spPr>
          <a:xfrm>
            <a:off x="11965952" y="2995365"/>
            <a:ext cx="5457962" cy="4722618"/>
          </a:xfrm>
          <a:custGeom>
            <a:avLst/>
            <a:gdLst/>
            <a:ahLst/>
            <a:cxnLst/>
            <a:rect l="l" t="t" r="r" b="b"/>
            <a:pathLst>
              <a:path w="5457962" h="4722618">
                <a:moveTo>
                  <a:pt x="0" y="0"/>
                </a:moveTo>
                <a:lnTo>
                  <a:pt x="5457962" y="0"/>
                </a:lnTo>
                <a:lnTo>
                  <a:pt x="5457962" y="4722618"/>
                </a:lnTo>
                <a:lnTo>
                  <a:pt x="0" y="4722618"/>
                </a:lnTo>
                <a:lnTo>
                  <a:pt x="0" y="0"/>
                </a:lnTo>
                <a:close/>
              </a:path>
            </a:pathLst>
          </a:custGeom>
          <a:blipFill>
            <a:blip r:embed="rId9"/>
            <a:stretch>
              <a:fillRect/>
            </a:stretch>
          </a:blipFill>
        </p:spPr>
        <p:txBody>
          <a:bodyPr/>
          <a:lstStyle/>
          <a:p>
            <a:endParaRPr lang="de-DE"/>
          </a:p>
        </p:txBody>
      </p:sp>
      <p:sp>
        <p:nvSpPr>
          <p:cNvPr id="16" name="Freeform 16"/>
          <p:cNvSpPr/>
          <p:nvPr/>
        </p:nvSpPr>
        <p:spPr>
          <a:xfrm>
            <a:off x="11965952" y="2995365"/>
            <a:ext cx="5457962" cy="437279"/>
          </a:xfrm>
          <a:custGeom>
            <a:avLst/>
            <a:gdLst/>
            <a:ahLst/>
            <a:cxnLst/>
            <a:rect l="l" t="t" r="r" b="b"/>
            <a:pathLst>
              <a:path w="5457962" h="437279">
                <a:moveTo>
                  <a:pt x="0" y="0"/>
                </a:moveTo>
                <a:lnTo>
                  <a:pt x="5457962" y="0"/>
                </a:lnTo>
                <a:lnTo>
                  <a:pt x="5457962" y="437279"/>
                </a:lnTo>
                <a:lnTo>
                  <a:pt x="0" y="437279"/>
                </a:lnTo>
                <a:lnTo>
                  <a:pt x="0" y="0"/>
                </a:lnTo>
                <a:close/>
              </a:path>
            </a:pathLst>
          </a:custGeom>
          <a:blipFill>
            <a:blip r:embed="rId10"/>
            <a:stretch>
              <a:fillRect/>
            </a:stretch>
          </a:blipFill>
        </p:spPr>
        <p:txBody>
          <a:bodyPr/>
          <a:lstStyle/>
          <a:p>
            <a:endParaRPr lang="de-DE"/>
          </a:p>
        </p:txBody>
      </p:sp>
      <p:sp>
        <p:nvSpPr>
          <p:cNvPr id="17" name="TextBox 17"/>
          <p:cNvSpPr txBox="1"/>
          <p:nvPr/>
        </p:nvSpPr>
        <p:spPr>
          <a:xfrm>
            <a:off x="12532003" y="3442140"/>
            <a:ext cx="527795" cy="1116031"/>
          </a:xfrm>
          <a:prstGeom prst="rect">
            <a:avLst/>
          </a:prstGeom>
        </p:spPr>
        <p:txBody>
          <a:bodyPr lIns="0" tIns="0" rIns="0" bIns="0" rtlCol="0" anchor="t">
            <a:spAutoFit/>
          </a:bodyPr>
          <a:lstStyle/>
          <a:p>
            <a:pPr algn="l">
              <a:lnSpc>
                <a:spcPts val="8826"/>
              </a:lnSpc>
            </a:pPr>
            <a:r>
              <a:rPr lang="en-US" sz="7354" b="1" spc="-147">
                <a:solidFill>
                  <a:srgbClr val="264137"/>
                </a:solidFill>
                <a:latin typeface="Lato Bold"/>
                <a:ea typeface="Lato Bold"/>
                <a:cs typeface="Lato Bold"/>
                <a:sym typeface="Lato Bold"/>
              </a:rPr>
              <a:t>3</a:t>
            </a:r>
          </a:p>
        </p:txBody>
      </p:sp>
      <p:sp>
        <p:nvSpPr>
          <p:cNvPr id="18" name="TextBox 18"/>
          <p:cNvSpPr txBox="1"/>
          <p:nvPr/>
        </p:nvSpPr>
        <p:spPr>
          <a:xfrm>
            <a:off x="12516794" y="4812677"/>
            <a:ext cx="2048716" cy="562777"/>
          </a:xfrm>
          <a:prstGeom prst="rect">
            <a:avLst/>
          </a:prstGeom>
        </p:spPr>
        <p:txBody>
          <a:bodyPr lIns="0" tIns="0" rIns="0" bIns="0" rtlCol="0" anchor="t">
            <a:spAutoFit/>
          </a:bodyPr>
          <a:lstStyle/>
          <a:p>
            <a:pPr algn="l">
              <a:lnSpc>
                <a:spcPts val="4456"/>
              </a:lnSpc>
            </a:pPr>
            <a:r>
              <a:rPr lang="en-US" sz="3713" b="1" spc="-74">
                <a:solidFill>
                  <a:srgbClr val="264137"/>
                </a:solidFill>
                <a:latin typeface="Lato Bold"/>
                <a:ea typeface="Lato Bold"/>
                <a:cs typeface="Lato Bold"/>
                <a:sym typeface="Lato Bold"/>
              </a:rPr>
              <a:t>Features</a:t>
            </a:r>
          </a:p>
        </p:txBody>
      </p:sp>
      <p:sp>
        <p:nvSpPr>
          <p:cNvPr id="19" name="Freeform 19"/>
          <p:cNvSpPr/>
          <p:nvPr/>
        </p:nvSpPr>
        <p:spPr>
          <a:xfrm>
            <a:off x="12403464" y="5564382"/>
            <a:ext cx="885962" cy="229572"/>
          </a:xfrm>
          <a:custGeom>
            <a:avLst/>
            <a:gdLst/>
            <a:ahLst/>
            <a:cxnLst/>
            <a:rect l="l" t="t" r="r" b="b"/>
            <a:pathLst>
              <a:path w="885962" h="229572">
                <a:moveTo>
                  <a:pt x="0" y="0"/>
                </a:moveTo>
                <a:lnTo>
                  <a:pt x="885962" y="0"/>
                </a:lnTo>
                <a:lnTo>
                  <a:pt x="885962" y="229571"/>
                </a:lnTo>
                <a:lnTo>
                  <a:pt x="0" y="229571"/>
                </a:lnTo>
                <a:lnTo>
                  <a:pt x="0" y="0"/>
                </a:lnTo>
                <a:close/>
              </a:path>
            </a:pathLst>
          </a:custGeom>
          <a:blipFill>
            <a:blip r:embed="rId11"/>
            <a:stretch>
              <a:fillRect/>
            </a:stretch>
          </a:blipFill>
        </p:spPr>
        <p:txBody>
          <a:bodyPr/>
          <a:lstStyle/>
          <a:p>
            <a:endParaRPr lang="de-DE"/>
          </a:p>
        </p:txBody>
      </p:sp>
      <p:sp>
        <p:nvSpPr>
          <p:cNvPr id="20" name="Freeform 20"/>
          <p:cNvSpPr/>
          <p:nvPr/>
        </p:nvSpPr>
        <p:spPr>
          <a:xfrm>
            <a:off x="645330" y="7925691"/>
            <a:ext cx="16778584" cy="1082267"/>
          </a:xfrm>
          <a:custGeom>
            <a:avLst/>
            <a:gdLst/>
            <a:ahLst/>
            <a:cxnLst/>
            <a:rect l="l" t="t" r="r" b="b"/>
            <a:pathLst>
              <a:path w="16778584" h="1082267">
                <a:moveTo>
                  <a:pt x="0" y="0"/>
                </a:moveTo>
                <a:lnTo>
                  <a:pt x="16778584" y="0"/>
                </a:lnTo>
                <a:lnTo>
                  <a:pt x="16778584" y="1082266"/>
                </a:lnTo>
                <a:lnTo>
                  <a:pt x="0" y="1082266"/>
                </a:lnTo>
                <a:lnTo>
                  <a:pt x="0" y="0"/>
                </a:lnTo>
                <a:close/>
              </a:path>
            </a:pathLst>
          </a:custGeom>
          <a:blipFill>
            <a:blip r:embed="rId12"/>
            <a:stretch>
              <a:fillRect/>
            </a:stretch>
          </a:blipFill>
        </p:spPr>
        <p:txBody>
          <a:bodyPr/>
          <a:lstStyle/>
          <a:p>
            <a:endParaRPr lang="de-DE"/>
          </a:p>
        </p:txBody>
      </p:sp>
      <p:sp>
        <p:nvSpPr>
          <p:cNvPr id="21" name="TextBox 21"/>
          <p:cNvSpPr txBox="1"/>
          <p:nvPr/>
        </p:nvSpPr>
        <p:spPr>
          <a:xfrm>
            <a:off x="699106" y="8301256"/>
            <a:ext cx="16392316" cy="399983"/>
          </a:xfrm>
          <a:prstGeom prst="rect">
            <a:avLst/>
          </a:prstGeom>
        </p:spPr>
        <p:txBody>
          <a:bodyPr lIns="0" tIns="0" rIns="0" bIns="0" rtlCol="0" anchor="t">
            <a:spAutoFit/>
          </a:bodyPr>
          <a:lstStyle/>
          <a:p>
            <a:pPr algn="ctr">
              <a:lnSpc>
                <a:spcPts val="3185"/>
              </a:lnSpc>
            </a:pPr>
            <a:r>
              <a:rPr lang="en-US" sz="2654" b="1" spc="-53">
                <a:solidFill>
                  <a:srgbClr val="F4F4F4"/>
                </a:solidFill>
                <a:latin typeface="Lato Bold"/>
                <a:ea typeface="Lato Bold"/>
                <a:cs typeface="Lato Bold"/>
                <a:sym typeface="Lato Bold"/>
              </a:rPr>
              <a:t>Das </a:t>
            </a:r>
            <a:r>
              <a:rPr lang="en-US" sz="2654" b="1" spc="-53">
                <a:solidFill>
                  <a:srgbClr val="F6F6F6"/>
                </a:solidFill>
                <a:latin typeface="Lato Bold"/>
                <a:ea typeface="Lato Bold"/>
                <a:cs typeface="Lato Bold"/>
                <a:sym typeface="Lato Bold"/>
              </a:rPr>
              <a:t>Feld </a:t>
            </a:r>
            <a:r>
              <a:rPr lang="en-US" sz="2654" b="1" spc="-53">
                <a:solidFill>
                  <a:srgbClr val="8AAD69"/>
                </a:solidFill>
                <a:latin typeface="Lato Bold"/>
                <a:ea typeface="Lato Bold"/>
                <a:cs typeface="Lato Bold"/>
                <a:sym typeface="Lato Bold"/>
              </a:rPr>
              <a:t>conformsTo</a:t>
            </a:r>
            <a:r>
              <a:rPr lang="en-US" sz="2654" spc="-53">
                <a:solidFill>
                  <a:srgbClr val="FFFFFF"/>
                </a:solidFill>
                <a:latin typeface="Lato"/>
                <a:ea typeface="Lato"/>
                <a:cs typeface="Lato"/>
                <a:sym typeface="Lato"/>
              </a:rPr>
              <a:t> </a:t>
            </a:r>
            <a:r>
              <a:rPr lang="en-US" sz="2654" spc="-53">
                <a:solidFill>
                  <a:srgbClr val="F6F6F6"/>
                </a:solidFill>
                <a:latin typeface="Lato"/>
                <a:ea typeface="Lato"/>
                <a:cs typeface="Lato"/>
                <a:sym typeface="Lato"/>
              </a:rPr>
              <a:t>auf der Landing Page </a:t>
            </a:r>
            <a:r>
              <a:rPr lang="en-US" sz="2654" spc="-53">
                <a:solidFill>
                  <a:srgbClr val="FFFFFF"/>
                </a:solidFill>
                <a:latin typeface="Lato"/>
                <a:ea typeface="Lato"/>
                <a:cs typeface="Lato"/>
                <a:sym typeface="Lato"/>
              </a:rPr>
              <a:t>zeigt, welche Spezifikationsbausteine ein Server unterstützt.</a:t>
            </a:r>
          </a:p>
        </p:txBody>
      </p:sp>
      <p:sp>
        <p:nvSpPr>
          <p:cNvPr id="22" name="TextBox 22"/>
          <p:cNvSpPr txBox="1"/>
          <p:nvPr/>
        </p:nvSpPr>
        <p:spPr>
          <a:xfrm>
            <a:off x="12537281" y="6158140"/>
            <a:ext cx="4554141" cy="973391"/>
          </a:xfrm>
          <a:prstGeom prst="rect">
            <a:avLst/>
          </a:prstGeom>
        </p:spPr>
        <p:txBody>
          <a:bodyPr lIns="0" tIns="0" rIns="0" bIns="0" rtlCol="0" anchor="t">
            <a:spAutoFit/>
          </a:bodyPr>
          <a:lstStyle/>
          <a:p>
            <a:pPr algn="l">
              <a:lnSpc>
                <a:spcPts val="2626"/>
              </a:lnSpc>
            </a:pPr>
            <a:r>
              <a:rPr lang="en-US" sz="2188" b="1" spc="-43">
                <a:solidFill>
                  <a:srgbClr val="666666"/>
                </a:solidFill>
                <a:latin typeface="Lato Bold"/>
                <a:ea typeface="Lato Bold"/>
                <a:cs typeface="Lato Bold"/>
                <a:sym typeface="Lato Bold"/>
              </a:rPr>
              <a:t>Stellt Collections und Items über Endpunkte bereit</a:t>
            </a:r>
          </a:p>
          <a:p>
            <a:pPr algn="l">
              <a:lnSpc>
                <a:spcPts val="2626"/>
              </a:lnSpc>
            </a:pPr>
            <a:endParaRPr lang="en-US" sz="2188" b="1" spc="-43">
              <a:solidFill>
                <a:srgbClr val="666666"/>
              </a:solidFill>
              <a:latin typeface="Lato Bold"/>
              <a:ea typeface="Lato Bold"/>
              <a:cs typeface="Lato Bold"/>
              <a:sym typeface="Lato Bold"/>
            </a:endParaRPr>
          </a:p>
        </p:txBody>
      </p:sp>
      <p:sp>
        <p:nvSpPr>
          <p:cNvPr id="23" name="TextBox 23"/>
          <p:cNvSpPr txBox="1"/>
          <p:nvPr/>
        </p:nvSpPr>
        <p:spPr>
          <a:xfrm>
            <a:off x="6858000" y="6158140"/>
            <a:ext cx="4554141" cy="652093"/>
          </a:xfrm>
          <a:prstGeom prst="rect">
            <a:avLst/>
          </a:prstGeom>
        </p:spPr>
        <p:txBody>
          <a:bodyPr lIns="0" tIns="0" rIns="0" bIns="0" rtlCol="0" anchor="t">
            <a:spAutoFit/>
          </a:bodyPr>
          <a:lstStyle/>
          <a:p>
            <a:pPr algn="l">
              <a:lnSpc>
                <a:spcPts val="2626"/>
              </a:lnSpc>
            </a:pPr>
            <a:r>
              <a:rPr lang="en-US" sz="2188" b="1" spc="-43">
                <a:solidFill>
                  <a:srgbClr val="666666"/>
                </a:solidFill>
                <a:latin typeface="Lato Bold"/>
                <a:ea typeface="Lato Bold"/>
                <a:cs typeface="Lato Bold"/>
                <a:sym typeface="Lato Bold"/>
              </a:rPr>
              <a:t>Ermöglicht die Suche nach Items über</a:t>
            </a:r>
          </a:p>
          <a:p>
            <a:pPr algn="l">
              <a:lnSpc>
                <a:spcPts val="2626"/>
              </a:lnSpc>
            </a:pPr>
            <a:endParaRPr lang="en-US" sz="2188" b="1" spc="-43">
              <a:solidFill>
                <a:srgbClr val="666666"/>
              </a:solidFill>
              <a:latin typeface="Lato Bold"/>
              <a:ea typeface="Lato Bold"/>
              <a:cs typeface="Lato Bold"/>
              <a:sym typeface="Lato Bold"/>
            </a:endParaRPr>
          </a:p>
        </p:txBody>
      </p:sp>
      <p:sp>
        <p:nvSpPr>
          <p:cNvPr id="24" name="TextBox 24"/>
          <p:cNvSpPr txBox="1"/>
          <p:nvPr/>
        </p:nvSpPr>
        <p:spPr>
          <a:xfrm>
            <a:off x="1259086" y="6158140"/>
            <a:ext cx="4554141" cy="973391"/>
          </a:xfrm>
          <a:prstGeom prst="rect">
            <a:avLst/>
          </a:prstGeom>
        </p:spPr>
        <p:txBody>
          <a:bodyPr lIns="0" tIns="0" rIns="0" bIns="0" rtlCol="0" anchor="t">
            <a:spAutoFit/>
          </a:bodyPr>
          <a:lstStyle/>
          <a:p>
            <a:pPr algn="l">
              <a:lnSpc>
                <a:spcPts val="2626"/>
              </a:lnSpc>
            </a:pPr>
            <a:r>
              <a:rPr lang="en-US" sz="2188" b="1" spc="-43">
                <a:solidFill>
                  <a:srgbClr val="666666"/>
                </a:solidFill>
                <a:latin typeface="Lato Bold"/>
                <a:ea typeface="Lato Bold"/>
                <a:cs typeface="Lato Bold"/>
                <a:sym typeface="Lato Bold"/>
              </a:rPr>
              <a:t>Enthält die grundlegende API-Struktur und die Landing Page</a:t>
            </a:r>
          </a:p>
          <a:p>
            <a:pPr algn="l">
              <a:lnSpc>
                <a:spcPts val="2626"/>
              </a:lnSpc>
            </a:pPr>
            <a:endParaRPr lang="en-US" sz="2188" b="1" spc="-43">
              <a:solidFill>
                <a:srgbClr val="666666"/>
              </a:solidFill>
              <a:latin typeface="Lato Bold"/>
              <a:ea typeface="Lato Bold"/>
              <a:cs typeface="Lato Bold"/>
              <a:sym typeface="Lato Bold"/>
            </a:endParaRPr>
          </a:p>
        </p:txBody>
      </p:sp>
      <p:sp>
        <p:nvSpPr>
          <p:cNvPr id="25" name="TextBox 25"/>
          <p:cNvSpPr txBox="1"/>
          <p:nvPr/>
        </p:nvSpPr>
        <p:spPr>
          <a:xfrm>
            <a:off x="6858000" y="6655148"/>
            <a:ext cx="4554141" cy="330767"/>
          </a:xfrm>
          <a:prstGeom prst="rect">
            <a:avLst/>
          </a:prstGeom>
        </p:spPr>
        <p:txBody>
          <a:bodyPr lIns="0" tIns="0" rIns="0" bIns="0" rtlCol="0" anchor="t">
            <a:spAutoFit/>
          </a:bodyPr>
          <a:lstStyle/>
          <a:p>
            <a:pPr algn="l">
              <a:lnSpc>
                <a:spcPts val="2626"/>
              </a:lnSpc>
            </a:pPr>
            <a:r>
              <a:rPr lang="en-US" sz="2188" b="1" spc="-43">
                <a:solidFill>
                  <a:srgbClr val="264137"/>
                </a:solidFill>
                <a:latin typeface="Lato Bold"/>
                <a:ea typeface="Lato Bold"/>
                <a:cs typeface="Lato Bold"/>
                <a:sym typeface="Lato Bold"/>
              </a:rPr>
              <a:t>/search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de-DE"/>
          </a:p>
        </p:txBody>
      </p:sp>
      <p:sp>
        <p:nvSpPr>
          <p:cNvPr id="3" name="Freeform 3"/>
          <p:cNvSpPr/>
          <p:nvPr/>
        </p:nvSpPr>
        <p:spPr>
          <a:xfrm>
            <a:off x="4779818" y="2569017"/>
            <a:ext cx="448450" cy="7291635"/>
          </a:xfrm>
          <a:custGeom>
            <a:avLst/>
            <a:gdLst/>
            <a:ahLst/>
            <a:cxnLst/>
            <a:rect l="l" t="t" r="r" b="b"/>
            <a:pathLst>
              <a:path w="448450" h="7291635">
                <a:moveTo>
                  <a:pt x="0" y="0"/>
                </a:moveTo>
                <a:lnTo>
                  <a:pt x="448450" y="0"/>
                </a:lnTo>
                <a:lnTo>
                  <a:pt x="448450" y="7291635"/>
                </a:lnTo>
                <a:lnTo>
                  <a:pt x="0" y="7291635"/>
                </a:lnTo>
                <a:lnTo>
                  <a:pt x="0" y="0"/>
                </a:lnTo>
                <a:close/>
              </a:path>
            </a:pathLst>
          </a:custGeom>
          <a:blipFill>
            <a:blip r:embed="rId3"/>
            <a:stretch>
              <a:fillRect/>
            </a:stretch>
          </a:blipFill>
        </p:spPr>
        <p:txBody>
          <a:bodyPr/>
          <a:lstStyle/>
          <a:p>
            <a:endParaRPr lang="de-DE"/>
          </a:p>
        </p:txBody>
      </p:sp>
      <p:sp>
        <p:nvSpPr>
          <p:cNvPr id="4" name="Freeform 4"/>
          <p:cNvSpPr/>
          <p:nvPr/>
        </p:nvSpPr>
        <p:spPr>
          <a:xfrm>
            <a:off x="4998574" y="2776725"/>
            <a:ext cx="885962" cy="229572"/>
          </a:xfrm>
          <a:custGeom>
            <a:avLst/>
            <a:gdLst/>
            <a:ahLst/>
            <a:cxnLst/>
            <a:rect l="l" t="t" r="r" b="b"/>
            <a:pathLst>
              <a:path w="885962" h="229572">
                <a:moveTo>
                  <a:pt x="0" y="0"/>
                </a:moveTo>
                <a:lnTo>
                  <a:pt x="885962" y="0"/>
                </a:lnTo>
                <a:lnTo>
                  <a:pt x="885962" y="229571"/>
                </a:lnTo>
                <a:lnTo>
                  <a:pt x="0" y="229571"/>
                </a:lnTo>
                <a:lnTo>
                  <a:pt x="0" y="0"/>
                </a:lnTo>
                <a:close/>
              </a:path>
            </a:pathLst>
          </a:custGeom>
          <a:blipFill>
            <a:blip r:embed="rId4"/>
            <a:stretch>
              <a:fillRect/>
            </a:stretch>
          </a:blipFill>
        </p:spPr>
        <p:txBody>
          <a:bodyPr/>
          <a:lstStyle/>
          <a:p>
            <a:endParaRPr lang="de-DE"/>
          </a:p>
        </p:txBody>
      </p:sp>
      <p:sp>
        <p:nvSpPr>
          <p:cNvPr id="5" name="Freeform 5"/>
          <p:cNvSpPr/>
          <p:nvPr/>
        </p:nvSpPr>
        <p:spPr>
          <a:xfrm>
            <a:off x="5436086" y="2569017"/>
            <a:ext cx="11331560" cy="863627"/>
          </a:xfrm>
          <a:custGeom>
            <a:avLst/>
            <a:gdLst/>
            <a:ahLst/>
            <a:cxnLst/>
            <a:rect l="l" t="t" r="r" b="b"/>
            <a:pathLst>
              <a:path w="11331560" h="863627">
                <a:moveTo>
                  <a:pt x="0" y="0"/>
                </a:moveTo>
                <a:lnTo>
                  <a:pt x="11331560" y="0"/>
                </a:lnTo>
                <a:lnTo>
                  <a:pt x="11331560" y="863627"/>
                </a:lnTo>
                <a:lnTo>
                  <a:pt x="0" y="863627"/>
                </a:lnTo>
                <a:lnTo>
                  <a:pt x="0" y="0"/>
                </a:lnTo>
                <a:close/>
              </a:path>
            </a:pathLst>
          </a:custGeom>
          <a:blipFill>
            <a:blip r:embed="rId5"/>
            <a:stretch>
              <a:fillRect/>
            </a:stretch>
          </a:blipFill>
        </p:spPr>
        <p:txBody>
          <a:bodyPr/>
          <a:lstStyle/>
          <a:p>
            <a:endParaRPr lang="de-DE"/>
          </a:p>
        </p:txBody>
      </p:sp>
      <p:sp>
        <p:nvSpPr>
          <p:cNvPr id="6" name="Freeform 6"/>
          <p:cNvSpPr/>
          <p:nvPr/>
        </p:nvSpPr>
        <p:spPr>
          <a:xfrm>
            <a:off x="4998574" y="3848060"/>
            <a:ext cx="885962" cy="229572"/>
          </a:xfrm>
          <a:custGeom>
            <a:avLst/>
            <a:gdLst/>
            <a:ahLst/>
            <a:cxnLst/>
            <a:rect l="l" t="t" r="r" b="b"/>
            <a:pathLst>
              <a:path w="885962" h="229572">
                <a:moveTo>
                  <a:pt x="0" y="0"/>
                </a:moveTo>
                <a:lnTo>
                  <a:pt x="885962" y="0"/>
                </a:lnTo>
                <a:lnTo>
                  <a:pt x="885962" y="229571"/>
                </a:lnTo>
                <a:lnTo>
                  <a:pt x="0" y="229571"/>
                </a:lnTo>
                <a:lnTo>
                  <a:pt x="0" y="0"/>
                </a:lnTo>
                <a:close/>
              </a:path>
            </a:pathLst>
          </a:custGeom>
          <a:blipFill>
            <a:blip r:embed="rId6"/>
            <a:stretch>
              <a:fillRect/>
            </a:stretch>
          </a:blipFill>
        </p:spPr>
        <p:txBody>
          <a:bodyPr/>
          <a:lstStyle/>
          <a:p>
            <a:endParaRPr lang="de-DE"/>
          </a:p>
        </p:txBody>
      </p:sp>
      <p:sp>
        <p:nvSpPr>
          <p:cNvPr id="7" name="Freeform 7"/>
          <p:cNvSpPr/>
          <p:nvPr/>
        </p:nvSpPr>
        <p:spPr>
          <a:xfrm>
            <a:off x="5436086" y="3421712"/>
            <a:ext cx="11331560" cy="874559"/>
          </a:xfrm>
          <a:custGeom>
            <a:avLst/>
            <a:gdLst/>
            <a:ahLst/>
            <a:cxnLst/>
            <a:rect l="l" t="t" r="r" b="b"/>
            <a:pathLst>
              <a:path w="11331560" h="874559">
                <a:moveTo>
                  <a:pt x="0" y="0"/>
                </a:moveTo>
                <a:lnTo>
                  <a:pt x="11331560" y="0"/>
                </a:lnTo>
                <a:lnTo>
                  <a:pt x="11331560" y="874559"/>
                </a:lnTo>
                <a:lnTo>
                  <a:pt x="0" y="874559"/>
                </a:lnTo>
                <a:lnTo>
                  <a:pt x="0" y="0"/>
                </a:lnTo>
                <a:close/>
              </a:path>
            </a:pathLst>
          </a:custGeom>
          <a:blipFill>
            <a:blip r:embed="rId7"/>
            <a:stretch>
              <a:fillRect/>
            </a:stretch>
          </a:blipFill>
        </p:spPr>
        <p:txBody>
          <a:bodyPr/>
          <a:lstStyle/>
          <a:p>
            <a:endParaRPr lang="de-DE"/>
          </a:p>
        </p:txBody>
      </p:sp>
      <p:sp>
        <p:nvSpPr>
          <p:cNvPr id="8" name="Freeform 8"/>
          <p:cNvSpPr/>
          <p:nvPr/>
        </p:nvSpPr>
        <p:spPr>
          <a:xfrm>
            <a:off x="4998574" y="4711687"/>
            <a:ext cx="885962" cy="218640"/>
          </a:xfrm>
          <a:custGeom>
            <a:avLst/>
            <a:gdLst/>
            <a:ahLst/>
            <a:cxnLst/>
            <a:rect l="l" t="t" r="r" b="b"/>
            <a:pathLst>
              <a:path w="885962" h="218640">
                <a:moveTo>
                  <a:pt x="0" y="0"/>
                </a:moveTo>
                <a:lnTo>
                  <a:pt x="885962" y="0"/>
                </a:lnTo>
                <a:lnTo>
                  <a:pt x="885962" y="218639"/>
                </a:lnTo>
                <a:lnTo>
                  <a:pt x="0" y="218639"/>
                </a:lnTo>
                <a:lnTo>
                  <a:pt x="0" y="0"/>
                </a:lnTo>
                <a:close/>
              </a:path>
            </a:pathLst>
          </a:custGeom>
          <a:blipFill>
            <a:blip r:embed="rId8"/>
            <a:stretch>
              <a:fillRect/>
            </a:stretch>
          </a:blipFill>
        </p:spPr>
        <p:txBody>
          <a:bodyPr/>
          <a:lstStyle/>
          <a:p>
            <a:endParaRPr lang="de-DE"/>
          </a:p>
        </p:txBody>
      </p:sp>
      <p:sp>
        <p:nvSpPr>
          <p:cNvPr id="9" name="Freeform 9"/>
          <p:cNvSpPr/>
          <p:nvPr/>
        </p:nvSpPr>
        <p:spPr>
          <a:xfrm>
            <a:off x="5436086" y="4493047"/>
            <a:ext cx="11331560" cy="874559"/>
          </a:xfrm>
          <a:custGeom>
            <a:avLst/>
            <a:gdLst/>
            <a:ahLst/>
            <a:cxnLst/>
            <a:rect l="l" t="t" r="r" b="b"/>
            <a:pathLst>
              <a:path w="11331560" h="874559">
                <a:moveTo>
                  <a:pt x="0" y="0"/>
                </a:moveTo>
                <a:lnTo>
                  <a:pt x="11331560" y="0"/>
                </a:lnTo>
                <a:lnTo>
                  <a:pt x="11331560" y="874559"/>
                </a:lnTo>
                <a:lnTo>
                  <a:pt x="0" y="874559"/>
                </a:lnTo>
                <a:lnTo>
                  <a:pt x="0" y="0"/>
                </a:lnTo>
                <a:close/>
              </a:path>
            </a:pathLst>
          </a:custGeom>
          <a:blipFill>
            <a:blip r:embed="rId9"/>
            <a:stretch>
              <a:fillRect/>
            </a:stretch>
          </a:blipFill>
        </p:spPr>
        <p:txBody>
          <a:bodyPr/>
          <a:lstStyle/>
          <a:p>
            <a:endParaRPr lang="de-DE"/>
          </a:p>
        </p:txBody>
      </p:sp>
      <p:sp>
        <p:nvSpPr>
          <p:cNvPr id="10" name="Freeform 10"/>
          <p:cNvSpPr/>
          <p:nvPr/>
        </p:nvSpPr>
        <p:spPr>
          <a:xfrm>
            <a:off x="4998574" y="5783021"/>
            <a:ext cx="885962" cy="218640"/>
          </a:xfrm>
          <a:custGeom>
            <a:avLst/>
            <a:gdLst/>
            <a:ahLst/>
            <a:cxnLst/>
            <a:rect l="l" t="t" r="r" b="b"/>
            <a:pathLst>
              <a:path w="885962" h="218640">
                <a:moveTo>
                  <a:pt x="0" y="0"/>
                </a:moveTo>
                <a:lnTo>
                  <a:pt x="885962" y="0"/>
                </a:lnTo>
                <a:lnTo>
                  <a:pt x="885962" y="218640"/>
                </a:lnTo>
                <a:lnTo>
                  <a:pt x="0" y="218640"/>
                </a:lnTo>
                <a:lnTo>
                  <a:pt x="0" y="0"/>
                </a:lnTo>
                <a:close/>
              </a:path>
            </a:pathLst>
          </a:custGeom>
          <a:blipFill>
            <a:blip r:embed="rId10"/>
            <a:stretch>
              <a:fillRect/>
            </a:stretch>
          </a:blipFill>
        </p:spPr>
        <p:txBody>
          <a:bodyPr/>
          <a:lstStyle/>
          <a:p>
            <a:endParaRPr lang="de-DE"/>
          </a:p>
        </p:txBody>
      </p:sp>
      <p:sp>
        <p:nvSpPr>
          <p:cNvPr id="11" name="Freeform 11"/>
          <p:cNvSpPr/>
          <p:nvPr/>
        </p:nvSpPr>
        <p:spPr>
          <a:xfrm>
            <a:off x="5436086" y="5356674"/>
            <a:ext cx="11331560" cy="863627"/>
          </a:xfrm>
          <a:custGeom>
            <a:avLst/>
            <a:gdLst/>
            <a:ahLst/>
            <a:cxnLst/>
            <a:rect l="l" t="t" r="r" b="b"/>
            <a:pathLst>
              <a:path w="11331560" h="863627">
                <a:moveTo>
                  <a:pt x="0" y="0"/>
                </a:moveTo>
                <a:lnTo>
                  <a:pt x="11331560" y="0"/>
                </a:lnTo>
                <a:lnTo>
                  <a:pt x="11331560" y="863627"/>
                </a:lnTo>
                <a:lnTo>
                  <a:pt x="0" y="863627"/>
                </a:lnTo>
                <a:lnTo>
                  <a:pt x="0" y="0"/>
                </a:lnTo>
                <a:close/>
              </a:path>
            </a:pathLst>
          </a:custGeom>
          <a:blipFill>
            <a:blip r:embed="rId11"/>
            <a:stretch>
              <a:fillRect/>
            </a:stretch>
          </a:blipFill>
        </p:spPr>
        <p:txBody>
          <a:bodyPr/>
          <a:lstStyle/>
          <a:p>
            <a:endParaRPr lang="de-DE"/>
          </a:p>
        </p:txBody>
      </p:sp>
      <p:sp>
        <p:nvSpPr>
          <p:cNvPr id="12" name="Freeform 12"/>
          <p:cNvSpPr/>
          <p:nvPr/>
        </p:nvSpPr>
        <p:spPr>
          <a:xfrm>
            <a:off x="4998574" y="6635716"/>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12"/>
            <a:stretch>
              <a:fillRect/>
            </a:stretch>
          </a:blipFill>
        </p:spPr>
        <p:txBody>
          <a:bodyPr/>
          <a:lstStyle/>
          <a:p>
            <a:endParaRPr lang="de-DE"/>
          </a:p>
        </p:txBody>
      </p:sp>
      <p:sp>
        <p:nvSpPr>
          <p:cNvPr id="13" name="Freeform 13"/>
          <p:cNvSpPr/>
          <p:nvPr/>
        </p:nvSpPr>
        <p:spPr>
          <a:xfrm>
            <a:off x="5436086" y="6428009"/>
            <a:ext cx="11331560" cy="863627"/>
          </a:xfrm>
          <a:custGeom>
            <a:avLst/>
            <a:gdLst/>
            <a:ahLst/>
            <a:cxnLst/>
            <a:rect l="l" t="t" r="r" b="b"/>
            <a:pathLst>
              <a:path w="11331560" h="863627">
                <a:moveTo>
                  <a:pt x="0" y="0"/>
                </a:moveTo>
                <a:lnTo>
                  <a:pt x="11331560" y="0"/>
                </a:lnTo>
                <a:lnTo>
                  <a:pt x="11331560" y="863626"/>
                </a:lnTo>
                <a:lnTo>
                  <a:pt x="0" y="863626"/>
                </a:lnTo>
                <a:lnTo>
                  <a:pt x="0" y="0"/>
                </a:lnTo>
                <a:close/>
              </a:path>
            </a:pathLst>
          </a:custGeom>
          <a:blipFill>
            <a:blip r:embed="rId13"/>
            <a:stretch>
              <a:fillRect/>
            </a:stretch>
          </a:blipFill>
        </p:spPr>
        <p:txBody>
          <a:bodyPr/>
          <a:lstStyle/>
          <a:p>
            <a:endParaRPr lang="de-DE"/>
          </a:p>
        </p:txBody>
      </p:sp>
      <p:sp>
        <p:nvSpPr>
          <p:cNvPr id="14" name="Freeform 14"/>
          <p:cNvSpPr/>
          <p:nvPr/>
        </p:nvSpPr>
        <p:spPr>
          <a:xfrm>
            <a:off x="4998574" y="7707051"/>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14"/>
            <a:stretch>
              <a:fillRect/>
            </a:stretch>
          </a:blipFill>
        </p:spPr>
        <p:txBody>
          <a:bodyPr/>
          <a:lstStyle/>
          <a:p>
            <a:endParaRPr lang="de-DE"/>
          </a:p>
        </p:txBody>
      </p:sp>
      <p:sp>
        <p:nvSpPr>
          <p:cNvPr id="15" name="Freeform 15"/>
          <p:cNvSpPr/>
          <p:nvPr/>
        </p:nvSpPr>
        <p:spPr>
          <a:xfrm>
            <a:off x="5436086" y="7280704"/>
            <a:ext cx="11331560" cy="863627"/>
          </a:xfrm>
          <a:custGeom>
            <a:avLst/>
            <a:gdLst/>
            <a:ahLst/>
            <a:cxnLst/>
            <a:rect l="l" t="t" r="r" b="b"/>
            <a:pathLst>
              <a:path w="11331560" h="863627">
                <a:moveTo>
                  <a:pt x="0" y="0"/>
                </a:moveTo>
                <a:lnTo>
                  <a:pt x="11331560" y="0"/>
                </a:lnTo>
                <a:lnTo>
                  <a:pt x="11331560" y="863626"/>
                </a:lnTo>
                <a:lnTo>
                  <a:pt x="0" y="863626"/>
                </a:lnTo>
                <a:lnTo>
                  <a:pt x="0" y="0"/>
                </a:lnTo>
                <a:close/>
              </a:path>
            </a:pathLst>
          </a:custGeom>
          <a:blipFill>
            <a:blip r:embed="rId15"/>
            <a:stretch>
              <a:fillRect/>
            </a:stretch>
          </a:blipFill>
        </p:spPr>
        <p:txBody>
          <a:bodyPr/>
          <a:lstStyle/>
          <a:p>
            <a:endParaRPr lang="de-DE"/>
          </a:p>
        </p:txBody>
      </p:sp>
      <p:sp>
        <p:nvSpPr>
          <p:cNvPr id="16" name="Freeform 16"/>
          <p:cNvSpPr/>
          <p:nvPr/>
        </p:nvSpPr>
        <p:spPr>
          <a:xfrm>
            <a:off x="4998574" y="8570678"/>
            <a:ext cx="885962" cy="218640"/>
          </a:xfrm>
          <a:custGeom>
            <a:avLst/>
            <a:gdLst/>
            <a:ahLst/>
            <a:cxnLst/>
            <a:rect l="l" t="t" r="r" b="b"/>
            <a:pathLst>
              <a:path w="885962" h="218640">
                <a:moveTo>
                  <a:pt x="0" y="0"/>
                </a:moveTo>
                <a:lnTo>
                  <a:pt x="885962" y="0"/>
                </a:lnTo>
                <a:lnTo>
                  <a:pt x="885962" y="218640"/>
                </a:lnTo>
                <a:lnTo>
                  <a:pt x="0" y="218640"/>
                </a:lnTo>
                <a:lnTo>
                  <a:pt x="0" y="0"/>
                </a:lnTo>
                <a:close/>
              </a:path>
            </a:pathLst>
          </a:custGeom>
          <a:blipFill>
            <a:blip r:embed="rId16"/>
            <a:stretch>
              <a:fillRect/>
            </a:stretch>
          </a:blipFill>
        </p:spPr>
        <p:txBody>
          <a:bodyPr/>
          <a:lstStyle/>
          <a:p>
            <a:endParaRPr lang="de-DE"/>
          </a:p>
        </p:txBody>
      </p:sp>
      <p:sp>
        <p:nvSpPr>
          <p:cNvPr id="17" name="Freeform 17"/>
          <p:cNvSpPr/>
          <p:nvPr/>
        </p:nvSpPr>
        <p:spPr>
          <a:xfrm>
            <a:off x="5436086" y="8352038"/>
            <a:ext cx="11331560" cy="863627"/>
          </a:xfrm>
          <a:custGeom>
            <a:avLst/>
            <a:gdLst/>
            <a:ahLst/>
            <a:cxnLst/>
            <a:rect l="l" t="t" r="r" b="b"/>
            <a:pathLst>
              <a:path w="11331560" h="863627">
                <a:moveTo>
                  <a:pt x="0" y="0"/>
                </a:moveTo>
                <a:lnTo>
                  <a:pt x="11331560" y="0"/>
                </a:lnTo>
                <a:lnTo>
                  <a:pt x="11331560" y="863627"/>
                </a:lnTo>
                <a:lnTo>
                  <a:pt x="0" y="863627"/>
                </a:lnTo>
                <a:lnTo>
                  <a:pt x="0" y="0"/>
                </a:lnTo>
                <a:close/>
              </a:path>
            </a:pathLst>
          </a:custGeom>
          <a:blipFill>
            <a:blip r:embed="rId17"/>
            <a:stretch>
              <a:fillRect/>
            </a:stretch>
          </a:blipFill>
        </p:spPr>
        <p:txBody>
          <a:bodyPr/>
          <a:lstStyle/>
          <a:p>
            <a:endParaRPr lang="de-DE"/>
          </a:p>
        </p:txBody>
      </p:sp>
      <p:grpSp>
        <p:nvGrpSpPr>
          <p:cNvPr id="18" name="Group 18"/>
          <p:cNvGrpSpPr/>
          <p:nvPr/>
        </p:nvGrpSpPr>
        <p:grpSpPr>
          <a:xfrm>
            <a:off x="502294" y="2857228"/>
            <a:ext cx="4067974" cy="6070226"/>
            <a:chOff x="0" y="0"/>
            <a:chExt cx="1071400" cy="1598743"/>
          </a:xfrm>
        </p:grpSpPr>
        <p:sp>
          <p:nvSpPr>
            <p:cNvPr id="19" name="Freeform 19"/>
            <p:cNvSpPr/>
            <p:nvPr/>
          </p:nvSpPr>
          <p:spPr>
            <a:xfrm>
              <a:off x="0" y="0"/>
              <a:ext cx="1071400" cy="1598743"/>
            </a:xfrm>
            <a:custGeom>
              <a:avLst/>
              <a:gdLst/>
              <a:ahLst/>
              <a:cxnLst/>
              <a:rect l="l" t="t" r="r" b="b"/>
              <a:pathLst>
                <a:path w="1071400" h="1598743">
                  <a:moveTo>
                    <a:pt x="57094" y="0"/>
                  </a:moveTo>
                  <a:lnTo>
                    <a:pt x="1014306" y="0"/>
                  </a:lnTo>
                  <a:cubicBezTo>
                    <a:pt x="1029449" y="0"/>
                    <a:pt x="1043971" y="6015"/>
                    <a:pt x="1054678" y="16722"/>
                  </a:cubicBezTo>
                  <a:cubicBezTo>
                    <a:pt x="1065385" y="27430"/>
                    <a:pt x="1071400" y="41952"/>
                    <a:pt x="1071400" y="57094"/>
                  </a:cubicBezTo>
                  <a:lnTo>
                    <a:pt x="1071400" y="1541648"/>
                  </a:lnTo>
                  <a:cubicBezTo>
                    <a:pt x="1071400" y="1556791"/>
                    <a:pt x="1065385" y="1571313"/>
                    <a:pt x="1054678" y="1582020"/>
                  </a:cubicBezTo>
                  <a:cubicBezTo>
                    <a:pt x="1043971" y="1592727"/>
                    <a:pt x="1029449" y="1598743"/>
                    <a:pt x="1014306" y="1598743"/>
                  </a:cubicBezTo>
                  <a:lnTo>
                    <a:pt x="57094" y="1598743"/>
                  </a:lnTo>
                  <a:cubicBezTo>
                    <a:pt x="41952" y="1598743"/>
                    <a:pt x="27430" y="1592727"/>
                    <a:pt x="16722" y="1582020"/>
                  </a:cubicBezTo>
                  <a:cubicBezTo>
                    <a:pt x="6015" y="1571313"/>
                    <a:pt x="0" y="1556791"/>
                    <a:pt x="0" y="1541648"/>
                  </a:cubicBezTo>
                  <a:lnTo>
                    <a:pt x="0" y="57094"/>
                  </a:lnTo>
                  <a:cubicBezTo>
                    <a:pt x="0" y="41952"/>
                    <a:pt x="6015" y="27430"/>
                    <a:pt x="16722" y="16722"/>
                  </a:cubicBezTo>
                  <a:cubicBezTo>
                    <a:pt x="27430" y="6015"/>
                    <a:pt x="41952" y="0"/>
                    <a:pt x="57094" y="0"/>
                  </a:cubicBezTo>
                  <a:close/>
                </a:path>
              </a:pathLst>
            </a:custGeom>
            <a:solidFill>
              <a:srgbClr val="264237"/>
            </a:solidFill>
          </p:spPr>
          <p:txBody>
            <a:bodyPr/>
            <a:lstStyle/>
            <a:p>
              <a:endParaRPr lang="de-DE"/>
            </a:p>
          </p:txBody>
        </p:sp>
        <p:sp>
          <p:nvSpPr>
            <p:cNvPr id="20" name="TextBox 20"/>
            <p:cNvSpPr txBox="1"/>
            <p:nvPr/>
          </p:nvSpPr>
          <p:spPr>
            <a:xfrm>
              <a:off x="0" y="-47625"/>
              <a:ext cx="1071400" cy="1646368"/>
            </a:xfrm>
            <a:prstGeom prst="rect">
              <a:avLst/>
            </a:prstGeom>
          </p:spPr>
          <p:txBody>
            <a:bodyPr lIns="50800" tIns="50800" rIns="50800" bIns="50800" rtlCol="0" anchor="ctr"/>
            <a:lstStyle/>
            <a:p>
              <a:pPr algn="ctr">
                <a:lnSpc>
                  <a:spcPts val="2399"/>
                </a:lnSpc>
              </a:pPr>
              <a:endParaRPr/>
            </a:p>
          </p:txBody>
        </p:sp>
      </p:grpSp>
      <p:sp>
        <p:nvSpPr>
          <p:cNvPr id="21" name="TextBox 21"/>
          <p:cNvSpPr txBox="1"/>
          <p:nvPr/>
        </p:nvSpPr>
        <p:spPr>
          <a:xfrm>
            <a:off x="427271" y="532855"/>
            <a:ext cx="7320913" cy="800227"/>
          </a:xfrm>
          <a:prstGeom prst="rect">
            <a:avLst/>
          </a:prstGeom>
        </p:spPr>
        <p:txBody>
          <a:bodyPr lIns="0" tIns="0" rIns="0" bIns="0" rtlCol="0" anchor="t">
            <a:spAutoFit/>
          </a:bodyPr>
          <a:lstStyle/>
          <a:p>
            <a:pPr algn="l">
              <a:lnSpc>
                <a:spcPts val="6107"/>
              </a:lnSpc>
            </a:pPr>
            <a:r>
              <a:rPr lang="en-US" sz="5554" b="1">
                <a:solidFill>
                  <a:srgbClr val="2B473D"/>
                </a:solidFill>
                <a:latin typeface="Lato Bold"/>
                <a:ea typeface="Lato Bold"/>
                <a:cs typeface="Lato Bold"/>
                <a:sym typeface="Lato Bold"/>
              </a:rPr>
              <a:t>Wichtige Endpunkte</a:t>
            </a:r>
          </a:p>
        </p:txBody>
      </p:sp>
      <p:sp>
        <p:nvSpPr>
          <p:cNvPr id="22" name="TextBox 22"/>
          <p:cNvSpPr txBox="1"/>
          <p:nvPr/>
        </p:nvSpPr>
        <p:spPr>
          <a:xfrm>
            <a:off x="427271" y="1548503"/>
            <a:ext cx="16832029" cy="975512"/>
          </a:xfrm>
          <a:prstGeom prst="rect">
            <a:avLst/>
          </a:prstGeom>
        </p:spPr>
        <p:txBody>
          <a:bodyPr lIns="0" tIns="0" rIns="0" bIns="0" rtlCol="0" anchor="t">
            <a:spAutoFit/>
          </a:bodyPr>
          <a:lstStyle/>
          <a:p>
            <a:pPr algn="l">
              <a:lnSpc>
                <a:spcPts val="2636"/>
              </a:lnSpc>
            </a:pPr>
            <a:r>
              <a:rPr lang="en-US" sz="2399" b="1">
                <a:solidFill>
                  <a:srgbClr val="666666"/>
                </a:solidFill>
                <a:latin typeface="Lato Bold"/>
                <a:ea typeface="Lato Bold"/>
                <a:cs typeface="Lato Bold"/>
                <a:sym typeface="Lato Bold"/>
              </a:rPr>
              <a:t>Welche Endpunkte verfügbar sind, hängt davon ab, welche Teile der STAC API ein Server unterstützt. Je nachdem, welche Teile der STAC API unterstützt werden, können zum Beispiel folgende Endpunkte verfügbar sein:</a:t>
            </a:r>
          </a:p>
          <a:p>
            <a:pPr algn="l">
              <a:lnSpc>
                <a:spcPts val="2638"/>
              </a:lnSpc>
            </a:pPr>
            <a:endParaRPr lang="en-US" sz="2399" b="1">
              <a:solidFill>
                <a:srgbClr val="666666"/>
              </a:solidFill>
              <a:latin typeface="Lato Bold"/>
              <a:ea typeface="Lato Bold"/>
              <a:cs typeface="Lato Bold"/>
              <a:sym typeface="Lato Bold"/>
            </a:endParaRPr>
          </a:p>
        </p:txBody>
      </p:sp>
      <p:sp>
        <p:nvSpPr>
          <p:cNvPr id="23" name="TextBox 23"/>
          <p:cNvSpPr txBox="1"/>
          <p:nvPr/>
        </p:nvSpPr>
        <p:spPr>
          <a:xfrm>
            <a:off x="11421997" y="2900913"/>
            <a:ext cx="3621737" cy="282674"/>
          </a:xfrm>
          <a:prstGeom prst="rect">
            <a:avLst/>
          </a:prstGeom>
        </p:spPr>
        <p:txBody>
          <a:bodyPr lIns="0" tIns="0" rIns="0" bIns="0" rtlCol="0" anchor="t">
            <a:spAutoFit/>
          </a:bodyPr>
          <a:lstStyle/>
          <a:p>
            <a:pPr algn="l">
              <a:lnSpc>
                <a:spcPts val="2199"/>
              </a:lnSpc>
            </a:pPr>
            <a:r>
              <a:rPr lang="en-US" sz="2000" b="1">
                <a:solidFill>
                  <a:srgbClr val="666666"/>
                </a:solidFill>
                <a:latin typeface="Lato Bold"/>
                <a:ea typeface="Lato Bold"/>
                <a:cs typeface="Lato Bold"/>
                <a:sym typeface="Lato Bold"/>
              </a:rPr>
              <a:t>Einstieg in die STAC API</a:t>
            </a:r>
          </a:p>
        </p:txBody>
      </p:sp>
      <p:sp>
        <p:nvSpPr>
          <p:cNvPr id="24" name="TextBox 24"/>
          <p:cNvSpPr txBox="1"/>
          <p:nvPr/>
        </p:nvSpPr>
        <p:spPr>
          <a:xfrm>
            <a:off x="5921926" y="3789790"/>
            <a:ext cx="1610197" cy="282674"/>
          </a:xfrm>
          <a:prstGeom prst="rect">
            <a:avLst/>
          </a:prstGeom>
        </p:spPr>
        <p:txBody>
          <a:bodyPr lIns="0" tIns="0" rIns="0" bIns="0" rtlCol="0" anchor="t">
            <a:spAutoFit/>
          </a:bodyPr>
          <a:lstStyle/>
          <a:p>
            <a:pPr algn="l">
              <a:lnSpc>
                <a:spcPts val="2199"/>
              </a:lnSpc>
            </a:pPr>
            <a:r>
              <a:rPr lang="en-US" sz="2000" b="1">
                <a:solidFill>
                  <a:srgbClr val="2B473D"/>
                </a:solidFill>
                <a:latin typeface="Lato Bold"/>
                <a:ea typeface="Lato Bold"/>
                <a:cs typeface="Lato Bold"/>
                <a:sym typeface="Lato Bold"/>
              </a:rPr>
              <a:t>/collections</a:t>
            </a:r>
          </a:p>
        </p:txBody>
      </p:sp>
      <p:sp>
        <p:nvSpPr>
          <p:cNvPr id="25" name="TextBox 25"/>
          <p:cNvSpPr txBox="1"/>
          <p:nvPr/>
        </p:nvSpPr>
        <p:spPr>
          <a:xfrm>
            <a:off x="11404991" y="3804509"/>
            <a:ext cx="2667469" cy="282674"/>
          </a:xfrm>
          <a:prstGeom prst="rect">
            <a:avLst/>
          </a:prstGeom>
        </p:spPr>
        <p:txBody>
          <a:bodyPr lIns="0" tIns="0" rIns="0" bIns="0" rtlCol="0" anchor="t">
            <a:spAutoFit/>
          </a:bodyPr>
          <a:lstStyle/>
          <a:p>
            <a:pPr algn="l">
              <a:lnSpc>
                <a:spcPts val="2199"/>
              </a:lnSpc>
            </a:pPr>
            <a:r>
              <a:rPr lang="en-US" sz="2000" b="1">
                <a:solidFill>
                  <a:srgbClr val="666666"/>
                </a:solidFill>
                <a:latin typeface="Lato Bold"/>
                <a:ea typeface="Lato Bold"/>
                <a:cs typeface="Lato Bold"/>
                <a:sym typeface="Lato Bold"/>
              </a:rPr>
              <a:t>Verfügbare Collections</a:t>
            </a:r>
          </a:p>
        </p:txBody>
      </p:sp>
      <p:sp>
        <p:nvSpPr>
          <p:cNvPr id="26" name="TextBox 26"/>
          <p:cNvSpPr txBox="1"/>
          <p:nvPr/>
        </p:nvSpPr>
        <p:spPr>
          <a:xfrm>
            <a:off x="5902324" y="4768745"/>
            <a:ext cx="3570318" cy="282674"/>
          </a:xfrm>
          <a:prstGeom prst="rect">
            <a:avLst/>
          </a:prstGeom>
        </p:spPr>
        <p:txBody>
          <a:bodyPr lIns="0" tIns="0" rIns="0" bIns="0" rtlCol="0" anchor="t">
            <a:spAutoFit/>
          </a:bodyPr>
          <a:lstStyle/>
          <a:p>
            <a:pPr algn="l">
              <a:lnSpc>
                <a:spcPts val="2199"/>
              </a:lnSpc>
            </a:pPr>
            <a:r>
              <a:rPr lang="en-US" sz="2000" b="1">
                <a:solidFill>
                  <a:srgbClr val="2B473D"/>
                </a:solidFill>
                <a:latin typeface="Lato Bold"/>
                <a:ea typeface="Lato Bold"/>
                <a:cs typeface="Lato Bold"/>
                <a:sym typeface="Lato Bold"/>
              </a:rPr>
              <a:t>/collections/{collectionId}</a:t>
            </a:r>
          </a:p>
        </p:txBody>
      </p:sp>
      <p:sp>
        <p:nvSpPr>
          <p:cNvPr id="27" name="TextBox 27"/>
          <p:cNvSpPr txBox="1"/>
          <p:nvPr/>
        </p:nvSpPr>
        <p:spPr>
          <a:xfrm>
            <a:off x="11414337" y="4783464"/>
            <a:ext cx="5314749" cy="558977"/>
          </a:xfrm>
          <a:prstGeom prst="rect">
            <a:avLst/>
          </a:prstGeom>
        </p:spPr>
        <p:txBody>
          <a:bodyPr lIns="0" tIns="0" rIns="0" bIns="0" rtlCol="0" anchor="t">
            <a:spAutoFit/>
          </a:bodyPr>
          <a:lstStyle/>
          <a:p>
            <a:pPr algn="l">
              <a:lnSpc>
                <a:spcPts val="2199"/>
              </a:lnSpc>
            </a:pPr>
            <a:r>
              <a:rPr lang="en-US" sz="2000" b="1">
                <a:solidFill>
                  <a:srgbClr val="666666"/>
                </a:solidFill>
                <a:latin typeface="Lato Bold"/>
                <a:ea typeface="Lato Bold"/>
                <a:cs typeface="Lato Bold"/>
                <a:sym typeface="Lato Bold"/>
              </a:rPr>
              <a:t>Informationen zu einer bestimmten Collection</a:t>
            </a:r>
          </a:p>
          <a:p>
            <a:pPr algn="l">
              <a:lnSpc>
                <a:spcPts val="2198"/>
              </a:lnSpc>
            </a:pPr>
            <a:endParaRPr lang="en-US" sz="2000" b="1">
              <a:solidFill>
                <a:srgbClr val="666666"/>
              </a:solidFill>
              <a:latin typeface="Lato Bold"/>
              <a:ea typeface="Lato Bold"/>
              <a:cs typeface="Lato Bold"/>
              <a:sym typeface="Lato Bold"/>
            </a:endParaRPr>
          </a:p>
        </p:txBody>
      </p:sp>
      <p:sp>
        <p:nvSpPr>
          <p:cNvPr id="28" name="TextBox 28"/>
          <p:cNvSpPr txBox="1"/>
          <p:nvPr/>
        </p:nvSpPr>
        <p:spPr>
          <a:xfrm>
            <a:off x="5893339" y="5732639"/>
            <a:ext cx="4468821" cy="282674"/>
          </a:xfrm>
          <a:prstGeom prst="rect">
            <a:avLst/>
          </a:prstGeom>
        </p:spPr>
        <p:txBody>
          <a:bodyPr lIns="0" tIns="0" rIns="0" bIns="0" rtlCol="0" anchor="t">
            <a:spAutoFit/>
          </a:bodyPr>
          <a:lstStyle/>
          <a:p>
            <a:pPr algn="l">
              <a:lnSpc>
                <a:spcPts val="2199"/>
              </a:lnSpc>
            </a:pPr>
            <a:r>
              <a:rPr lang="en-US" sz="2000" b="1">
                <a:solidFill>
                  <a:srgbClr val="2B473D"/>
                </a:solidFill>
                <a:latin typeface="Lato Bold"/>
                <a:ea typeface="Lato Bold"/>
                <a:cs typeface="Lato Bold"/>
                <a:sym typeface="Lato Bold"/>
              </a:rPr>
              <a:t>/collections/{collectionId}/items</a:t>
            </a:r>
          </a:p>
        </p:txBody>
      </p:sp>
      <p:sp>
        <p:nvSpPr>
          <p:cNvPr id="29" name="TextBox 29"/>
          <p:cNvSpPr txBox="1"/>
          <p:nvPr/>
        </p:nvSpPr>
        <p:spPr>
          <a:xfrm>
            <a:off x="11378156" y="5745129"/>
            <a:ext cx="5209656" cy="282829"/>
          </a:xfrm>
          <a:prstGeom prst="rect">
            <a:avLst/>
          </a:prstGeom>
        </p:spPr>
        <p:txBody>
          <a:bodyPr lIns="0" tIns="0" rIns="0" bIns="0" rtlCol="0" anchor="t">
            <a:spAutoFit/>
          </a:bodyPr>
          <a:lstStyle/>
          <a:p>
            <a:pPr algn="l">
              <a:lnSpc>
                <a:spcPts val="2198"/>
              </a:lnSpc>
            </a:pPr>
            <a:r>
              <a:rPr lang="en-US" sz="2000" b="1">
                <a:solidFill>
                  <a:srgbClr val="666666"/>
                </a:solidFill>
                <a:latin typeface="Lato Bold"/>
                <a:ea typeface="Lato Bold"/>
                <a:cs typeface="Lato Bold"/>
                <a:sym typeface="Lato Bold"/>
              </a:rPr>
              <a:t>Items innerhalb einer bestimmten Collection</a:t>
            </a:r>
          </a:p>
        </p:txBody>
      </p:sp>
      <p:sp>
        <p:nvSpPr>
          <p:cNvPr id="30" name="TextBox 30"/>
          <p:cNvSpPr txBox="1"/>
          <p:nvPr/>
        </p:nvSpPr>
        <p:spPr>
          <a:xfrm>
            <a:off x="5884536" y="6720374"/>
            <a:ext cx="5349159" cy="558977"/>
          </a:xfrm>
          <a:prstGeom prst="rect">
            <a:avLst/>
          </a:prstGeom>
        </p:spPr>
        <p:txBody>
          <a:bodyPr lIns="0" tIns="0" rIns="0" bIns="0" rtlCol="0" anchor="t">
            <a:spAutoFit/>
          </a:bodyPr>
          <a:lstStyle/>
          <a:p>
            <a:pPr algn="l">
              <a:lnSpc>
                <a:spcPts val="2199"/>
              </a:lnSpc>
            </a:pPr>
            <a:r>
              <a:rPr lang="en-US" sz="2000" b="1">
                <a:solidFill>
                  <a:srgbClr val="2B473D"/>
                </a:solidFill>
                <a:latin typeface="Lato Bold"/>
                <a:ea typeface="Lato Bold"/>
                <a:cs typeface="Lato Bold"/>
                <a:sym typeface="Lato Bold"/>
              </a:rPr>
              <a:t>/collections/{collectionId}/items/{itemId}</a:t>
            </a:r>
          </a:p>
          <a:p>
            <a:pPr algn="l">
              <a:lnSpc>
                <a:spcPts val="2198"/>
              </a:lnSpc>
            </a:pPr>
            <a:endParaRPr lang="en-US" sz="2000" b="1">
              <a:solidFill>
                <a:srgbClr val="2B473D"/>
              </a:solidFill>
              <a:latin typeface="Lato Bold"/>
              <a:ea typeface="Lato Bold"/>
              <a:cs typeface="Lato Bold"/>
              <a:sym typeface="Lato Bold"/>
            </a:endParaRPr>
          </a:p>
        </p:txBody>
      </p:sp>
      <p:sp>
        <p:nvSpPr>
          <p:cNvPr id="31" name="TextBox 31"/>
          <p:cNvSpPr txBox="1"/>
          <p:nvPr/>
        </p:nvSpPr>
        <p:spPr>
          <a:xfrm>
            <a:off x="11391617" y="7705267"/>
            <a:ext cx="4004778" cy="282674"/>
          </a:xfrm>
          <a:prstGeom prst="rect">
            <a:avLst/>
          </a:prstGeom>
        </p:spPr>
        <p:txBody>
          <a:bodyPr lIns="0" tIns="0" rIns="0" bIns="0" rtlCol="0" anchor="t">
            <a:spAutoFit/>
          </a:bodyPr>
          <a:lstStyle/>
          <a:p>
            <a:pPr algn="l">
              <a:lnSpc>
                <a:spcPts val="2199"/>
              </a:lnSpc>
            </a:pPr>
            <a:r>
              <a:rPr lang="en-US" sz="2000" b="1">
                <a:solidFill>
                  <a:srgbClr val="666666"/>
                </a:solidFill>
                <a:latin typeface="Lato Bold"/>
                <a:ea typeface="Lato Bold"/>
                <a:cs typeface="Lato Bold"/>
                <a:sym typeface="Lato Bold"/>
              </a:rPr>
              <a:t>Suche über Items (GET oder POST)</a:t>
            </a:r>
          </a:p>
        </p:txBody>
      </p:sp>
      <p:sp>
        <p:nvSpPr>
          <p:cNvPr id="32" name="TextBox 32"/>
          <p:cNvSpPr txBox="1"/>
          <p:nvPr/>
        </p:nvSpPr>
        <p:spPr>
          <a:xfrm>
            <a:off x="5906144" y="8669503"/>
            <a:ext cx="3188397" cy="282674"/>
          </a:xfrm>
          <a:prstGeom prst="rect">
            <a:avLst/>
          </a:prstGeom>
        </p:spPr>
        <p:txBody>
          <a:bodyPr lIns="0" tIns="0" rIns="0" bIns="0" rtlCol="0" anchor="t">
            <a:spAutoFit/>
          </a:bodyPr>
          <a:lstStyle/>
          <a:p>
            <a:pPr algn="l">
              <a:lnSpc>
                <a:spcPts val="2199"/>
              </a:lnSpc>
            </a:pPr>
            <a:r>
              <a:rPr lang="en-US" sz="2000" b="1">
                <a:solidFill>
                  <a:srgbClr val="2B473D"/>
                </a:solidFill>
                <a:latin typeface="Lato Bold"/>
                <a:ea typeface="Lato Bold"/>
                <a:cs typeface="Lato Bold"/>
                <a:sym typeface="Lato Bold"/>
              </a:rPr>
              <a:t>/conformance und /api</a:t>
            </a:r>
          </a:p>
        </p:txBody>
      </p:sp>
      <p:sp>
        <p:nvSpPr>
          <p:cNvPr id="33" name="TextBox 33"/>
          <p:cNvSpPr txBox="1"/>
          <p:nvPr/>
        </p:nvSpPr>
        <p:spPr>
          <a:xfrm>
            <a:off x="11378156" y="8669025"/>
            <a:ext cx="5350930" cy="282674"/>
          </a:xfrm>
          <a:prstGeom prst="rect">
            <a:avLst/>
          </a:prstGeom>
        </p:spPr>
        <p:txBody>
          <a:bodyPr lIns="0" tIns="0" rIns="0" bIns="0" rtlCol="0" anchor="t">
            <a:spAutoFit/>
          </a:bodyPr>
          <a:lstStyle/>
          <a:p>
            <a:pPr algn="l">
              <a:lnSpc>
                <a:spcPts val="2199"/>
              </a:lnSpc>
            </a:pPr>
            <a:r>
              <a:rPr lang="en-US" sz="2000" b="1">
                <a:solidFill>
                  <a:srgbClr val="666666"/>
                </a:solidFill>
                <a:latin typeface="Lato Bold"/>
                <a:ea typeface="Lato Bold"/>
                <a:cs typeface="Lato Bold"/>
                <a:sym typeface="Lato Bold"/>
              </a:rPr>
              <a:t>Unterstützte Standards und API-Beschreibung</a:t>
            </a:r>
          </a:p>
        </p:txBody>
      </p:sp>
      <p:sp>
        <p:nvSpPr>
          <p:cNvPr id="34" name="TextBox 34"/>
          <p:cNvSpPr txBox="1"/>
          <p:nvPr/>
        </p:nvSpPr>
        <p:spPr>
          <a:xfrm>
            <a:off x="5927625" y="7690548"/>
            <a:ext cx="1040242" cy="282674"/>
          </a:xfrm>
          <a:prstGeom prst="rect">
            <a:avLst/>
          </a:prstGeom>
        </p:spPr>
        <p:txBody>
          <a:bodyPr lIns="0" tIns="0" rIns="0" bIns="0" rtlCol="0" anchor="t">
            <a:spAutoFit/>
          </a:bodyPr>
          <a:lstStyle/>
          <a:p>
            <a:pPr algn="l">
              <a:lnSpc>
                <a:spcPts val="2199"/>
              </a:lnSpc>
            </a:pPr>
            <a:r>
              <a:rPr lang="en-US" sz="2000" b="1">
                <a:solidFill>
                  <a:srgbClr val="2B473D"/>
                </a:solidFill>
                <a:latin typeface="Lato Bold"/>
                <a:ea typeface="Lato Bold"/>
                <a:cs typeface="Lato Bold"/>
                <a:sym typeface="Lato Bold"/>
              </a:rPr>
              <a:t>/search</a:t>
            </a:r>
          </a:p>
        </p:txBody>
      </p:sp>
      <p:sp>
        <p:nvSpPr>
          <p:cNvPr id="35" name="TextBox 35"/>
          <p:cNvSpPr txBox="1"/>
          <p:nvPr/>
        </p:nvSpPr>
        <p:spPr>
          <a:xfrm>
            <a:off x="11421997" y="6726313"/>
            <a:ext cx="3163116" cy="558977"/>
          </a:xfrm>
          <a:prstGeom prst="rect">
            <a:avLst/>
          </a:prstGeom>
        </p:spPr>
        <p:txBody>
          <a:bodyPr lIns="0" tIns="0" rIns="0" bIns="0" rtlCol="0" anchor="t">
            <a:spAutoFit/>
          </a:bodyPr>
          <a:lstStyle/>
          <a:p>
            <a:pPr algn="l">
              <a:lnSpc>
                <a:spcPts val="2199"/>
              </a:lnSpc>
            </a:pPr>
            <a:r>
              <a:rPr lang="en-US" sz="2000" b="1">
                <a:solidFill>
                  <a:srgbClr val="666666"/>
                </a:solidFill>
                <a:latin typeface="Lato Bold"/>
                <a:ea typeface="Lato Bold"/>
                <a:cs typeface="Lato Bold"/>
                <a:sym typeface="Lato Bold"/>
              </a:rPr>
              <a:t>Ein bestimmtes Item</a:t>
            </a:r>
          </a:p>
          <a:p>
            <a:pPr algn="l">
              <a:lnSpc>
                <a:spcPts val="2198"/>
              </a:lnSpc>
            </a:pPr>
            <a:endParaRPr lang="en-US" sz="2000" b="1">
              <a:solidFill>
                <a:srgbClr val="666666"/>
              </a:solidFill>
              <a:latin typeface="Lato Bold"/>
              <a:ea typeface="Lato Bold"/>
              <a:cs typeface="Lato Bold"/>
              <a:sym typeface="Lato Bold"/>
            </a:endParaRPr>
          </a:p>
        </p:txBody>
      </p:sp>
      <p:sp>
        <p:nvSpPr>
          <p:cNvPr id="36" name="TextBox 36"/>
          <p:cNvSpPr txBox="1"/>
          <p:nvPr/>
        </p:nvSpPr>
        <p:spPr>
          <a:xfrm>
            <a:off x="5936876" y="2795775"/>
            <a:ext cx="115189" cy="282674"/>
          </a:xfrm>
          <a:prstGeom prst="rect">
            <a:avLst/>
          </a:prstGeom>
        </p:spPr>
        <p:txBody>
          <a:bodyPr lIns="0" tIns="0" rIns="0" bIns="0" rtlCol="0" anchor="t">
            <a:spAutoFit/>
          </a:bodyPr>
          <a:lstStyle/>
          <a:p>
            <a:pPr algn="l">
              <a:lnSpc>
                <a:spcPts val="2199"/>
              </a:lnSpc>
            </a:pPr>
            <a:r>
              <a:rPr lang="en-US" sz="2000" b="1">
                <a:solidFill>
                  <a:srgbClr val="2B473D"/>
                </a:solidFill>
                <a:latin typeface="Lato Bold"/>
                <a:ea typeface="Lato Bold"/>
                <a:cs typeface="Lato Bold"/>
                <a:sym typeface="Lato Bold"/>
              </a:rPr>
              <a:t>/</a:t>
            </a:r>
          </a:p>
        </p:txBody>
      </p:sp>
      <p:sp>
        <p:nvSpPr>
          <p:cNvPr id="37" name="TextBox 37"/>
          <p:cNvSpPr txBox="1"/>
          <p:nvPr/>
        </p:nvSpPr>
        <p:spPr>
          <a:xfrm>
            <a:off x="764145" y="2955027"/>
            <a:ext cx="3544273" cy="5694308"/>
          </a:xfrm>
          <a:prstGeom prst="rect">
            <a:avLst/>
          </a:prstGeom>
        </p:spPr>
        <p:txBody>
          <a:bodyPr lIns="0" tIns="0" rIns="0" bIns="0" rtlCol="0" anchor="t">
            <a:spAutoFit/>
          </a:bodyPr>
          <a:lstStyle/>
          <a:p>
            <a:pPr algn="l">
              <a:lnSpc>
                <a:spcPts val="3064"/>
              </a:lnSpc>
              <a:spcBef>
                <a:spcPct val="0"/>
              </a:spcBef>
            </a:pPr>
            <a:r>
              <a:rPr lang="en-US" sz="2043" spc="-81">
                <a:solidFill>
                  <a:srgbClr val="F4F4F4"/>
                </a:solidFill>
                <a:latin typeface="Lato"/>
                <a:ea typeface="Lato"/>
                <a:cs typeface="Lato"/>
                <a:sym typeface="Lato"/>
              </a:rPr>
              <a:t>Beispiel:</a:t>
            </a:r>
          </a:p>
          <a:p>
            <a:pPr algn="l">
              <a:lnSpc>
                <a:spcPts val="3064"/>
              </a:lnSpc>
              <a:spcBef>
                <a:spcPct val="0"/>
              </a:spcBef>
            </a:pPr>
            <a:endParaRPr lang="en-US" sz="2043" spc="-81">
              <a:solidFill>
                <a:srgbClr val="F4F4F4"/>
              </a:solidFill>
              <a:latin typeface="Lato"/>
              <a:ea typeface="Lato"/>
              <a:cs typeface="Lato"/>
              <a:sym typeface="Lato"/>
            </a:endParaRPr>
          </a:p>
          <a:p>
            <a:pPr algn="l">
              <a:lnSpc>
                <a:spcPts val="3064"/>
              </a:lnSpc>
              <a:spcBef>
                <a:spcPct val="0"/>
              </a:spcBef>
            </a:pPr>
            <a:r>
              <a:rPr lang="en-US" sz="2043" spc="-81">
                <a:solidFill>
                  <a:srgbClr val="F4F4F4"/>
                </a:solidFill>
                <a:latin typeface="Lato"/>
                <a:ea typeface="Lato"/>
                <a:cs typeface="Lato"/>
                <a:sym typeface="Lato"/>
              </a:rPr>
              <a:t>Collection = Luftqualitätsdaten Münster</a:t>
            </a:r>
          </a:p>
          <a:p>
            <a:pPr algn="l">
              <a:lnSpc>
                <a:spcPts val="3064"/>
              </a:lnSpc>
              <a:spcBef>
                <a:spcPct val="0"/>
              </a:spcBef>
            </a:pPr>
            <a:endParaRPr lang="en-US" sz="2043" spc="-81">
              <a:solidFill>
                <a:srgbClr val="F4F4F4"/>
              </a:solidFill>
              <a:latin typeface="Lato"/>
              <a:ea typeface="Lato"/>
              <a:cs typeface="Lato"/>
              <a:sym typeface="Lato"/>
            </a:endParaRPr>
          </a:p>
          <a:p>
            <a:pPr algn="l">
              <a:lnSpc>
                <a:spcPts val="3064"/>
              </a:lnSpc>
              <a:spcBef>
                <a:spcPct val="0"/>
              </a:spcBef>
            </a:pPr>
            <a:r>
              <a:rPr lang="en-US" sz="2043" spc="-81">
                <a:solidFill>
                  <a:srgbClr val="F4F4F4"/>
                </a:solidFill>
                <a:latin typeface="Lato"/>
                <a:ea typeface="Lato"/>
                <a:cs typeface="Lato"/>
                <a:sym typeface="Lato"/>
              </a:rPr>
              <a:t>Item = Messung vom 14.10.2026</a:t>
            </a:r>
          </a:p>
          <a:p>
            <a:pPr algn="l">
              <a:lnSpc>
                <a:spcPts val="3064"/>
              </a:lnSpc>
              <a:spcBef>
                <a:spcPct val="0"/>
              </a:spcBef>
            </a:pPr>
            <a:endParaRPr lang="en-US" sz="2043" spc="-81">
              <a:solidFill>
                <a:srgbClr val="F4F4F4"/>
              </a:solidFill>
              <a:latin typeface="Lato"/>
              <a:ea typeface="Lato"/>
              <a:cs typeface="Lato"/>
              <a:sym typeface="Lato"/>
            </a:endParaRPr>
          </a:p>
          <a:p>
            <a:pPr algn="l">
              <a:lnSpc>
                <a:spcPts val="3064"/>
              </a:lnSpc>
              <a:spcBef>
                <a:spcPct val="0"/>
              </a:spcBef>
            </a:pPr>
            <a:r>
              <a:rPr lang="en-US" sz="2043" spc="-81">
                <a:solidFill>
                  <a:srgbClr val="F4F4F4"/>
                </a:solidFill>
                <a:latin typeface="Lato"/>
                <a:ea typeface="Lato"/>
                <a:cs typeface="Lato"/>
                <a:sym typeface="Lato"/>
              </a:rPr>
              <a:t>/collections/air-quality-muenster</a:t>
            </a:r>
          </a:p>
          <a:p>
            <a:pPr algn="l">
              <a:lnSpc>
                <a:spcPts val="3064"/>
              </a:lnSpc>
              <a:spcBef>
                <a:spcPct val="0"/>
              </a:spcBef>
            </a:pPr>
            <a:r>
              <a:rPr lang="en-US" sz="2043" spc="-81">
                <a:solidFill>
                  <a:srgbClr val="F4F4F4"/>
                </a:solidFill>
                <a:latin typeface="Lato"/>
                <a:ea typeface="Lato"/>
                <a:cs typeface="Lato"/>
                <a:sym typeface="Lato"/>
              </a:rPr>
              <a:t>→ beschreibt den gesamten Datensatz</a:t>
            </a:r>
          </a:p>
          <a:p>
            <a:pPr algn="l">
              <a:lnSpc>
                <a:spcPts val="3064"/>
              </a:lnSpc>
              <a:spcBef>
                <a:spcPct val="0"/>
              </a:spcBef>
            </a:pPr>
            <a:endParaRPr lang="en-US" sz="2043" spc="-81">
              <a:solidFill>
                <a:srgbClr val="F4F4F4"/>
              </a:solidFill>
              <a:latin typeface="Lato"/>
              <a:ea typeface="Lato"/>
              <a:cs typeface="Lato"/>
              <a:sym typeface="Lato"/>
            </a:endParaRPr>
          </a:p>
          <a:p>
            <a:pPr algn="l">
              <a:lnSpc>
                <a:spcPts val="3064"/>
              </a:lnSpc>
              <a:spcBef>
                <a:spcPct val="0"/>
              </a:spcBef>
            </a:pPr>
            <a:r>
              <a:rPr lang="en-US" sz="2043" spc="-81">
                <a:solidFill>
                  <a:srgbClr val="F4F4F4"/>
                </a:solidFill>
                <a:latin typeface="Lato"/>
                <a:ea typeface="Lato"/>
                <a:cs typeface="Lato"/>
                <a:sym typeface="Lato"/>
              </a:rPr>
              <a:t>/collections/air-quality-muenster/items/air-quality-2026-10-14</a:t>
            </a:r>
          </a:p>
          <a:p>
            <a:pPr algn="l">
              <a:lnSpc>
                <a:spcPts val="3064"/>
              </a:lnSpc>
              <a:spcBef>
                <a:spcPct val="0"/>
              </a:spcBef>
            </a:pPr>
            <a:r>
              <a:rPr lang="en-US" sz="2043" spc="-81">
                <a:solidFill>
                  <a:srgbClr val="F4F4F4"/>
                </a:solidFill>
                <a:latin typeface="Lato"/>
                <a:ea typeface="Lato"/>
                <a:cs typeface="Lato"/>
                <a:sym typeface="Lato"/>
              </a:rPr>
              <a:t>→ ruft ein bestimmtes Item ab</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de-DE"/>
          </a:p>
        </p:txBody>
      </p:sp>
      <p:sp>
        <p:nvSpPr>
          <p:cNvPr id="3" name="Freeform 3"/>
          <p:cNvSpPr/>
          <p:nvPr/>
        </p:nvSpPr>
        <p:spPr>
          <a:xfrm>
            <a:off x="2137486" y="2687412"/>
            <a:ext cx="6322048" cy="1289974"/>
          </a:xfrm>
          <a:custGeom>
            <a:avLst/>
            <a:gdLst/>
            <a:ahLst/>
            <a:cxnLst/>
            <a:rect l="l" t="t" r="r" b="b"/>
            <a:pathLst>
              <a:path w="6322048" h="1289974">
                <a:moveTo>
                  <a:pt x="0" y="0"/>
                </a:moveTo>
                <a:lnTo>
                  <a:pt x="6322047" y="0"/>
                </a:lnTo>
                <a:lnTo>
                  <a:pt x="6322047" y="1289974"/>
                </a:lnTo>
                <a:lnTo>
                  <a:pt x="0" y="1289974"/>
                </a:lnTo>
                <a:lnTo>
                  <a:pt x="0" y="0"/>
                </a:lnTo>
                <a:close/>
              </a:path>
            </a:pathLst>
          </a:custGeom>
          <a:blipFill>
            <a:blip r:embed="rId3"/>
            <a:stretch>
              <a:fillRect/>
            </a:stretch>
          </a:blipFill>
        </p:spPr>
        <p:txBody>
          <a:bodyPr/>
          <a:lstStyle/>
          <a:p>
            <a:endParaRPr lang="de-DE"/>
          </a:p>
        </p:txBody>
      </p:sp>
      <p:sp>
        <p:nvSpPr>
          <p:cNvPr id="4" name="Freeform 4"/>
          <p:cNvSpPr/>
          <p:nvPr/>
        </p:nvSpPr>
        <p:spPr>
          <a:xfrm>
            <a:off x="2137486" y="3758746"/>
            <a:ext cx="6322048" cy="4503979"/>
          </a:xfrm>
          <a:custGeom>
            <a:avLst/>
            <a:gdLst/>
            <a:ahLst/>
            <a:cxnLst/>
            <a:rect l="l" t="t" r="r" b="b"/>
            <a:pathLst>
              <a:path w="6322048" h="4503979">
                <a:moveTo>
                  <a:pt x="0" y="0"/>
                </a:moveTo>
                <a:lnTo>
                  <a:pt x="6322047" y="0"/>
                </a:lnTo>
                <a:lnTo>
                  <a:pt x="6322047" y="4503979"/>
                </a:lnTo>
                <a:lnTo>
                  <a:pt x="0" y="4503979"/>
                </a:lnTo>
                <a:lnTo>
                  <a:pt x="0" y="0"/>
                </a:lnTo>
                <a:close/>
              </a:path>
            </a:pathLst>
          </a:custGeom>
          <a:blipFill>
            <a:blip r:embed="rId4"/>
            <a:stretch>
              <a:fillRect/>
            </a:stretch>
          </a:blipFill>
        </p:spPr>
        <p:txBody>
          <a:bodyPr/>
          <a:lstStyle/>
          <a:p>
            <a:endParaRPr lang="de-DE"/>
          </a:p>
        </p:txBody>
      </p:sp>
      <p:sp>
        <p:nvSpPr>
          <p:cNvPr id="5" name="Freeform 5"/>
          <p:cNvSpPr/>
          <p:nvPr/>
        </p:nvSpPr>
        <p:spPr>
          <a:xfrm>
            <a:off x="10198643" y="2687412"/>
            <a:ext cx="6540804" cy="1289974"/>
          </a:xfrm>
          <a:custGeom>
            <a:avLst/>
            <a:gdLst/>
            <a:ahLst/>
            <a:cxnLst/>
            <a:rect l="l" t="t" r="r" b="b"/>
            <a:pathLst>
              <a:path w="6540804" h="1289974">
                <a:moveTo>
                  <a:pt x="0" y="0"/>
                </a:moveTo>
                <a:lnTo>
                  <a:pt x="6540804" y="0"/>
                </a:lnTo>
                <a:lnTo>
                  <a:pt x="6540804" y="1289974"/>
                </a:lnTo>
                <a:lnTo>
                  <a:pt x="0" y="1289974"/>
                </a:lnTo>
                <a:lnTo>
                  <a:pt x="0" y="0"/>
                </a:lnTo>
                <a:close/>
              </a:path>
            </a:pathLst>
          </a:custGeom>
          <a:blipFill>
            <a:blip r:embed="rId5"/>
            <a:stretch>
              <a:fillRect/>
            </a:stretch>
          </a:blipFill>
        </p:spPr>
        <p:txBody>
          <a:bodyPr/>
          <a:lstStyle/>
          <a:p>
            <a:endParaRPr lang="de-DE"/>
          </a:p>
        </p:txBody>
      </p:sp>
      <p:sp>
        <p:nvSpPr>
          <p:cNvPr id="6" name="Freeform 6"/>
          <p:cNvSpPr/>
          <p:nvPr/>
        </p:nvSpPr>
        <p:spPr>
          <a:xfrm>
            <a:off x="10198643" y="3758746"/>
            <a:ext cx="6540804" cy="4503979"/>
          </a:xfrm>
          <a:custGeom>
            <a:avLst/>
            <a:gdLst/>
            <a:ahLst/>
            <a:cxnLst/>
            <a:rect l="l" t="t" r="r" b="b"/>
            <a:pathLst>
              <a:path w="6540804" h="4503979">
                <a:moveTo>
                  <a:pt x="0" y="0"/>
                </a:moveTo>
                <a:lnTo>
                  <a:pt x="6540804" y="0"/>
                </a:lnTo>
                <a:lnTo>
                  <a:pt x="6540804" y="4503979"/>
                </a:lnTo>
                <a:lnTo>
                  <a:pt x="0" y="4503979"/>
                </a:lnTo>
                <a:lnTo>
                  <a:pt x="0" y="0"/>
                </a:lnTo>
                <a:close/>
              </a:path>
            </a:pathLst>
          </a:custGeom>
          <a:blipFill>
            <a:blip r:embed="rId6"/>
            <a:stretch>
              <a:fillRect/>
            </a:stretch>
          </a:blipFill>
        </p:spPr>
        <p:txBody>
          <a:bodyPr/>
          <a:lstStyle/>
          <a:p>
            <a:endParaRPr lang="de-DE"/>
          </a:p>
        </p:txBody>
      </p:sp>
      <p:sp>
        <p:nvSpPr>
          <p:cNvPr id="7" name="TextBox 7"/>
          <p:cNvSpPr txBox="1"/>
          <p:nvPr/>
        </p:nvSpPr>
        <p:spPr>
          <a:xfrm>
            <a:off x="662332" y="837531"/>
            <a:ext cx="8776134" cy="1706302"/>
          </a:xfrm>
          <a:prstGeom prst="rect">
            <a:avLst/>
          </a:prstGeom>
        </p:spPr>
        <p:txBody>
          <a:bodyPr lIns="0" tIns="0" rIns="0" bIns="0" rtlCol="0" anchor="t">
            <a:spAutoFit/>
          </a:bodyPr>
          <a:lstStyle/>
          <a:p>
            <a:pPr algn="l">
              <a:lnSpc>
                <a:spcPts val="6747"/>
              </a:lnSpc>
            </a:pPr>
            <a:r>
              <a:rPr lang="en-US" sz="6246" b="1">
                <a:solidFill>
                  <a:srgbClr val="274237"/>
                </a:solidFill>
                <a:latin typeface="Lato Bold"/>
                <a:ea typeface="Lato Bold"/>
                <a:cs typeface="Lato Bold"/>
                <a:sym typeface="Lato Bold"/>
              </a:rPr>
              <a:t>Statischer STAC Catalog vs. STAC API</a:t>
            </a:r>
          </a:p>
        </p:txBody>
      </p:sp>
      <p:sp>
        <p:nvSpPr>
          <p:cNvPr id="8" name="TextBox 8"/>
          <p:cNvSpPr txBox="1"/>
          <p:nvPr/>
        </p:nvSpPr>
        <p:spPr>
          <a:xfrm>
            <a:off x="3171496" y="3089377"/>
            <a:ext cx="4204408" cy="409342"/>
          </a:xfrm>
          <a:prstGeom prst="rect">
            <a:avLst/>
          </a:prstGeom>
        </p:spPr>
        <p:txBody>
          <a:bodyPr lIns="0" tIns="0" rIns="0" bIns="0" rtlCol="0" anchor="t">
            <a:spAutoFit/>
          </a:bodyPr>
          <a:lstStyle/>
          <a:p>
            <a:pPr algn="ctr">
              <a:lnSpc>
                <a:spcPts val="3208"/>
              </a:lnSpc>
            </a:pPr>
            <a:r>
              <a:rPr lang="en-US" sz="2970" b="1">
                <a:solidFill>
                  <a:srgbClr val="F6F6F6"/>
                </a:solidFill>
                <a:latin typeface="Lato Bold"/>
                <a:ea typeface="Lato Bold"/>
                <a:cs typeface="Lato Bold"/>
                <a:sym typeface="Lato Bold"/>
              </a:rPr>
              <a:t>Statischer STAC Catalog</a:t>
            </a:r>
          </a:p>
        </p:txBody>
      </p:sp>
      <p:sp>
        <p:nvSpPr>
          <p:cNvPr id="9" name="TextBox 9"/>
          <p:cNvSpPr txBox="1"/>
          <p:nvPr/>
        </p:nvSpPr>
        <p:spPr>
          <a:xfrm>
            <a:off x="2611326" y="4387337"/>
            <a:ext cx="3275885" cy="388681"/>
          </a:xfrm>
          <a:prstGeom prst="rect">
            <a:avLst/>
          </a:prstGeom>
        </p:spPr>
        <p:txBody>
          <a:bodyPr lIns="0" tIns="0" rIns="0" bIns="0" rtlCol="0" anchor="t">
            <a:spAutoFit/>
          </a:bodyPr>
          <a:lstStyle/>
          <a:p>
            <a:pPr algn="l">
              <a:lnSpc>
                <a:spcPts val="3119"/>
              </a:lnSpc>
            </a:pPr>
            <a:r>
              <a:rPr lang="en-US" sz="2400">
                <a:solidFill>
                  <a:srgbClr val="737373"/>
                </a:solidFill>
                <a:latin typeface="Lato"/>
                <a:ea typeface="Lato"/>
                <a:cs typeface="Lato"/>
                <a:sym typeface="Lato"/>
              </a:rPr>
              <a:t>Verlinkte JSON-Dateien</a:t>
            </a:r>
          </a:p>
        </p:txBody>
      </p:sp>
      <p:sp>
        <p:nvSpPr>
          <p:cNvPr id="10" name="TextBox 10"/>
          <p:cNvSpPr txBox="1"/>
          <p:nvPr/>
        </p:nvSpPr>
        <p:spPr>
          <a:xfrm>
            <a:off x="2592687" y="5998847"/>
            <a:ext cx="5139845" cy="388681"/>
          </a:xfrm>
          <a:prstGeom prst="rect">
            <a:avLst/>
          </a:prstGeom>
        </p:spPr>
        <p:txBody>
          <a:bodyPr lIns="0" tIns="0" rIns="0" bIns="0" rtlCol="0" anchor="t">
            <a:spAutoFit/>
          </a:bodyPr>
          <a:lstStyle/>
          <a:p>
            <a:pPr algn="l">
              <a:lnSpc>
                <a:spcPts val="3119"/>
              </a:lnSpc>
            </a:pPr>
            <a:r>
              <a:rPr lang="en-US" sz="2400">
                <a:solidFill>
                  <a:srgbClr val="737373"/>
                </a:solidFill>
                <a:latin typeface="Lato"/>
                <a:ea typeface="Lato"/>
                <a:cs typeface="Lato"/>
                <a:sym typeface="Lato"/>
              </a:rPr>
              <a:t>Gut für kleinere oder stabile Bestände</a:t>
            </a:r>
          </a:p>
        </p:txBody>
      </p:sp>
      <p:sp>
        <p:nvSpPr>
          <p:cNvPr id="11" name="TextBox 11"/>
          <p:cNvSpPr txBox="1"/>
          <p:nvPr/>
        </p:nvSpPr>
        <p:spPr>
          <a:xfrm>
            <a:off x="2603690" y="6766950"/>
            <a:ext cx="4039507" cy="388681"/>
          </a:xfrm>
          <a:prstGeom prst="rect">
            <a:avLst/>
          </a:prstGeom>
        </p:spPr>
        <p:txBody>
          <a:bodyPr lIns="0" tIns="0" rIns="0" bIns="0" rtlCol="0" anchor="t">
            <a:spAutoFit/>
          </a:bodyPr>
          <a:lstStyle/>
          <a:p>
            <a:pPr algn="l">
              <a:lnSpc>
                <a:spcPts val="3119"/>
              </a:lnSpc>
            </a:pPr>
            <a:r>
              <a:rPr lang="en-US" sz="2400">
                <a:solidFill>
                  <a:srgbClr val="737373"/>
                </a:solidFill>
                <a:latin typeface="Lato"/>
                <a:ea typeface="Lato"/>
                <a:cs typeface="Lato"/>
                <a:sym typeface="Lato"/>
              </a:rPr>
              <a:t>Weniger flexibel bei Abfragen</a:t>
            </a:r>
          </a:p>
        </p:txBody>
      </p:sp>
      <p:sp>
        <p:nvSpPr>
          <p:cNvPr id="12" name="TextBox 12"/>
          <p:cNvSpPr txBox="1"/>
          <p:nvPr/>
        </p:nvSpPr>
        <p:spPr>
          <a:xfrm>
            <a:off x="12515993" y="3089377"/>
            <a:ext cx="1690648" cy="409342"/>
          </a:xfrm>
          <a:prstGeom prst="rect">
            <a:avLst/>
          </a:prstGeom>
        </p:spPr>
        <p:txBody>
          <a:bodyPr lIns="0" tIns="0" rIns="0" bIns="0" rtlCol="0" anchor="t">
            <a:spAutoFit/>
          </a:bodyPr>
          <a:lstStyle/>
          <a:p>
            <a:pPr algn="ctr">
              <a:lnSpc>
                <a:spcPts val="3208"/>
              </a:lnSpc>
            </a:pPr>
            <a:r>
              <a:rPr lang="en-US" sz="2970" b="1">
                <a:solidFill>
                  <a:srgbClr val="F6F6F6"/>
                </a:solidFill>
                <a:latin typeface="Lato Bold"/>
                <a:ea typeface="Lato Bold"/>
                <a:cs typeface="Lato Bold"/>
                <a:sym typeface="Lato Bold"/>
              </a:rPr>
              <a:t>STAC API</a:t>
            </a:r>
          </a:p>
        </p:txBody>
      </p:sp>
      <p:sp>
        <p:nvSpPr>
          <p:cNvPr id="13" name="TextBox 13"/>
          <p:cNvSpPr txBox="1"/>
          <p:nvPr/>
        </p:nvSpPr>
        <p:spPr>
          <a:xfrm>
            <a:off x="10554513" y="4342154"/>
            <a:ext cx="4592375" cy="388681"/>
          </a:xfrm>
          <a:prstGeom prst="rect">
            <a:avLst/>
          </a:prstGeom>
        </p:spPr>
        <p:txBody>
          <a:bodyPr lIns="0" tIns="0" rIns="0" bIns="0" rtlCol="0" anchor="t">
            <a:spAutoFit/>
          </a:bodyPr>
          <a:lstStyle/>
          <a:p>
            <a:pPr algn="l">
              <a:lnSpc>
                <a:spcPts val="3119"/>
              </a:lnSpc>
            </a:pPr>
            <a:r>
              <a:rPr lang="en-US" sz="2400">
                <a:solidFill>
                  <a:srgbClr val="737373"/>
                </a:solidFill>
                <a:latin typeface="Lato"/>
                <a:ea typeface="Lato"/>
                <a:cs typeface="Lato"/>
                <a:sym typeface="Lato"/>
              </a:rPr>
              <a:t>Server mit Endpoints (GET, POST)</a:t>
            </a:r>
          </a:p>
        </p:txBody>
      </p:sp>
      <p:sp>
        <p:nvSpPr>
          <p:cNvPr id="14" name="TextBox 14"/>
          <p:cNvSpPr txBox="1"/>
          <p:nvPr/>
        </p:nvSpPr>
        <p:spPr>
          <a:xfrm>
            <a:off x="10552199" y="5034953"/>
            <a:ext cx="4823789" cy="779206"/>
          </a:xfrm>
          <a:prstGeom prst="rect">
            <a:avLst/>
          </a:prstGeom>
        </p:spPr>
        <p:txBody>
          <a:bodyPr lIns="0" tIns="0" rIns="0" bIns="0" rtlCol="0" anchor="t">
            <a:spAutoFit/>
          </a:bodyPr>
          <a:lstStyle/>
          <a:p>
            <a:pPr algn="l">
              <a:lnSpc>
                <a:spcPts val="3119"/>
              </a:lnSpc>
            </a:pPr>
            <a:r>
              <a:rPr lang="en-US" sz="2400">
                <a:solidFill>
                  <a:srgbClr val="737373"/>
                </a:solidFill>
                <a:latin typeface="Lato"/>
                <a:ea typeface="Lato"/>
                <a:cs typeface="Lato"/>
                <a:sym typeface="Lato"/>
              </a:rPr>
              <a:t>Gezielte Requests über /search und /collections</a:t>
            </a:r>
          </a:p>
        </p:txBody>
      </p:sp>
      <p:sp>
        <p:nvSpPr>
          <p:cNvPr id="15" name="TextBox 15"/>
          <p:cNvSpPr txBox="1"/>
          <p:nvPr/>
        </p:nvSpPr>
        <p:spPr>
          <a:xfrm>
            <a:off x="10550173" y="6044029"/>
            <a:ext cx="5026374" cy="779206"/>
          </a:xfrm>
          <a:prstGeom prst="rect">
            <a:avLst/>
          </a:prstGeom>
        </p:spPr>
        <p:txBody>
          <a:bodyPr lIns="0" tIns="0" rIns="0" bIns="0" rtlCol="0" anchor="t">
            <a:spAutoFit/>
          </a:bodyPr>
          <a:lstStyle/>
          <a:p>
            <a:pPr algn="l">
              <a:lnSpc>
                <a:spcPts val="3119"/>
              </a:lnSpc>
            </a:pPr>
            <a:r>
              <a:rPr lang="en-US" sz="2400">
                <a:solidFill>
                  <a:srgbClr val="737373"/>
                </a:solidFill>
                <a:latin typeface="Lato"/>
                <a:ea typeface="Lato"/>
                <a:cs typeface="Lato"/>
                <a:sym typeface="Lato"/>
              </a:rPr>
              <a:t>Gut für große oder häufig veränderte Bestände</a:t>
            </a:r>
          </a:p>
        </p:txBody>
      </p:sp>
      <p:sp>
        <p:nvSpPr>
          <p:cNvPr id="16" name="TextBox 16"/>
          <p:cNvSpPr txBox="1"/>
          <p:nvPr/>
        </p:nvSpPr>
        <p:spPr>
          <a:xfrm>
            <a:off x="10540875" y="7113349"/>
            <a:ext cx="5956196" cy="388681"/>
          </a:xfrm>
          <a:prstGeom prst="rect">
            <a:avLst/>
          </a:prstGeom>
        </p:spPr>
        <p:txBody>
          <a:bodyPr lIns="0" tIns="0" rIns="0" bIns="0" rtlCol="0" anchor="t">
            <a:spAutoFit/>
          </a:bodyPr>
          <a:lstStyle/>
          <a:p>
            <a:pPr algn="l">
              <a:lnSpc>
                <a:spcPts val="3119"/>
              </a:lnSpc>
            </a:pPr>
            <a:r>
              <a:rPr lang="en-US" sz="2400">
                <a:solidFill>
                  <a:srgbClr val="737373"/>
                </a:solidFill>
                <a:latin typeface="Lato"/>
                <a:ea typeface="Lato"/>
                <a:cs typeface="Lato"/>
                <a:sym typeface="Lato"/>
              </a:rPr>
              <a:t>Mehr Flexibilität, dafür technisch komplexer</a:t>
            </a:r>
          </a:p>
        </p:txBody>
      </p:sp>
      <p:sp>
        <p:nvSpPr>
          <p:cNvPr id="17" name="TextBox 17"/>
          <p:cNvSpPr txBox="1"/>
          <p:nvPr/>
        </p:nvSpPr>
        <p:spPr>
          <a:xfrm>
            <a:off x="8363285" y="5433245"/>
            <a:ext cx="1802897" cy="538813"/>
          </a:xfrm>
          <a:prstGeom prst="rect">
            <a:avLst/>
          </a:prstGeom>
        </p:spPr>
        <p:txBody>
          <a:bodyPr lIns="0" tIns="0" rIns="0" bIns="0" rtlCol="0" anchor="t">
            <a:spAutoFit/>
          </a:bodyPr>
          <a:lstStyle/>
          <a:p>
            <a:pPr algn="ctr">
              <a:lnSpc>
                <a:spcPts val="4205"/>
              </a:lnSpc>
            </a:pPr>
            <a:r>
              <a:rPr lang="en-US" sz="3893" b="1">
                <a:solidFill>
                  <a:srgbClr val="999F8D"/>
                </a:solidFill>
                <a:latin typeface="Lato Bold"/>
                <a:ea typeface="Lato Bold"/>
                <a:cs typeface="Lato Bold"/>
                <a:sym typeface="Lato Bold"/>
              </a:rPr>
              <a:t>— VS. —</a:t>
            </a:r>
          </a:p>
        </p:txBody>
      </p:sp>
      <p:sp>
        <p:nvSpPr>
          <p:cNvPr id="18" name="TextBox 18"/>
          <p:cNvSpPr txBox="1"/>
          <p:nvPr/>
        </p:nvSpPr>
        <p:spPr>
          <a:xfrm>
            <a:off x="2619678" y="5170501"/>
            <a:ext cx="2440725" cy="388681"/>
          </a:xfrm>
          <a:prstGeom prst="rect">
            <a:avLst/>
          </a:prstGeom>
        </p:spPr>
        <p:txBody>
          <a:bodyPr lIns="0" tIns="0" rIns="0" bIns="0" rtlCol="0" anchor="t">
            <a:spAutoFit/>
          </a:bodyPr>
          <a:lstStyle/>
          <a:p>
            <a:pPr algn="l">
              <a:lnSpc>
                <a:spcPts val="3119"/>
              </a:lnSpc>
            </a:pPr>
            <a:r>
              <a:rPr lang="en-US" sz="2400">
                <a:solidFill>
                  <a:srgbClr val="737373"/>
                </a:solidFill>
                <a:latin typeface="Lato"/>
                <a:ea typeface="Lato"/>
                <a:cs typeface="Lato"/>
                <a:sym typeface="Lato"/>
              </a:rPr>
              <a:t>Einfaches Hosting</a:t>
            </a:r>
          </a:p>
        </p:txBody>
      </p:sp>
      <p:sp>
        <p:nvSpPr>
          <p:cNvPr id="19" name="TextBox 19"/>
          <p:cNvSpPr txBox="1"/>
          <p:nvPr/>
        </p:nvSpPr>
        <p:spPr>
          <a:xfrm>
            <a:off x="427271" y="8567525"/>
            <a:ext cx="16832029" cy="2011884"/>
          </a:xfrm>
          <a:prstGeom prst="rect">
            <a:avLst/>
          </a:prstGeom>
        </p:spPr>
        <p:txBody>
          <a:bodyPr lIns="0" tIns="0" rIns="0" bIns="0" rtlCol="0" anchor="t">
            <a:spAutoFit/>
          </a:bodyPr>
          <a:lstStyle/>
          <a:p>
            <a:pPr algn="ctr">
              <a:lnSpc>
                <a:spcPts val="2636"/>
              </a:lnSpc>
            </a:pPr>
            <a:r>
              <a:rPr lang="en-US" sz="2399" b="1">
                <a:solidFill>
                  <a:srgbClr val="666666"/>
                </a:solidFill>
                <a:latin typeface="Lato Bold"/>
                <a:ea typeface="Lato Bold"/>
                <a:cs typeface="Lato Bold"/>
                <a:sym typeface="Lato Bold"/>
              </a:rPr>
              <a:t>Ein statischer Catalog ist daher sinnvoll, wenn die Datenmenge überschaubar ist und sich nur selten ändert.</a:t>
            </a:r>
          </a:p>
          <a:p>
            <a:pPr algn="ctr">
              <a:lnSpc>
                <a:spcPts val="2636"/>
              </a:lnSpc>
            </a:pPr>
            <a:endParaRPr lang="en-US" sz="2399" b="1">
              <a:solidFill>
                <a:srgbClr val="666666"/>
              </a:solidFill>
              <a:latin typeface="Lato Bold"/>
              <a:ea typeface="Lato Bold"/>
              <a:cs typeface="Lato Bold"/>
              <a:sym typeface="Lato Bold"/>
            </a:endParaRPr>
          </a:p>
          <a:p>
            <a:pPr algn="ctr">
              <a:lnSpc>
                <a:spcPts val="2636"/>
              </a:lnSpc>
            </a:pPr>
            <a:r>
              <a:rPr lang="en-US" sz="2399" b="1">
                <a:solidFill>
                  <a:srgbClr val="666666"/>
                </a:solidFill>
                <a:latin typeface="Lato Bold"/>
                <a:ea typeface="Lato Bold"/>
                <a:cs typeface="Lato Bold"/>
                <a:sym typeface="Lato Bold"/>
              </a:rPr>
              <a:t>Eine STAC API eignet sich besonders bei großen Datenmengen, häufigen Suchanfragen oder wenn andere Anwendungen automatisch auf die Daten zugreifen sollen.</a:t>
            </a:r>
          </a:p>
          <a:p>
            <a:pPr algn="l">
              <a:lnSpc>
                <a:spcPts val="2636"/>
              </a:lnSpc>
            </a:pPr>
            <a:endParaRPr lang="en-US" sz="2399" b="1">
              <a:solidFill>
                <a:srgbClr val="666666"/>
              </a:solidFill>
              <a:latin typeface="Lato Bold"/>
              <a:ea typeface="Lato Bold"/>
              <a:cs typeface="Lato Bold"/>
              <a:sym typeface="Lato Bold"/>
            </a:endParaRPr>
          </a:p>
          <a:p>
            <a:pPr algn="l">
              <a:lnSpc>
                <a:spcPts val="2638"/>
              </a:lnSpc>
            </a:pPr>
            <a:endParaRPr lang="en-US" sz="2399" b="1">
              <a:solidFill>
                <a:srgbClr val="666666"/>
              </a:solidFill>
              <a:latin typeface="Lato Bold"/>
              <a:ea typeface="Lato Bold"/>
              <a:cs typeface="Lato Bold"/>
              <a:sym typeface="Lato Bo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de-DE"/>
          </a:p>
        </p:txBody>
      </p:sp>
      <p:sp>
        <p:nvSpPr>
          <p:cNvPr id="3" name="TextBox 3"/>
          <p:cNvSpPr txBox="1"/>
          <p:nvPr/>
        </p:nvSpPr>
        <p:spPr>
          <a:xfrm>
            <a:off x="896284" y="701067"/>
            <a:ext cx="9491101" cy="848329"/>
          </a:xfrm>
          <a:prstGeom prst="rect">
            <a:avLst/>
          </a:prstGeom>
        </p:spPr>
        <p:txBody>
          <a:bodyPr lIns="0" tIns="0" rIns="0" bIns="0" rtlCol="0" anchor="t">
            <a:spAutoFit/>
          </a:bodyPr>
          <a:lstStyle/>
          <a:p>
            <a:pPr algn="l">
              <a:lnSpc>
                <a:spcPts val="6666"/>
              </a:lnSpc>
            </a:pPr>
            <a:r>
              <a:rPr lang="en-US" sz="5554" b="1" spc="-54">
                <a:solidFill>
                  <a:srgbClr val="264639"/>
                </a:solidFill>
                <a:latin typeface="Lato Bold"/>
                <a:ea typeface="Lato Bold"/>
                <a:cs typeface="Lato Bold"/>
                <a:sym typeface="Lato Bold"/>
              </a:rPr>
              <a:t>Typische Anwendungsfälle</a:t>
            </a:r>
          </a:p>
        </p:txBody>
      </p:sp>
      <p:sp>
        <p:nvSpPr>
          <p:cNvPr id="4" name="Freeform 4"/>
          <p:cNvSpPr/>
          <p:nvPr/>
        </p:nvSpPr>
        <p:spPr>
          <a:xfrm>
            <a:off x="645330" y="2142670"/>
            <a:ext cx="3062584" cy="3006296"/>
          </a:xfrm>
          <a:custGeom>
            <a:avLst/>
            <a:gdLst/>
            <a:ahLst/>
            <a:cxnLst/>
            <a:rect l="l" t="t" r="r" b="b"/>
            <a:pathLst>
              <a:path w="3062584" h="3006296">
                <a:moveTo>
                  <a:pt x="0" y="0"/>
                </a:moveTo>
                <a:lnTo>
                  <a:pt x="3062584" y="0"/>
                </a:lnTo>
                <a:lnTo>
                  <a:pt x="3062584" y="3006296"/>
                </a:lnTo>
                <a:lnTo>
                  <a:pt x="0" y="3006296"/>
                </a:lnTo>
                <a:lnTo>
                  <a:pt x="0" y="0"/>
                </a:lnTo>
                <a:close/>
              </a:path>
            </a:pathLst>
          </a:custGeom>
          <a:blipFill>
            <a:blip r:embed="rId3"/>
            <a:stretch>
              <a:fillRect/>
            </a:stretch>
          </a:blipFill>
        </p:spPr>
        <p:txBody>
          <a:bodyPr/>
          <a:lstStyle/>
          <a:p>
            <a:endParaRPr lang="de-DE"/>
          </a:p>
        </p:txBody>
      </p:sp>
      <p:sp>
        <p:nvSpPr>
          <p:cNvPr id="5" name="TextBox 5"/>
          <p:cNvSpPr txBox="1"/>
          <p:nvPr/>
        </p:nvSpPr>
        <p:spPr>
          <a:xfrm>
            <a:off x="3940248" y="2876617"/>
            <a:ext cx="2453372" cy="412755"/>
          </a:xfrm>
          <a:prstGeom prst="rect">
            <a:avLst/>
          </a:prstGeom>
        </p:spPr>
        <p:txBody>
          <a:bodyPr lIns="0" tIns="0" rIns="0" bIns="0" rtlCol="0" anchor="t">
            <a:spAutoFit/>
          </a:bodyPr>
          <a:lstStyle/>
          <a:p>
            <a:pPr algn="l">
              <a:lnSpc>
                <a:spcPts val="3483"/>
              </a:lnSpc>
            </a:pPr>
            <a:r>
              <a:rPr lang="en-US" sz="2487" b="1" spc="-24">
                <a:solidFill>
                  <a:srgbClr val="264639"/>
                </a:solidFill>
                <a:latin typeface="Lato Bold"/>
                <a:ea typeface="Lato Bold"/>
                <a:cs typeface="Lato Bold"/>
                <a:sym typeface="Lato Bold"/>
              </a:rPr>
              <a:t>Satellitenbilder</a:t>
            </a:r>
          </a:p>
        </p:txBody>
      </p:sp>
      <p:sp>
        <p:nvSpPr>
          <p:cNvPr id="6" name="TextBox 6"/>
          <p:cNvSpPr txBox="1"/>
          <p:nvPr/>
        </p:nvSpPr>
        <p:spPr>
          <a:xfrm>
            <a:off x="3940709" y="3484658"/>
            <a:ext cx="2407247" cy="1003640"/>
          </a:xfrm>
          <a:prstGeom prst="rect">
            <a:avLst/>
          </a:prstGeom>
        </p:spPr>
        <p:txBody>
          <a:bodyPr lIns="0" tIns="0" rIns="0" bIns="0" rtlCol="0" anchor="t">
            <a:spAutoFit/>
          </a:bodyPr>
          <a:lstStyle/>
          <a:p>
            <a:pPr algn="l">
              <a:lnSpc>
                <a:spcPts val="2794"/>
              </a:lnSpc>
            </a:pPr>
            <a:r>
              <a:rPr lang="en-US" sz="1863" b="1" spc="-74">
                <a:solidFill>
                  <a:srgbClr val="444440"/>
                </a:solidFill>
                <a:latin typeface="Lato Bold"/>
                <a:ea typeface="Lato Bold"/>
                <a:cs typeface="Lato Bold"/>
                <a:sym typeface="Lato Bold"/>
              </a:rPr>
              <a:t>Nur Aufnahmen für </a:t>
            </a:r>
          </a:p>
          <a:p>
            <a:pPr algn="l">
              <a:lnSpc>
                <a:spcPts val="2794"/>
              </a:lnSpc>
            </a:pPr>
            <a:r>
              <a:rPr lang="en-US" sz="1863" b="1" spc="-74">
                <a:solidFill>
                  <a:srgbClr val="444440"/>
                </a:solidFill>
                <a:latin typeface="Lato Bold"/>
                <a:ea typeface="Lato Bold"/>
                <a:cs typeface="Lato Bold"/>
                <a:sym typeface="Lato Bold"/>
              </a:rPr>
              <a:t>einen bestimmten Ort und Zeitraum suchen</a:t>
            </a:r>
          </a:p>
        </p:txBody>
      </p:sp>
      <p:sp>
        <p:nvSpPr>
          <p:cNvPr id="7" name="Freeform 7"/>
          <p:cNvSpPr/>
          <p:nvPr/>
        </p:nvSpPr>
        <p:spPr>
          <a:xfrm>
            <a:off x="7393952" y="2995365"/>
            <a:ext cx="2406316" cy="1934962"/>
          </a:xfrm>
          <a:custGeom>
            <a:avLst/>
            <a:gdLst/>
            <a:ahLst/>
            <a:cxnLst/>
            <a:rect l="l" t="t" r="r" b="b"/>
            <a:pathLst>
              <a:path w="2406316" h="1934962">
                <a:moveTo>
                  <a:pt x="0" y="0"/>
                </a:moveTo>
                <a:lnTo>
                  <a:pt x="2406316" y="0"/>
                </a:lnTo>
                <a:lnTo>
                  <a:pt x="2406316" y="1934961"/>
                </a:lnTo>
                <a:lnTo>
                  <a:pt x="0" y="1934961"/>
                </a:lnTo>
                <a:lnTo>
                  <a:pt x="0" y="0"/>
                </a:lnTo>
                <a:close/>
              </a:path>
            </a:pathLst>
          </a:custGeom>
          <a:blipFill>
            <a:blip r:embed="rId4"/>
            <a:stretch>
              <a:fillRect/>
            </a:stretch>
          </a:blipFill>
        </p:spPr>
        <p:txBody>
          <a:bodyPr/>
          <a:lstStyle/>
          <a:p>
            <a:endParaRPr lang="de-DE"/>
          </a:p>
        </p:txBody>
      </p:sp>
      <p:sp>
        <p:nvSpPr>
          <p:cNvPr id="8" name="TextBox 8"/>
          <p:cNvSpPr txBox="1"/>
          <p:nvPr/>
        </p:nvSpPr>
        <p:spPr>
          <a:xfrm>
            <a:off x="7833418" y="3614111"/>
            <a:ext cx="1577744" cy="577215"/>
          </a:xfrm>
          <a:prstGeom prst="rect">
            <a:avLst/>
          </a:prstGeom>
        </p:spPr>
        <p:txBody>
          <a:bodyPr lIns="0" tIns="0" rIns="0" bIns="0" rtlCol="0" anchor="t">
            <a:spAutoFit/>
          </a:bodyPr>
          <a:lstStyle/>
          <a:p>
            <a:pPr algn="ctr">
              <a:lnSpc>
                <a:spcPts val="2399"/>
              </a:lnSpc>
            </a:pPr>
            <a:r>
              <a:rPr lang="en-US" sz="1599" b="1" spc="-64">
                <a:solidFill>
                  <a:srgbClr val="2B4235"/>
                </a:solidFill>
                <a:latin typeface="Lato Bold"/>
                <a:ea typeface="Lato Bold"/>
                <a:cs typeface="Lato Bold"/>
                <a:sym typeface="Lato Bold"/>
              </a:rPr>
              <a:t>  STAC Client</a:t>
            </a:r>
          </a:p>
          <a:p>
            <a:pPr algn="ctr">
              <a:lnSpc>
                <a:spcPts val="2399"/>
              </a:lnSpc>
            </a:pPr>
            <a:r>
              <a:rPr lang="en-US" sz="1599" b="1" spc="-64">
                <a:solidFill>
                  <a:srgbClr val="2B4235"/>
                </a:solidFill>
                <a:latin typeface="Lato Bold"/>
                <a:ea typeface="Lato Bold"/>
                <a:cs typeface="Lato Bold"/>
                <a:sym typeface="Lato Bold"/>
              </a:rPr>
              <a:t>erstellt Anfrage</a:t>
            </a:r>
          </a:p>
        </p:txBody>
      </p:sp>
      <p:sp>
        <p:nvSpPr>
          <p:cNvPr id="9" name="Freeform 9"/>
          <p:cNvSpPr/>
          <p:nvPr/>
        </p:nvSpPr>
        <p:spPr>
          <a:xfrm>
            <a:off x="9570574" y="3640352"/>
            <a:ext cx="667206" cy="437279"/>
          </a:xfrm>
          <a:custGeom>
            <a:avLst/>
            <a:gdLst/>
            <a:ahLst/>
            <a:cxnLst/>
            <a:rect l="l" t="t" r="r" b="b"/>
            <a:pathLst>
              <a:path w="667206" h="437279">
                <a:moveTo>
                  <a:pt x="0" y="0"/>
                </a:moveTo>
                <a:lnTo>
                  <a:pt x="667206" y="0"/>
                </a:lnTo>
                <a:lnTo>
                  <a:pt x="667206" y="437279"/>
                </a:lnTo>
                <a:lnTo>
                  <a:pt x="0" y="437279"/>
                </a:lnTo>
                <a:lnTo>
                  <a:pt x="0" y="0"/>
                </a:lnTo>
                <a:close/>
              </a:path>
            </a:pathLst>
          </a:custGeom>
          <a:blipFill>
            <a:blip r:embed="rId5"/>
            <a:stretch>
              <a:fillRect/>
            </a:stretch>
          </a:blipFill>
        </p:spPr>
        <p:txBody>
          <a:bodyPr/>
          <a:lstStyle/>
          <a:p>
            <a:endParaRPr lang="de-DE"/>
          </a:p>
        </p:txBody>
      </p:sp>
      <p:sp>
        <p:nvSpPr>
          <p:cNvPr id="10" name="Freeform 10"/>
          <p:cNvSpPr/>
          <p:nvPr/>
        </p:nvSpPr>
        <p:spPr>
          <a:xfrm>
            <a:off x="10008086" y="2995365"/>
            <a:ext cx="2406316" cy="1934962"/>
          </a:xfrm>
          <a:custGeom>
            <a:avLst/>
            <a:gdLst/>
            <a:ahLst/>
            <a:cxnLst/>
            <a:rect l="l" t="t" r="r" b="b"/>
            <a:pathLst>
              <a:path w="2406316" h="1934962">
                <a:moveTo>
                  <a:pt x="0" y="0"/>
                </a:moveTo>
                <a:lnTo>
                  <a:pt x="2406316" y="0"/>
                </a:lnTo>
                <a:lnTo>
                  <a:pt x="2406316" y="1934961"/>
                </a:lnTo>
                <a:lnTo>
                  <a:pt x="0" y="1934961"/>
                </a:lnTo>
                <a:lnTo>
                  <a:pt x="0" y="0"/>
                </a:lnTo>
                <a:close/>
              </a:path>
            </a:pathLst>
          </a:custGeom>
          <a:blipFill>
            <a:blip r:embed="rId6"/>
            <a:stretch>
              <a:fillRect/>
            </a:stretch>
          </a:blipFill>
        </p:spPr>
        <p:txBody>
          <a:bodyPr/>
          <a:lstStyle/>
          <a:p>
            <a:endParaRPr lang="de-DE"/>
          </a:p>
        </p:txBody>
      </p:sp>
      <p:sp>
        <p:nvSpPr>
          <p:cNvPr id="11" name="TextBox 11"/>
          <p:cNvSpPr txBox="1"/>
          <p:nvPr/>
        </p:nvSpPr>
        <p:spPr>
          <a:xfrm>
            <a:off x="10458462" y="3358952"/>
            <a:ext cx="1606154" cy="1167765"/>
          </a:xfrm>
          <a:prstGeom prst="rect">
            <a:avLst/>
          </a:prstGeom>
        </p:spPr>
        <p:txBody>
          <a:bodyPr lIns="0" tIns="0" rIns="0" bIns="0" rtlCol="0" anchor="t">
            <a:spAutoFit/>
          </a:bodyPr>
          <a:lstStyle/>
          <a:p>
            <a:pPr algn="ctr">
              <a:lnSpc>
                <a:spcPts val="2399"/>
              </a:lnSpc>
            </a:pPr>
            <a:r>
              <a:rPr lang="en-US" sz="1599" b="1" spc="-64">
                <a:solidFill>
                  <a:srgbClr val="2A4437"/>
                </a:solidFill>
                <a:latin typeface="Lato Bold"/>
                <a:ea typeface="Lato Bold"/>
                <a:cs typeface="Lato Bold"/>
                <a:sym typeface="Lato Bold"/>
              </a:rPr>
              <a:t>GET /search</a:t>
            </a:r>
          </a:p>
          <a:p>
            <a:pPr algn="ctr">
              <a:lnSpc>
                <a:spcPts val="2399"/>
              </a:lnSpc>
            </a:pPr>
            <a:r>
              <a:rPr lang="en-US" sz="1599" b="1" spc="-64">
                <a:solidFill>
                  <a:srgbClr val="2A4437"/>
                </a:solidFill>
                <a:latin typeface="Lato Bold"/>
                <a:ea typeface="Lato Bold"/>
                <a:cs typeface="Lato Bold"/>
                <a:sym typeface="Lato Bold"/>
              </a:rPr>
              <a:t>mit räumlichem und zeitlichem Filter</a:t>
            </a:r>
          </a:p>
        </p:txBody>
      </p:sp>
      <p:sp>
        <p:nvSpPr>
          <p:cNvPr id="12" name="Freeform 12"/>
          <p:cNvSpPr/>
          <p:nvPr/>
        </p:nvSpPr>
        <p:spPr>
          <a:xfrm>
            <a:off x="12184708" y="3640352"/>
            <a:ext cx="667206" cy="437279"/>
          </a:xfrm>
          <a:custGeom>
            <a:avLst/>
            <a:gdLst/>
            <a:ahLst/>
            <a:cxnLst/>
            <a:rect l="l" t="t" r="r" b="b"/>
            <a:pathLst>
              <a:path w="667206" h="437279">
                <a:moveTo>
                  <a:pt x="0" y="0"/>
                </a:moveTo>
                <a:lnTo>
                  <a:pt x="667206" y="0"/>
                </a:lnTo>
                <a:lnTo>
                  <a:pt x="667206" y="437279"/>
                </a:lnTo>
                <a:lnTo>
                  <a:pt x="0" y="437279"/>
                </a:lnTo>
                <a:lnTo>
                  <a:pt x="0" y="0"/>
                </a:lnTo>
                <a:close/>
              </a:path>
            </a:pathLst>
          </a:custGeom>
          <a:blipFill>
            <a:blip r:embed="rId7"/>
            <a:stretch>
              <a:fillRect/>
            </a:stretch>
          </a:blipFill>
        </p:spPr>
        <p:txBody>
          <a:bodyPr/>
          <a:lstStyle/>
          <a:p>
            <a:endParaRPr lang="de-DE"/>
          </a:p>
        </p:txBody>
      </p:sp>
      <p:sp>
        <p:nvSpPr>
          <p:cNvPr id="13" name="Freeform 13"/>
          <p:cNvSpPr/>
          <p:nvPr/>
        </p:nvSpPr>
        <p:spPr>
          <a:xfrm>
            <a:off x="12840976" y="2995365"/>
            <a:ext cx="2187560" cy="1934962"/>
          </a:xfrm>
          <a:custGeom>
            <a:avLst/>
            <a:gdLst/>
            <a:ahLst/>
            <a:cxnLst/>
            <a:rect l="l" t="t" r="r" b="b"/>
            <a:pathLst>
              <a:path w="2187560" h="1934962">
                <a:moveTo>
                  <a:pt x="0" y="0"/>
                </a:moveTo>
                <a:lnTo>
                  <a:pt x="2187560" y="0"/>
                </a:lnTo>
                <a:lnTo>
                  <a:pt x="2187560" y="1934961"/>
                </a:lnTo>
                <a:lnTo>
                  <a:pt x="0" y="1934961"/>
                </a:lnTo>
                <a:lnTo>
                  <a:pt x="0" y="0"/>
                </a:lnTo>
                <a:close/>
              </a:path>
            </a:pathLst>
          </a:custGeom>
          <a:blipFill>
            <a:blip r:embed="rId8"/>
            <a:stretch>
              <a:fillRect/>
            </a:stretch>
          </a:blipFill>
        </p:spPr>
        <p:txBody>
          <a:bodyPr/>
          <a:lstStyle/>
          <a:p>
            <a:endParaRPr lang="de-DE"/>
          </a:p>
        </p:txBody>
      </p:sp>
      <p:sp>
        <p:nvSpPr>
          <p:cNvPr id="14" name="TextBox 14"/>
          <p:cNvSpPr txBox="1"/>
          <p:nvPr/>
        </p:nvSpPr>
        <p:spPr>
          <a:xfrm>
            <a:off x="13083782" y="3504647"/>
            <a:ext cx="1606921" cy="872490"/>
          </a:xfrm>
          <a:prstGeom prst="rect">
            <a:avLst/>
          </a:prstGeom>
        </p:spPr>
        <p:txBody>
          <a:bodyPr lIns="0" tIns="0" rIns="0" bIns="0" rtlCol="0" anchor="t">
            <a:spAutoFit/>
          </a:bodyPr>
          <a:lstStyle/>
          <a:p>
            <a:pPr algn="ctr">
              <a:lnSpc>
                <a:spcPts val="2399"/>
              </a:lnSpc>
            </a:pPr>
            <a:r>
              <a:rPr lang="en-US" sz="1599" b="1" spc="-64">
                <a:solidFill>
                  <a:srgbClr val="222222"/>
                </a:solidFill>
                <a:latin typeface="Lato Bold"/>
                <a:ea typeface="Lato Bold"/>
                <a:cs typeface="Lato Bold"/>
                <a:sym typeface="Lato Bold"/>
              </a:rPr>
              <a:t> </a:t>
            </a:r>
            <a:r>
              <a:rPr lang="en-US" sz="1599" b="1" spc="-64">
                <a:solidFill>
                  <a:srgbClr val="2A4437"/>
                </a:solidFill>
                <a:latin typeface="Lato Bold"/>
                <a:ea typeface="Lato Bold"/>
                <a:cs typeface="Lato Bold"/>
                <a:sym typeface="Lato Bold"/>
              </a:rPr>
              <a:t> STAC API </a:t>
            </a:r>
          </a:p>
          <a:p>
            <a:pPr algn="ctr">
              <a:lnSpc>
                <a:spcPts val="2399"/>
              </a:lnSpc>
            </a:pPr>
            <a:r>
              <a:rPr lang="en-US" sz="1599" b="1" spc="-64">
                <a:solidFill>
                  <a:srgbClr val="2A4437"/>
                </a:solidFill>
                <a:latin typeface="Lato Bold"/>
                <a:ea typeface="Lato Bold"/>
                <a:cs typeface="Lato Bold"/>
                <a:sym typeface="Lato Bold"/>
              </a:rPr>
              <a:t>liefert passende </a:t>
            </a:r>
          </a:p>
          <a:p>
            <a:pPr algn="ctr">
              <a:lnSpc>
                <a:spcPts val="2399"/>
              </a:lnSpc>
            </a:pPr>
            <a:r>
              <a:rPr lang="en-US" sz="1599" b="1" spc="-64">
                <a:solidFill>
                  <a:srgbClr val="2A4437"/>
                </a:solidFill>
                <a:latin typeface="Lato Bold"/>
                <a:ea typeface="Lato Bold"/>
                <a:cs typeface="Lato Bold"/>
                <a:sym typeface="Lato Bold"/>
              </a:rPr>
              <a:t>   Items (JSON)</a:t>
            </a:r>
          </a:p>
        </p:txBody>
      </p:sp>
      <p:sp>
        <p:nvSpPr>
          <p:cNvPr id="15" name="Freeform 15"/>
          <p:cNvSpPr/>
          <p:nvPr/>
        </p:nvSpPr>
        <p:spPr>
          <a:xfrm>
            <a:off x="14798842" y="3640352"/>
            <a:ext cx="667206" cy="437279"/>
          </a:xfrm>
          <a:custGeom>
            <a:avLst/>
            <a:gdLst/>
            <a:ahLst/>
            <a:cxnLst/>
            <a:rect l="l" t="t" r="r" b="b"/>
            <a:pathLst>
              <a:path w="667206" h="437279">
                <a:moveTo>
                  <a:pt x="0" y="0"/>
                </a:moveTo>
                <a:lnTo>
                  <a:pt x="667206" y="0"/>
                </a:lnTo>
                <a:lnTo>
                  <a:pt x="667206" y="437279"/>
                </a:lnTo>
                <a:lnTo>
                  <a:pt x="0" y="437279"/>
                </a:lnTo>
                <a:lnTo>
                  <a:pt x="0" y="0"/>
                </a:lnTo>
                <a:close/>
              </a:path>
            </a:pathLst>
          </a:custGeom>
          <a:blipFill>
            <a:blip r:embed="rId9"/>
            <a:stretch>
              <a:fillRect/>
            </a:stretch>
          </a:blipFill>
        </p:spPr>
        <p:txBody>
          <a:bodyPr/>
          <a:lstStyle/>
          <a:p>
            <a:endParaRPr lang="de-DE"/>
          </a:p>
        </p:txBody>
      </p:sp>
      <p:sp>
        <p:nvSpPr>
          <p:cNvPr id="16" name="Freeform 16"/>
          <p:cNvSpPr/>
          <p:nvPr/>
        </p:nvSpPr>
        <p:spPr>
          <a:xfrm>
            <a:off x="15455110" y="2995365"/>
            <a:ext cx="2187560" cy="1934962"/>
          </a:xfrm>
          <a:custGeom>
            <a:avLst/>
            <a:gdLst/>
            <a:ahLst/>
            <a:cxnLst/>
            <a:rect l="l" t="t" r="r" b="b"/>
            <a:pathLst>
              <a:path w="2187560" h="1934962">
                <a:moveTo>
                  <a:pt x="0" y="0"/>
                </a:moveTo>
                <a:lnTo>
                  <a:pt x="2187560" y="0"/>
                </a:lnTo>
                <a:lnTo>
                  <a:pt x="2187560" y="1934961"/>
                </a:lnTo>
                <a:lnTo>
                  <a:pt x="0" y="1934961"/>
                </a:lnTo>
                <a:lnTo>
                  <a:pt x="0" y="0"/>
                </a:lnTo>
                <a:close/>
              </a:path>
            </a:pathLst>
          </a:custGeom>
          <a:blipFill>
            <a:blip r:embed="rId10"/>
            <a:stretch>
              <a:fillRect/>
            </a:stretch>
          </a:blipFill>
        </p:spPr>
        <p:txBody>
          <a:bodyPr/>
          <a:lstStyle/>
          <a:p>
            <a:endParaRPr lang="de-DE"/>
          </a:p>
        </p:txBody>
      </p:sp>
      <p:sp>
        <p:nvSpPr>
          <p:cNvPr id="17" name="TextBox 17"/>
          <p:cNvSpPr txBox="1"/>
          <p:nvPr/>
        </p:nvSpPr>
        <p:spPr>
          <a:xfrm>
            <a:off x="15735905" y="3478796"/>
            <a:ext cx="1606420" cy="872490"/>
          </a:xfrm>
          <a:prstGeom prst="rect">
            <a:avLst/>
          </a:prstGeom>
        </p:spPr>
        <p:txBody>
          <a:bodyPr lIns="0" tIns="0" rIns="0" bIns="0" rtlCol="0" anchor="t">
            <a:spAutoFit/>
          </a:bodyPr>
          <a:lstStyle/>
          <a:p>
            <a:pPr algn="ctr">
              <a:lnSpc>
                <a:spcPts val="2399"/>
              </a:lnSpc>
            </a:pPr>
            <a:r>
              <a:rPr lang="en-US" sz="1599" b="1" spc="-64">
                <a:solidFill>
                  <a:srgbClr val="2A4437"/>
                </a:solidFill>
                <a:latin typeface="Lato Bold"/>
                <a:ea typeface="Lato Bold"/>
                <a:cs typeface="Lato Bold"/>
                <a:sym typeface="Lato Bold"/>
              </a:rPr>
              <a:t>Clients erhalten Metadaten und Datenlinks</a:t>
            </a:r>
          </a:p>
        </p:txBody>
      </p:sp>
      <p:sp>
        <p:nvSpPr>
          <p:cNvPr id="18" name="Freeform 18"/>
          <p:cNvSpPr/>
          <p:nvPr/>
        </p:nvSpPr>
        <p:spPr>
          <a:xfrm>
            <a:off x="3915732" y="5564382"/>
            <a:ext cx="13508182" cy="229572"/>
          </a:xfrm>
          <a:custGeom>
            <a:avLst/>
            <a:gdLst/>
            <a:ahLst/>
            <a:cxnLst/>
            <a:rect l="l" t="t" r="r" b="b"/>
            <a:pathLst>
              <a:path w="13508182" h="229572">
                <a:moveTo>
                  <a:pt x="0" y="0"/>
                </a:moveTo>
                <a:lnTo>
                  <a:pt x="13508182" y="0"/>
                </a:lnTo>
                <a:lnTo>
                  <a:pt x="13508182" y="229571"/>
                </a:lnTo>
                <a:lnTo>
                  <a:pt x="0" y="229571"/>
                </a:lnTo>
                <a:lnTo>
                  <a:pt x="0" y="0"/>
                </a:lnTo>
                <a:close/>
              </a:path>
            </a:pathLst>
          </a:custGeom>
          <a:blipFill>
            <a:blip r:embed="rId11"/>
            <a:stretch>
              <a:fillRect/>
            </a:stretch>
          </a:blipFill>
        </p:spPr>
        <p:txBody>
          <a:bodyPr/>
          <a:lstStyle/>
          <a:p>
            <a:endParaRPr lang="de-DE"/>
          </a:p>
        </p:txBody>
      </p:sp>
      <p:sp>
        <p:nvSpPr>
          <p:cNvPr id="19" name="Freeform 19"/>
          <p:cNvSpPr/>
          <p:nvPr/>
        </p:nvSpPr>
        <p:spPr>
          <a:xfrm>
            <a:off x="645330" y="5783021"/>
            <a:ext cx="3062584" cy="3224936"/>
          </a:xfrm>
          <a:custGeom>
            <a:avLst/>
            <a:gdLst/>
            <a:ahLst/>
            <a:cxnLst/>
            <a:rect l="l" t="t" r="r" b="b"/>
            <a:pathLst>
              <a:path w="3062584" h="3224936">
                <a:moveTo>
                  <a:pt x="0" y="0"/>
                </a:moveTo>
                <a:lnTo>
                  <a:pt x="3062584" y="0"/>
                </a:lnTo>
                <a:lnTo>
                  <a:pt x="3062584" y="3224936"/>
                </a:lnTo>
                <a:lnTo>
                  <a:pt x="0" y="3224936"/>
                </a:lnTo>
                <a:lnTo>
                  <a:pt x="0" y="0"/>
                </a:lnTo>
                <a:close/>
              </a:path>
            </a:pathLst>
          </a:custGeom>
          <a:blipFill>
            <a:blip r:embed="rId12"/>
            <a:stretch>
              <a:fillRect/>
            </a:stretch>
          </a:blipFill>
        </p:spPr>
        <p:txBody>
          <a:bodyPr/>
          <a:lstStyle/>
          <a:p>
            <a:endParaRPr lang="de-DE"/>
          </a:p>
        </p:txBody>
      </p:sp>
      <p:sp>
        <p:nvSpPr>
          <p:cNvPr id="20" name="TextBox 20"/>
          <p:cNvSpPr txBox="1"/>
          <p:nvPr/>
        </p:nvSpPr>
        <p:spPr>
          <a:xfrm>
            <a:off x="3937994" y="6310770"/>
            <a:ext cx="2678743" cy="807688"/>
          </a:xfrm>
          <a:prstGeom prst="rect">
            <a:avLst/>
          </a:prstGeom>
        </p:spPr>
        <p:txBody>
          <a:bodyPr lIns="0" tIns="0" rIns="0" bIns="0" rtlCol="0" anchor="t">
            <a:spAutoFit/>
          </a:bodyPr>
          <a:lstStyle/>
          <a:p>
            <a:pPr algn="l">
              <a:lnSpc>
                <a:spcPts val="3360"/>
              </a:lnSpc>
            </a:pPr>
            <a:r>
              <a:rPr lang="en-US" sz="2399" b="1" spc="-23">
                <a:solidFill>
                  <a:srgbClr val="264639"/>
                </a:solidFill>
                <a:latin typeface="Lato Bold"/>
                <a:ea typeface="Lato Bold"/>
                <a:cs typeface="Lato Bold"/>
                <a:sym typeface="Lato Bold"/>
              </a:rPr>
              <a:t>Gesundheits- und Umweltdaten</a:t>
            </a:r>
          </a:p>
        </p:txBody>
      </p:sp>
      <p:sp>
        <p:nvSpPr>
          <p:cNvPr id="21" name="TextBox 21"/>
          <p:cNvSpPr txBox="1"/>
          <p:nvPr/>
        </p:nvSpPr>
        <p:spPr>
          <a:xfrm>
            <a:off x="3938681" y="7355294"/>
            <a:ext cx="2610073" cy="1003640"/>
          </a:xfrm>
          <a:prstGeom prst="rect">
            <a:avLst/>
          </a:prstGeom>
        </p:spPr>
        <p:txBody>
          <a:bodyPr lIns="0" tIns="0" rIns="0" bIns="0" rtlCol="0" anchor="t">
            <a:spAutoFit/>
          </a:bodyPr>
          <a:lstStyle/>
          <a:p>
            <a:pPr algn="l">
              <a:lnSpc>
                <a:spcPts val="2794"/>
              </a:lnSpc>
            </a:pPr>
            <a:r>
              <a:rPr lang="en-US" sz="1863" b="1" spc="-74">
                <a:solidFill>
                  <a:srgbClr val="444440"/>
                </a:solidFill>
                <a:latin typeface="Lato Bold"/>
                <a:ea typeface="Lato Bold"/>
                <a:cs typeface="Lato Bold"/>
                <a:sym typeface="Lato Bold"/>
              </a:rPr>
              <a:t>Neue Datensätze gezielt über Collections und Items abrufen</a:t>
            </a:r>
          </a:p>
        </p:txBody>
      </p:sp>
      <p:sp>
        <p:nvSpPr>
          <p:cNvPr id="22" name="Freeform 22"/>
          <p:cNvSpPr/>
          <p:nvPr/>
        </p:nvSpPr>
        <p:spPr>
          <a:xfrm>
            <a:off x="7393952" y="6635716"/>
            <a:ext cx="2406316" cy="1945894"/>
          </a:xfrm>
          <a:custGeom>
            <a:avLst/>
            <a:gdLst/>
            <a:ahLst/>
            <a:cxnLst/>
            <a:rect l="l" t="t" r="r" b="b"/>
            <a:pathLst>
              <a:path w="2406316" h="1945894">
                <a:moveTo>
                  <a:pt x="0" y="0"/>
                </a:moveTo>
                <a:lnTo>
                  <a:pt x="2406316" y="0"/>
                </a:lnTo>
                <a:lnTo>
                  <a:pt x="2406316" y="1945894"/>
                </a:lnTo>
                <a:lnTo>
                  <a:pt x="0" y="1945894"/>
                </a:lnTo>
                <a:lnTo>
                  <a:pt x="0" y="0"/>
                </a:lnTo>
                <a:close/>
              </a:path>
            </a:pathLst>
          </a:custGeom>
          <a:blipFill>
            <a:blip r:embed="rId13"/>
            <a:stretch>
              <a:fillRect/>
            </a:stretch>
          </a:blipFill>
        </p:spPr>
        <p:txBody>
          <a:bodyPr/>
          <a:lstStyle/>
          <a:p>
            <a:endParaRPr lang="de-DE"/>
          </a:p>
        </p:txBody>
      </p:sp>
      <p:sp>
        <p:nvSpPr>
          <p:cNvPr id="23" name="TextBox 23"/>
          <p:cNvSpPr txBox="1"/>
          <p:nvPr/>
        </p:nvSpPr>
        <p:spPr>
          <a:xfrm>
            <a:off x="7944246" y="7068580"/>
            <a:ext cx="1210514" cy="962397"/>
          </a:xfrm>
          <a:prstGeom prst="rect">
            <a:avLst/>
          </a:prstGeom>
        </p:spPr>
        <p:txBody>
          <a:bodyPr lIns="0" tIns="0" rIns="0" bIns="0" rtlCol="0" anchor="t">
            <a:spAutoFit/>
          </a:bodyPr>
          <a:lstStyle/>
          <a:p>
            <a:pPr algn="ctr">
              <a:lnSpc>
                <a:spcPts val="2610"/>
              </a:lnSpc>
            </a:pPr>
            <a:r>
              <a:rPr lang="en-US" sz="1740" b="1" spc="-69">
                <a:solidFill>
                  <a:srgbClr val="264639"/>
                </a:solidFill>
                <a:latin typeface="Lato Bold"/>
                <a:ea typeface="Lato Bold"/>
                <a:cs typeface="Lato Bold"/>
                <a:sym typeface="Lato Bold"/>
              </a:rPr>
              <a:t>STAC Client </a:t>
            </a:r>
          </a:p>
          <a:p>
            <a:pPr algn="ctr">
              <a:lnSpc>
                <a:spcPts val="2610"/>
              </a:lnSpc>
            </a:pPr>
            <a:r>
              <a:rPr lang="en-US" sz="1740" b="1" spc="-69">
                <a:solidFill>
                  <a:srgbClr val="264639"/>
                </a:solidFill>
                <a:latin typeface="Lato Bold"/>
                <a:ea typeface="Lato Bold"/>
                <a:cs typeface="Lato Bold"/>
                <a:sym typeface="Lato Bold"/>
              </a:rPr>
              <a:t>erkundet </a:t>
            </a:r>
          </a:p>
          <a:p>
            <a:pPr algn="ctr">
              <a:lnSpc>
                <a:spcPts val="2610"/>
              </a:lnSpc>
            </a:pPr>
            <a:r>
              <a:rPr lang="en-US" sz="1740" b="1" spc="-69">
                <a:solidFill>
                  <a:srgbClr val="264639"/>
                </a:solidFill>
                <a:latin typeface="Lato Bold"/>
                <a:ea typeface="Lato Bold"/>
                <a:cs typeface="Lato Bold"/>
                <a:sym typeface="Lato Bold"/>
              </a:rPr>
              <a:t>Collections</a:t>
            </a:r>
          </a:p>
        </p:txBody>
      </p:sp>
      <p:sp>
        <p:nvSpPr>
          <p:cNvPr id="24" name="Freeform 24"/>
          <p:cNvSpPr/>
          <p:nvPr/>
        </p:nvSpPr>
        <p:spPr>
          <a:xfrm>
            <a:off x="9570574" y="7280704"/>
            <a:ext cx="667206" cy="437279"/>
          </a:xfrm>
          <a:custGeom>
            <a:avLst/>
            <a:gdLst/>
            <a:ahLst/>
            <a:cxnLst/>
            <a:rect l="l" t="t" r="r" b="b"/>
            <a:pathLst>
              <a:path w="667206" h="437279">
                <a:moveTo>
                  <a:pt x="0" y="0"/>
                </a:moveTo>
                <a:lnTo>
                  <a:pt x="667206" y="0"/>
                </a:lnTo>
                <a:lnTo>
                  <a:pt x="667206" y="437279"/>
                </a:lnTo>
                <a:lnTo>
                  <a:pt x="0" y="437279"/>
                </a:lnTo>
                <a:lnTo>
                  <a:pt x="0" y="0"/>
                </a:lnTo>
                <a:close/>
              </a:path>
            </a:pathLst>
          </a:custGeom>
          <a:blipFill>
            <a:blip r:embed="rId14"/>
            <a:stretch>
              <a:fillRect/>
            </a:stretch>
          </a:blipFill>
        </p:spPr>
        <p:txBody>
          <a:bodyPr/>
          <a:lstStyle/>
          <a:p>
            <a:endParaRPr lang="de-DE"/>
          </a:p>
        </p:txBody>
      </p:sp>
      <p:sp>
        <p:nvSpPr>
          <p:cNvPr id="25" name="Freeform 25"/>
          <p:cNvSpPr/>
          <p:nvPr/>
        </p:nvSpPr>
        <p:spPr>
          <a:xfrm>
            <a:off x="10008086" y="6635716"/>
            <a:ext cx="2406316" cy="1945894"/>
          </a:xfrm>
          <a:custGeom>
            <a:avLst/>
            <a:gdLst/>
            <a:ahLst/>
            <a:cxnLst/>
            <a:rect l="l" t="t" r="r" b="b"/>
            <a:pathLst>
              <a:path w="2406316" h="1945894">
                <a:moveTo>
                  <a:pt x="0" y="0"/>
                </a:moveTo>
                <a:lnTo>
                  <a:pt x="2406316" y="0"/>
                </a:lnTo>
                <a:lnTo>
                  <a:pt x="2406316" y="1945894"/>
                </a:lnTo>
                <a:lnTo>
                  <a:pt x="0" y="1945894"/>
                </a:lnTo>
                <a:lnTo>
                  <a:pt x="0" y="0"/>
                </a:lnTo>
                <a:close/>
              </a:path>
            </a:pathLst>
          </a:custGeom>
          <a:blipFill>
            <a:blip r:embed="rId15"/>
            <a:stretch>
              <a:fillRect/>
            </a:stretch>
          </a:blipFill>
        </p:spPr>
        <p:txBody>
          <a:bodyPr/>
          <a:lstStyle/>
          <a:p>
            <a:endParaRPr lang="de-DE"/>
          </a:p>
        </p:txBody>
      </p:sp>
      <p:sp>
        <p:nvSpPr>
          <p:cNvPr id="26" name="TextBox 26"/>
          <p:cNvSpPr txBox="1"/>
          <p:nvPr/>
        </p:nvSpPr>
        <p:spPr>
          <a:xfrm>
            <a:off x="10404878" y="7069936"/>
            <a:ext cx="1606690" cy="962397"/>
          </a:xfrm>
          <a:prstGeom prst="rect">
            <a:avLst/>
          </a:prstGeom>
        </p:spPr>
        <p:txBody>
          <a:bodyPr lIns="0" tIns="0" rIns="0" bIns="0" rtlCol="0" anchor="t">
            <a:spAutoFit/>
          </a:bodyPr>
          <a:lstStyle/>
          <a:p>
            <a:pPr algn="ctr">
              <a:lnSpc>
                <a:spcPts val="2610"/>
              </a:lnSpc>
            </a:pPr>
            <a:r>
              <a:rPr lang="en-US" sz="1740" b="1" spc="-69">
                <a:solidFill>
                  <a:srgbClr val="2A4437"/>
                </a:solidFill>
                <a:latin typeface="Lato Bold"/>
                <a:ea typeface="Lato Bold"/>
                <a:cs typeface="Lato Bold"/>
                <a:sym typeface="Lato Bold"/>
              </a:rPr>
              <a:t>GET /collections</a:t>
            </a:r>
          </a:p>
          <a:p>
            <a:pPr algn="ctr">
              <a:lnSpc>
                <a:spcPts val="2610"/>
              </a:lnSpc>
            </a:pPr>
            <a:r>
              <a:rPr lang="en-US" sz="1740" b="1" spc="-69">
                <a:solidFill>
                  <a:srgbClr val="2A4437"/>
                </a:solidFill>
                <a:latin typeface="Lato Bold"/>
                <a:ea typeface="Lato Bold"/>
                <a:cs typeface="Lato Bold"/>
                <a:sym typeface="Lato Bold"/>
              </a:rPr>
              <a:t>und weitere </a:t>
            </a:r>
          </a:p>
          <a:p>
            <a:pPr algn="ctr">
              <a:lnSpc>
                <a:spcPts val="2610"/>
              </a:lnSpc>
            </a:pPr>
            <a:r>
              <a:rPr lang="en-US" sz="1740" b="1" spc="-69">
                <a:solidFill>
                  <a:srgbClr val="2A4437"/>
                </a:solidFill>
                <a:latin typeface="Lato Bold"/>
                <a:ea typeface="Lato Bold"/>
                <a:cs typeface="Lato Bold"/>
                <a:sym typeface="Lato Bold"/>
              </a:rPr>
              <a:t>   Anfragen</a:t>
            </a:r>
          </a:p>
        </p:txBody>
      </p:sp>
      <p:sp>
        <p:nvSpPr>
          <p:cNvPr id="27" name="Freeform 27"/>
          <p:cNvSpPr/>
          <p:nvPr/>
        </p:nvSpPr>
        <p:spPr>
          <a:xfrm>
            <a:off x="12184708" y="7280704"/>
            <a:ext cx="667206" cy="437279"/>
          </a:xfrm>
          <a:custGeom>
            <a:avLst/>
            <a:gdLst/>
            <a:ahLst/>
            <a:cxnLst/>
            <a:rect l="l" t="t" r="r" b="b"/>
            <a:pathLst>
              <a:path w="667206" h="437279">
                <a:moveTo>
                  <a:pt x="0" y="0"/>
                </a:moveTo>
                <a:lnTo>
                  <a:pt x="667206" y="0"/>
                </a:lnTo>
                <a:lnTo>
                  <a:pt x="667206" y="437279"/>
                </a:lnTo>
                <a:lnTo>
                  <a:pt x="0" y="437279"/>
                </a:lnTo>
                <a:lnTo>
                  <a:pt x="0" y="0"/>
                </a:lnTo>
                <a:close/>
              </a:path>
            </a:pathLst>
          </a:custGeom>
          <a:blipFill>
            <a:blip r:embed="rId16"/>
            <a:stretch>
              <a:fillRect/>
            </a:stretch>
          </a:blipFill>
        </p:spPr>
        <p:txBody>
          <a:bodyPr/>
          <a:lstStyle/>
          <a:p>
            <a:endParaRPr lang="de-DE"/>
          </a:p>
        </p:txBody>
      </p:sp>
      <p:sp>
        <p:nvSpPr>
          <p:cNvPr id="28" name="Freeform 28"/>
          <p:cNvSpPr/>
          <p:nvPr/>
        </p:nvSpPr>
        <p:spPr>
          <a:xfrm>
            <a:off x="12840976" y="6635716"/>
            <a:ext cx="2187560" cy="1945894"/>
          </a:xfrm>
          <a:custGeom>
            <a:avLst/>
            <a:gdLst/>
            <a:ahLst/>
            <a:cxnLst/>
            <a:rect l="l" t="t" r="r" b="b"/>
            <a:pathLst>
              <a:path w="2187560" h="1945894">
                <a:moveTo>
                  <a:pt x="0" y="0"/>
                </a:moveTo>
                <a:lnTo>
                  <a:pt x="2187560" y="0"/>
                </a:lnTo>
                <a:lnTo>
                  <a:pt x="2187560" y="1945894"/>
                </a:lnTo>
                <a:lnTo>
                  <a:pt x="0" y="1945894"/>
                </a:lnTo>
                <a:lnTo>
                  <a:pt x="0" y="0"/>
                </a:lnTo>
                <a:close/>
              </a:path>
            </a:pathLst>
          </a:custGeom>
          <a:blipFill>
            <a:blip r:embed="rId17"/>
            <a:stretch>
              <a:fillRect/>
            </a:stretch>
          </a:blipFill>
        </p:spPr>
        <p:txBody>
          <a:bodyPr/>
          <a:lstStyle/>
          <a:p>
            <a:endParaRPr lang="de-DE"/>
          </a:p>
        </p:txBody>
      </p:sp>
      <p:sp>
        <p:nvSpPr>
          <p:cNvPr id="29" name="TextBox 29"/>
          <p:cNvSpPr txBox="1"/>
          <p:nvPr/>
        </p:nvSpPr>
        <p:spPr>
          <a:xfrm>
            <a:off x="13023364" y="7068317"/>
            <a:ext cx="1775478" cy="909935"/>
          </a:xfrm>
          <a:prstGeom prst="rect">
            <a:avLst/>
          </a:prstGeom>
        </p:spPr>
        <p:txBody>
          <a:bodyPr lIns="0" tIns="0" rIns="0" bIns="0" rtlCol="0" anchor="t">
            <a:spAutoFit/>
          </a:bodyPr>
          <a:lstStyle/>
          <a:p>
            <a:pPr algn="ctr">
              <a:lnSpc>
                <a:spcPts val="2425"/>
              </a:lnSpc>
            </a:pPr>
            <a:r>
              <a:rPr lang="en-US" sz="1617" b="1" spc="-64">
                <a:solidFill>
                  <a:srgbClr val="2A4437"/>
                </a:solidFill>
                <a:latin typeface="Lato Bold"/>
                <a:ea typeface="Lato Bold"/>
                <a:cs typeface="Lato Bold"/>
                <a:sym typeface="Lato Bold"/>
              </a:rPr>
              <a:t>GET /collections/{collectionId}/items</a:t>
            </a:r>
          </a:p>
        </p:txBody>
      </p:sp>
      <p:sp>
        <p:nvSpPr>
          <p:cNvPr id="30" name="Freeform 30"/>
          <p:cNvSpPr/>
          <p:nvPr/>
        </p:nvSpPr>
        <p:spPr>
          <a:xfrm>
            <a:off x="14798842" y="7280704"/>
            <a:ext cx="667206" cy="437279"/>
          </a:xfrm>
          <a:custGeom>
            <a:avLst/>
            <a:gdLst/>
            <a:ahLst/>
            <a:cxnLst/>
            <a:rect l="l" t="t" r="r" b="b"/>
            <a:pathLst>
              <a:path w="667206" h="437279">
                <a:moveTo>
                  <a:pt x="0" y="0"/>
                </a:moveTo>
                <a:lnTo>
                  <a:pt x="667206" y="0"/>
                </a:lnTo>
                <a:lnTo>
                  <a:pt x="667206" y="437279"/>
                </a:lnTo>
                <a:lnTo>
                  <a:pt x="0" y="437279"/>
                </a:lnTo>
                <a:lnTo>
                  <a:pt x="0" y="0"/>
                </a:lnTo>
                <a:close/>
              </a:path>
            </a:pathLst>
          </a:custGeom>
          <a:blipFill>
            <a:blip r:embed="rId18"/>
            <a:stretch>
              <a:fillRect/>
            </a:stretch>
          </a:blipFill>
        </p:spPr>
        <p:txBody>
          <a:bodyPr/>
          <a:lstStyle/>
          <a:p>
            <a:endParaRPr lang="de-DE"/>
          </a:p>
        </p:txBody>
      </p:sp>
      <p:sp>
        <p:nvSpPr>
          <p:cNvPr id="31" name="Freeform 31"/>
          <p:cNvSpPr/>
          <p:nvPr/>
        </p:nvSpPr>
        <p:spPr>
          <a:xfrm>
            <a:off x="15455110" y="6635716"/>
            <a:ext cx="2187560" cy="1945894"/>
          </a:xfrm>
          <a:custGeom>
            <a:avLst/>
            <a:gdLst/>
            <a:ahLst/>
            <a:cxnLst/>
            <a:rect l="l" t="t" r="r" b="b"/>
            <a:pathLst>
              <a:path w="2187560" h="1945894">
                <a:moveTo>
                  <a:pt x="0" y="0"/>
                </a:moveTo>
                <a:lnTo>
                  <a:pt x="2187560" y="0"/>
                </a:lnTo>
                <a:lnTo>
                  <a:pt x="2187560" y="1945894"/>
                </a:lnTo>
                <a:lnTo>
                  <a:pt x="0" y="1945894"/>
                </a:lnTo>
                <a:lnTo>
                  <a:pt x="0" y="0"/>
                </a:lnTo>
                <a:close/>
              </a:path>
            </a:pathLst>
          </a:custGeom>
          <a:blipFill>
            <a:blip r:embed="rId19"/>
            <a:stretch>
              <a:fillRect/>
            </a:stretch>
          </a:blipFill>
        </p:spPr>
        <p:txBody>
          <a:bodyPr/>
          <a:lstStyle/>
          <a:p>
            <a:endParaRPr lang="de-DE"/>
          </a:p>
        </p:txBody>
      </p:sp>
      <p:sp>
        <p:nvSpPr>
          <p:cNvPr id="32" name="TextBox 32"/>
          <p:cNvSpPr txBox="1"/>
          <p:nvPr/>
        </p:nvSpPr>
        <p:spPr>
          <a:xfrm>
            <a:off x="15709115" y="7068812"/>
            <a:ext cx="1606422" cy="962397"/>
          </a:xfrm>
          <a:prstGeom prst="rect">
            <a:avLst/>
          </a:prstGeom>
        </p:spPr>
        <p:txBody>
          <a:bodyPr lIns="0" tIns="0" rIns="0" bIns="0" rtlCol="0" anchor="t">
            <a:spAutoFit/>
          </a:bodyPr>
          <a:lstStyle/>
          <a:p>
            <a:pPr algn="ctr">
              <a:lnSpc>
                <a:spcPts val="2610"/>
              </a:lnSpc>
            </a:pPr>
            <a:r>
              <a:rPr lang="en-US" sz="1740" b="1" spc="-69">
                <a:solidFill>
                  <a:srgbClr val="2A4437"/>
                </a:solidFill>
                <a:latin typeface="Lato Bold"/>
                <a:ea typeface="Lato Bold"/>
                <a:cs typeface="Lato Bold"/>
                <a:sym typeface="Lato Bold"/>
              </a:rPr>
              <a:t>Clients erhalten aktuelle Items (JSON)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de-DE"/>
          </a:p>
        </p:txBody>
      </p:sp>
      <p:sp>
        <p:nvSpPr>
          <p:cNvPr id="3" name="TextBox 3"/>
          <p:cNvSpPr txBox="1"/>
          <p:nvPr/>
        </p:nvSpPr>
        <p:spPr>
          <a:xfrm>
            <a:off x="804703" y="923182"/>
            <a:ext cx="10612544" cy="976069"/>
          </a:xfrm>
          <a:prstGeom prst="rect">
            <a:avLst/>
          </a:prstGeom>
        </p:spPr>
        <p:txBody>
          <a:bodyPr lIns="0" tIns="0" rIns="0" bIns="0" rtlCol="0" anchor="t">
            <a:spAutoFit/>
          </a:bodyPr>
          <a:lstStyle/>
          <a:p>
            <a:pPr algn="l">
              <a:lnSpc>
                <a:spcPts val="7522"/>
              </a:lnSpc>
            </a:pPr>
            <a:r>
              <a:rPr lang="en-US" sz="6841" b="1" spc="-136">
                <a:solidFill>
                  <a:srgbClr val="2A4437"/>
                </a:solidFill>
                <a:latin typeface="Lato Bold"/>
                <a:ea typeface="Lato Bold"/>
                <a:cs typeface="Lato Bold"/>
                <a:sym typeface="Lato Bold"/>
              </a:rPr>
              <a:t>Bedeutung für AIHealthMap</a:t>
            </a:r>
          </a:p>
        </p:txBody>
      </p:sp>
      <p:sp>
        <p:nvSpPr>
          <p:cNvPr id="4" name="TextBox 4"/>
          <p:cNvSpPr txBox="1"/>
          <p:nvPr/>
        </p:nvSpPr>
        <p:spPr>
          <a:xfrm>
            <a:off x="849879" y="2413493"/>
            <a:ext cx="10765685" cy="1896966"/>
          </a:xfrm>
          <a:prstGeom prst="rect">
            <a:avLst/>
          </a:prstGeom>
        </p:spPr>
        <p:txBody>
          <a:bodyPr lIns="0" tIns="0" rIns="0" bIns="0" rtlCol="0" anchor="t">
            <a:spAutoFit/>
          </a:bodyPr>
          <a:lstStyle/>
          <a:p>
            <a:pPr algn="l">
              <a:lnSpc>
                <a:spcPts val="3769"/>
              </a:lnSpc>
            </a:pPr>
            <a:r>
              <a:rPr lang="en-US" sz="2899" b="1" spc="-58">
                <a:solidFill>
                  <a:srgbClr val="737373"/>
                </a:solidFill>
                <a:latin typeface="Lato Bold"/>
                <a:ea typeface="Lato Bold"/>
                <a:cs typeface="Lato Bold"/>
                <a:sym typeface="Lato Bold"/>
              </a:rPr>
              <a:t>Für unser Projekt kann die STAC API als standardisierte Schnittstelle zwischen dem Web-Portal, dem KI-Agenten und den verfügbaren Geodaten dienen.</a:t>
            </a:r>
          </a:p>
          <a:p>
            <a:pPr algn="l">
              <a:lnSpc>
                <a:spcPts val="3767"/>
              </a:lnSpc>
            </a:pPr>
            <a:endParaRPr lang="en-US" sz="2899" b="1" spc="-58">
              <a:solidFill>
                <a:srgbClr val="737373"/>
              </a:solidFill>
              <a:latin typeface="Lato Bold"/>
              <a:ea typeface="Lato Bold"/>
              <a:cs typeface="Lato Bold"/>
              <a:sym typeface="Lato Bold"/>
            </a:endParaRPr>
          </a:p>
        </p:txBody>
      </p:sp>
      <p:sp>
        <p:nvSpPr>
          <p:cNvPr id="5" name="Freeform 5"/>
          <p:cNvSpPr/>
          <p:nvPr/>
        </p:nvSpPr>
        <p:spPr>
          <a:xfrm>
            <a:off x="276425" y="4985212"/>
            <a:ext cx="2774730" cy="2727035"/>
          </a:xfrm>
          <a:custGeom>
            <a:avLst/>
            <a:gdLst/>
            <a:ahLst/>
            <a:cxnLst/>
            <a:rect l="l" t="t" r="r" b="b"/>
            <a:pathLst>
              <a:path w="2774730" h="2727035">
                <a:moveTo>
                  <a:pt x="0" y="0"/>
                </a:moveTo>
                <a:lnTo>
                  <a:pt x="2774730" y="0"/>
                </a:lnTo>
                <a:lnTo>
                  <a:pt x="2774730" y="2727034"/>
                </a:lnTo>
                <a:lnTo>
                  <a:pt x="0" y="2727034"/>
                </a:lnTo>
                <a:lnTo>
                  <a:pt x="0" y="0"/>
                </a:lnTo>
                <a:close/>
              </a:path>
            </a:pathLst>
          </a:custGeom>
          <a:blipFill>
            <a:blip r:embed="rId3"/>
            <a:stretch>
              <a:fillRect/>
            </a:stretch>
          </a:blipFill>
        </p:spPr>
        <p:txBody>
          <a:bodyPr/>
          <a:lstStyle/>
          <a:p>
            <a:endParaRPr lang="de-DE"/>
          </a:p>
        </p:txBody>
      </p:sp>
      <p:sp>
        <p:nvSpPr>
          <p:cNvPr id="6" name="TextBox 6"/>
          <p:cNvSpPr txBox="1"/>
          <p:nvPr/>
        </p:nvSpPr>
        <p:spPr>
          <a:xfrm>
            <a:off x="736229" y="5935661"/>
            <a:ext cx="1750574" cy="709558"/>
          </a:xfrm>
          <a:prstGeom prst="rect">
            <a:avLst/>
          </a:prstGeom>
        </p:spPr>
        <p:txBody>
          <a:bodyPr lIns="0" tIns="0" rIns="0" bIns="0" rtlCol="0" anchor="t">
            <a:spAutoFit/>
          </a:bodyPr>
          <a:lstStyle/>
          <a:p>
            <a:pPr algn="ctr">
              <a:lnSpc>
                <a:spcPts val="2853"/>
              </a:lnSpc>
            </a:pPr>
            <a:r>
              <a:rPr lang="en-US" sz="1902" b="1" spc="-38">
                <a:solidFill>
                  <a:srgbClr val="FFFFFF">
                    <a:alpha val="84706"/>
                  </a:srgbClr>
                </a:solidFill>
                <a:latin typeface="Lato Bold"/>
                <a:ea typeface="Lato Bold"/>
                <a:cs typeface="Lato Bold"/>
                <a:sym typeface="Lato Bold"/>
              </a:rPr>
              <a:t>stellt Anfrage im Web-Portal</a:t>
            </a:r>
          </a:p>
        </p:txBody>
      </p:sp>
      <p:sp>
        <p:nvSpPr>
          <p:cNvPr id="7" name="Freeform 7"/>
          <p:cNvSpPr/>
          <p:nvPr/>
        </p:nvSpPr>
        <p:spPr>
          <a:xfrm>
            <a:off x="2808367" y="6117624"/>
            <a:ext cx="936471" cy="462209"/>
          </a:xfrm>
          <a:custGeom>
            <a:avLst/>
            <a:gdLst/>
            <a:ahLst/>
            <a:cxnLst/>
            <a:rect l="l" t="t" r="r" b="b"/>
            <a:pathLst>
              <a:path w="936471" h="462209">
                <a:moveTo>
                  <a:pt x="0" y="0"/>
                </a:moveTo>
                <a:lnTo>
                  <a:pt x="936471" y="0"/>
                </a:lnTo>
                <a:lnTo>
                  <a:pt x="936471" y="462210"/>
                </a:lnTo>
                <a:lnTo>
                  <a:pt x="0" y="462210"/>
                </a:lnTo>
                <a:lnTo>
                  <a:pt x="0" y="0"/>
                </a:lnTo>
                <a:close/>
              </a:path>
            </a:pathLst>
          </a:custGeom>
          <a:blipFill>
            <a:blip r:embed="rId4"/>
            <a:stretch>
              <a:fillRect/>
            </a:stretch>
          </a:blipFill>
        </p:spPr>
        <p:txBody>
          <a:bodyPr/>
          <a:lstStyle/>
          <a:p>
            <a:endParaRPr lang="de-DE"/>
          </a:p>
        </p:txBody>
      </p:sp>
      <p:sp>
        <p:nvSpPr>
          <p:cNvPr id="8" name="Freeform 8"/>
          <p:cNvSpPr/>
          <p:nvPr/>
        </p:nvSpPr>
        <p:spPr>
          <a:xfrm>
            <a:off x="3502049" y="4985212"/>
            <a:ext cx="3005957" cy="2727035"/>
          </a:xfrm>
          <a:custGeom>
            <a:avLst/>
            <a:gdLst/>
            <a:ahLst/>
            <a:cxnLst/>
            <a:rect l="l" t="t" r="r" b="b"/>
            <a:pathLst>
              <a:path w="3005957" h="2727035">
                <a:moveTo>
                  <a:pt x="0" y="0"/>
                </a:moveTo>
                <a:lnTo>
                  <a:pt x="3005958" y="0"/>
                </a:lnTo>
                <a:lnTo>
                  <a:pt x="3005958" y="2727034"/>
                </a:lnTo>
                <a:lnTo>
                  <a:pt x="0" y="2727034"/>
                </a:lnTo>
                <a:lnTo>
                  <a:pt x="0" y="0"/>
                </a:lnTo>
                <a:close/>
              </a:path>
            </a:pathLst>
          </a:custGeom>
          <a:blipFill>
            <a:blip r:embed="rId5"/>
            <a:stretch>
              <a:fillRect/>
            </a:stretch>
          </a:blipFill>
        </p:spPr>
        <p:txBody>
          <a:bodyPr/>
          <a:lstStyle/>
          <a:p>
            <a:endParaRPr lang="de-DE"/>
          </a:p>
        </p:txBody>
      </p:sp>
      <p:sp>
        <p:nvSpPr>
          <p:cNvPr id="9" name="TextBox 9"/>
          <p:cNvSpPr txBox="1"/>
          <p:nvPr/>
        </p:nvSpPr>
        <p:spPr>
          <a:xfrm>
            <a:off x="4452286" y="5324850"/>
            <a:ext cx="1325150" cy="358225"/>
          </a:xfrm>
          <a:prstGeom prst="rect">
            <a:avLst/>
          </a:prstGeom>
        </p:spPr>
        <p:txBody>
          <a:bodyPr lIns="0" tIns="0" rIns="0" bIns="0" rtlCol="0" anchor="t">
            <a:spAutoFit/>
          </a:bodyPr>
          <a:lstStyle/>
          <a:p>
            <a:pPr algn="ctr">
              <a:lnSpc>
                <a:spcPts val="2958"/>
              </a:lnSpc>
            </a:pPr>
            <a:r>
              <a:rPr lang="en-US" sz="2276" b="1" spc="-45">
                <a:solidFill>
                  <a:srgbClr val="2A4437"/>
                </a:solidFill>
                <a:latin typeface="Lato Bold"/>
                <a:ea typeface="Lato Bold"/>
                <a:cs typeface="Lato Bold"/>
                <a:sym typeface="Lato Bold"/>
              </a:rPr>
              <a:t>KI-AGENT</a:t>
            </a:r>
          </a:p>
        </p:txBody>
      </p:sp>
      <p:sp>
        <p:nvSpPr>
          <p:cNvPr id="10" name="TextBox 10"/>
          <p:cNvSpPr txBox="1"/>
          <p:nvPr/>
        </p:nvSpPr>
        <p:spPr>
          <a:xfrm>
            <a:off x="4189564" y="5846829"/>
            <a:ext cx="1880078" cy="1434457"/>
          </a:xfrm>
          <a:prstGeom prst="rect">
            <a:avLst/>
          </a:prstGeom>
        </p:spPr>
        <p:txBody>
          <a:bodyPr lIns="0" tIns="0" rIns="0" bIns="0" rtlCol="0" anchor="t">
            <a:spAutoFit/>
          </a:bodyPr>
          <a:lstStyle/>
          <a:p>
            <a:pPr algn="ctr">
              <a:lnSpc>
                <a:spcPts val="2853"/>
              </a:lnSpc>
            </a:pPr>
            <a:r>
              <a:rPr lang="en-US" sz="1902" b="1" spc="-38">
                <a:solidFill>
                  <a:srgbClr val="2A4437">
                    <a:alpha val="84706"/>
                  </a:srgbClr>
                </a:solidFill>
                <a:latin typeface="Lato Bold"/>
                <a:ea typeface="Lato Bold"/>
                <a:cs typeface="Lato Bold"/>
                <a:sym typeface="Lato Bold"/>
              </a:rPr>
              <a:t>versteht natürliche Sprache und</a:t>
            </a:r>
          </a:p>
          <a:p>
            <a:pPr algn="ctr">
              <a:lnSpc>
                <a:spcPts val="2853"/>
              </a:lnSpc>
            </a:pPr>
            <a:r>
              <a:rPr lang="en-US" sz="1902" b="1" spc="-38">
                <a:solidFill>
                  <a:srgbClr val="2A4437">
                    <a:alpha val="84706"/>
                  </a:srgbClr>
                </a:solidFill>
                <a:latin typeface="Lato Bold"/>
                <a:ea typeface="Lato Bold"/>
                <a:cs typeface="Lato Bold"/>
                <a:sym typeface="Lato Bold"/>
              </a:rPr>
              <a:t>plant die Suche</a:t>
            </a:r>
          </a:p>
        </p:txBody>
      </p:sp>
      <p:sp>
        <p:nvSpPr>
          <p:cNvPr id="11" name="Freeform 11"/>
          <p:cNvSpPr/>
          <p:nvPr/>
        </p:nvSpPr>
        <p:spPr>
          <a:xfrm>
            <a:off x="6265218" y="6117624"/>
            <a:ext cx="1156137" cy="462209"/>
          </a:xfrm>
          <a:custGeom>
            <a:avLst/>
            <a:gdLst/>
            <a:ahLst/>
            <a:cxnLst/>
            <a:rect l="l" t="t" r="r" b="b"/>
            <a:pathLst>
              <a:path w="1156137" h="462209">
                <a:moveTo>
                  <a:pt x="0" y="0"/>
                </a:moveTo>
                <a:lnTo>
                  <a:pt x="1156137" y="0"/>
                </a:lnTo>
                <a:lnTo>
                  <a:pt x="1156137" y="462210"/>
                </a:lnTo>
                <a:lnTo>
                  <a:pt x="0" y="462210"/>
                </a:lnTo>
                <a:lnTo>
                  <a:pt x="0" y="0"/>
                </a:lnTo>
                <a:close/>
              </a:path>
            </a:pathLst>
          </a:custGeom>
          <a:blipFill>
            <a:blip r:embed="rId6"/>
            <a:stretch>
              <a:fillRect/>
            </a:stretch>
          </a:blipFill>
        </p:spPr>
        <p:txBody>
          <a:bodyPr/>
          <a:lstStyle/>
          <a:p>
            <a:endParaRPr lang="de-DE"/>
          </a:p>
        </p:txBody>
      </p:sp>
      <p:sp>
        <p:nvSpPr>
          <p:cNvPr id="12" name="Freeform 12"/>
          <p:cNvSpPr/>
          <p:nvPr/>
        </p:nvSpPr>
        <p:spPr>
          <a:xfrm>
            <a:off x="7178566" y="4985212"/>
            <a:ext cx="3237185" cy="2727035"/>
          </a:xfrm>
          <a:custGeom>
            <a:avLst/>
            <a:gdLst/>
            <a:ahLst/>
            <a:cxnLst/>
            <a:rect l="l" t="t" r="r" b="b"/>
            <a:pathLst>
              <a:path w="3237185" h="2727035">
                <a:moveTo>
                  <a:pt x="0" y="0"/>
                </a:moveTo>
                <a:lnTo>
                  <a:pt x="3237185" y="0"/>
                </a:lnTo>
                <a:lnTo>
                  <a:pt x="3237185" y="2727034"/>
                </a:lnTo>
                <a:lnTo>
                  <a:pt x="0" y="2727034"/>
                </a:lnTo>
                <a:lnTo>
                  <a:pt x="0" y="0"/>
                </a:lnTo>
                <a:close/>
              </a:path>
            </a:pathLst>
          </a:custGeom>
          <a:blipFill>
            <a:blip r:embed="rId7"/>
            <a:stretch>
              <a:fillRect/>
            </a:stretch>
          </a:blipFill>
        </p:spPr>
        <p:txBody>
          <a:bodyPr/>
          <a:lstStyle/>
          <a:p>
            <a:endParaRPr lang="de-DE"/>
          </a:p>
        </p:txBody>
      </p:sp>
      <p:sp>
        <p:nvSpPr>
          <p:cNvPr id="13" name="TextBox 13"/>
          <p:cNvSpPr txBox="1"/>
          <p:nvPr/>
        </p:nvSpPr>
        <p:spPr>
          <a:xfrm>
            <a:off x="8243193" y="5306156"/>
            <a:ext cx="1243994" cy="386088"/>
          </a:xfrm>
          <a:prstGeom prst="rect">
            <a:avLst/>
          </a:prstGeom>
        </p:spPr>
        <p:txBody>
          <a:bodyPr lIns="0" tIns="0" rIns="0" bIns="0" rtlCol="0" anchor="t">
            <a:spAutoFit/>
          </a:bodyPr>
          <a:lstStyle/>
          <a:p>
            <a:pPr algn="ctr">
              <a:lnSpc>
                <a:spcPts val="3012"/>
              </a:lnSpc>
            </a:pPr>
            <a:r>
              <a:rPr lang="en-US" sz="2317" b="1" spc="-46">
                <a:solidFill>
                  <a:srgbClr val="2A4437"/>
                </a:solidFill>
                <a:latin typeface="Lato Bold"/>
                <a:ea typeface="Lato Bold"/>
                <a:cs typeface="Lato Bold"/>
                <a:sym typeface="Lato Bold"/>
              </a:rPr>
              <a:t>STAC API</a:t>
            </a:r>
          </a:p>
        </p:txBody>
      </p:sp>
      <p:sp>
        <p:nvSpPr>
          <p:cNvPr id="14" name="TextBox 14"/>
          <p:cNvSpPr txBox="1"/>
          <p:nvPr/>
        </p:nvSpPr>
        <p:spPr>
          <a:xfrm>
            <a:off x="7795108" y="5835147"/>
            <a:ext cx="2151732" cy="1434457"/>
          </a:xfrm>
          <a:prstGeom prst="rect">
            <a:avLst/>
          </a:prstGeom>
        </p:spPr>
        <p:txBody>
          <a:bodyPr lIns="0" tIns="0" rIns="0" bIns="0" rtlCol="0" anchor="t">
            <a:spAutoFit/>
          </a:bodyPr>
          <a:lstStyle/>
          <a:p>
            <a:pPr algn="ctr">
              <a:lnSpc>
                <a:spcPts val="2853"/>
              </a:lnSpc>
            </a:pPr>
            <a:r>
              <a:rPr lang="en-US" sz="1902" b="1" spc="-38">
                <a:solidFill>
                  <a:srgbClr val="2A4437">
                    <a:alpha val="84706"/>
                  </a:srgbClr>
                </a:solidFill>
                <a:latin typeface="Lato Bold"/>
                <a:ea typeface="Lato Bold"/>
                <a:cs typeface="Lato Bold"/>
                <a:sym typeface="Lato Bold"/>
              </a:rPr>
              <a:t>standardisierte Schnittstelle für Collections und Items</a:t>
            </a:r>
          </a:p>
        </p:txBody>
      </p:sp>
      <p:sp>
        <p:nvSpPr>
          <p:cNvPr id="15" name="Freeform 15"/>
          <p:cNvSpPr/>
          <p:nvPr/>
        </p:nvSpPr>
        <p:spPr>
          <a:xfrm>
            <a:off x="10172962" y="6117624"/>
            <a:ext cx="1167699" cy="462209"/>
          </a:xfrm>
          <a:custGeom>
            <a:avLst/>
            <a:gdLst/>
            <a:ahLst/>
            <a:cxnLst/>
            <a:rect l="l" t="t" r="r" b="b"/>
            <a:pathLst>
              <a:path w="1167699" h="462209">
                <a:moveTo>
                  <a:pt x="0" y="0"/>
                </a:moveTo>
                <a:lnTo>
                  <a:pt x="1167699" y="0"/>
                </a:lnTo>
                <a:lnTo>
                  <a:pt x="1167699" y="462210"/>
                </a:lnTo>
                <a:lnTo>
                  <a:pt x="0" y="462210"/>
                </a:lnTo>
                <a:lnTo>
                  <a:pt x="0" y="0"/>
                </a:lnTo>
                <a:close/>
              </a:path>
            </a:pathLst>
          </a:custGeom>
          <a:blipFill>
            <a:blip r:embed="rId8"/>
            <a:stretch>
              <a:fillRect/>
            </a:stretch>
          </a:blipFill>
        </p:spPr>
        <p:txBody>
          <a:bodyPr/>
          <a:lstStyle/>
          <a:p>
            <a:endParaRPr lang="de-DE"/>
          </a:p>
        </p:txBody>
      </p:sp>
      <p:sp>
        <p:nvSpPr>
          <p:cNvPr id="16" name="Freeform 16"/>
          <p:cNvSpPr/>
          <p:nvPr/>
        </p:nvSpPr>
        <p:spPr>
          <a:xfrm>
            <a:off x="11097872" y="4985212"/>
            <a:ext cx="3225624" cy="2727035"/>
          </a:xfrm>
          <a:custGeom>
            <a:avLst/>
            <a:gdLst/>
            <a:ahLst/>
            <a:cxnLst/>
            <a:rect l="l" t="t" r="r" b="b"/>
            <a:pathLst>
              <a:path w="3225624" h="2727035">
                <a:moveTo>
                  <a:pt x="0" y="0"/>
                </a:moveTo>
                <a:lnTo>
                  <a:pt x="3225624" y="0"/>
                </a:lnTo>
                <a:lnTo>
                  <a:pt x="3225624" y="2727034"/>
                </a:lnTo>
                <a:lnTo>
                  <a:pt x="0" y="2727034"/>
                </a:lnTo>
                <a:lnTo>
                  <a:pt x="0" y="0"/>
                </a:lnTo>
                <a:close/>
              </a:path>
            </a:pathLst>
          </a:custGeom>
          <a:blipFill>
            <a:blip r:embed="rId9"/>
            <a:stretch>
              <a:fillRect/>
            </a:stretch>
          </a:blipFill>
        </p:spPr>
        <p:txBody>
          <a:bodyPr/>
          <a:lstStyle/>
          <a:p>
            <a:endParaRPr lang="de-DE"/>
          </a:p>
        </p:txBody>
      </p:sp>
      <p:sp>
        <p:nvSpPr>
          <p:cNvPr id="17" name="TextBox 17"/>
          <p:cNvSpPr txBox="1"/>
          <p:nvPr/>
        </p:nvSpPr>
        <p:spPr>
          <a:xfrm>
            <a:off x="11436449" y="5257495"/>
            <a:ext cx="2548470" cy="634802"/>
          </a:xfrm>
          <a:prstGeom prst="rect">
            <a:avLst/>
          </a:prstGeom>
        </p:spPr>
        <p:txBody>
          <a:bodyPr lIns="0" tIns="0" rIns="0" bIns="0" rtlCol="0" anchor="t">
            <a:spAutoFit/>
          </a:bodyPr>
          <a:lstStyle/>
          <a:p>
            <a:pPr algn="ctr">
              <a:lnSpc>
                <a:spcPts val="2641"/>
              </a:lnSpc>
            </a:pPr>
            <a:r>
              <a:rPr lang="en-US" sz="2032" b="1" spc="-40">
                <a:solidFill>
                  <a:srgbClr val="2A4437"/>
                </a:solidFill>
                <a:latin typeface="Lato Bold"/>
                <a:ea typeface="Lato Bold"/>
                <a:cs typeface="Lato Bold"/>
                <a:sym typeface="Lato Bold"/>
              </a:rPr>
              <a:t>PASSENDE COLLECTIONS/ITEMS</a:t>
            </a:r>
          </a:p>
        </p:txBody>
      </p:sp>
      <p:sp>
        <p:nvSpPr>
          <p:cNvPr id="18" name="TextBox 18"/>
          <p:cNvSpPr txBox="1"/>
          <p:nvPr/>
        </p:nvSpPr>
        <p:spPr>
          <a:xfrm>
            <a:off x="11799507" y="6006304"/>
            <a:ext cx="1839686" cy="709558"/>
          </a:xfrm>
          <a:prstGeom prst="rect">
            <a:avLst/>
          </a:prstGeom>
        </p:spPr>
        <p:txBody>
          <a:bodyPr lIns="0" tIns="0" rIns="0" bIns="0" rtlCol="0" anchor="t">
            <a:spAutoFit/>
          </a:bodyPr>
          <a:lstStyle/>
          <a:p>
            <a:pPr algn="ctr">
              <a:lnSpc>
                <a:spcPts val="2853"/>
              </a:lnSpc>
            </a:pPr>
            <a:r>
              <a:rPr lang="en-US" sz="1902" b="1" spc="-38">
                <a:solidFill>
                  <a:srgbClr val="2A4437">
                    <a:alpha val="84706"/>
                  </a:srgbClr>
                </a:solidFill>
                <a:latin typeface="Lato Bold"/>
                <a:ea typeface="Lato Bold"/>
                <a:cs typeface="Lato Bold"/>
                <a:sym typeface="Lato Bold"/>
              </a:rPr>
              <a:t>relevante Daten</a:t>
            </a:r>
          </a:p>
          <a:p>
            <a:pPr algn="ctr">
              <a:lnSpc>
                <a:spcPts val="2853"/>
              </a:lnSpc>
            </a:pPr>
            <a:r>
              <a:rPr lang="en-US" sz="1902" b="1" spc="-38">
                <a:solidFill>
                  <a:srgbClr val="2A4437">
                    <a:alpha val="84706"/>
                  </a:srgbClr>
                </a:solidFill>
                <a:latin typeface="Lato Bold"/>
                <a:ea typeface="Lato Bold"/>
                <a:cs typeface="Lato Bold"/>
                <a:sym typeface="Lato Bold"/>
              </a:rPr>
              <a:t>werden gefunden</a:t>
            </a:r>
          </a:p>
        </p:txBody>
      </p:sp>
      <p:sp>
        <p:nvSpPr>
          <p:cNvPr id="19" name="Freeform 19"/>
          <p:cNvSpPr/>
          <p:nvPr/>
        </p:nvSpPr>
        <p:spPr>
          <a:xfrm>
            <a:off x="14080707" y="6117624"/>
            <a:ext cx="936471" cy="462209"/>
          </a:xfrm>
          <a:custGeom>
            <a:avLst/>
            <a:gdLst/>
            <a:ahLst/>
            <a:cxnLst/>
            <a:rect l="l" t="t" r="r" b="b"/>
            <a:pathLst>
              <a:path w="936471" h="462209">
                <a:moveTo>
                  <a:pt x="0" y="0"/>
                </a:moveTo>
                <a:lnTo>
                  <a:pt x="936471" y="0"/>
                </a:lnTo>
                <a:lnTo>
                  <a:pt x="936471" y="462210"/>
                </a:lnTo>
                <a:lnTo>
                  <a:pt x="0" y="462210"/>
                </a:lnTo>
                <a:lnTo>
                  <a:pt x="0" y="0"/>
                </a:lnTo>
                <a:close/>
              </a:path>
            </a:pathLst>
          </a:custGeom>
          <a:blipFill>
            <a:blip r:embed="rId10"/>
            <a:stretch>
              <a:fillRect/>
            </a:stretch>
          </a:blipFill>
        </p:spPr>
        <p:txBody>
          <a:bodyPr/>
          <a:lstStyle/>
          <a:p>
            <a:endParaRPr lang="de-DE"/>
          </a:p>
        </p:txBody>
      </p:sp>
      <p:sp>
        <p:nvSpPr>
          <p:cNvPr id="20" name="Freeform 20"/>
          <p:cNvSpPr/>
          <p:nvPr/>
        </p:nvSpPr>
        <p:spPr>
          <a:xfrm>
            <a:off x="14774390" y="4985212"/>
            <a:ext cx="3237185" cy="2727035"/>
          </a:xfrm>
          <a:custGeom>
            <a:avLst/>
            <a:gdLst/>
            <a:ahLst/>
            <a:cxnLst/>
            <a:rect l="l" t="t" r="r" b="b"/>
            <a:pathLst>
              <a:path w="3237185" h="2727035">
                <a:moveTo>
                  <a:pt x="0" y="0"/>
                </a:moveTo>
                <a:lnTo>
                  <a:pt x="3237185" y="0"/>
                </a:lnTo>
                <a:lnTo>
                  <a:pt x="3237185" y="2727034"/>
                </a:lnTo>
                <a:lnTo>
                  <a:pt x="0" y="2727034"/>
                </a:lnTo>
                <a:lnTo>
                  <a:pt x="0" y="0"/>
                </a:lnTo>
                <a:close/>
              </a:path>
            </a:pathLst>
          </a:custGeom>
          <a:blipFill>
            <a:blip r:embed="rId11"/>
            <a:stretch>
              <a:fillRect/>
            </a:stretch>
          </a:blipFill>
        </p:spPr>
        <p:txBody>
          <a:bodyPr/>
          <a:lstStyle/>
          <a:p>
            <a:endParaRPr lang="de-DE"/>
          </a:p>
        </p:txBody>
      </p:sp>
      <p:sp>
        <p:nvSpPr>
          <p:cNvPr id="21" name="TextBox 21"/>
          <p:cNvSpPr txBox="1"/>
          <p:nvPr/>
        </p:nvSpPr>
        <p:spPr>
          <a:xfrm>
            <a:off x="15469674" y="5391021"/>
            <a:ext cx="1846616" cy="358225"/>
          </a:xfrm>
          <a:prstGeom prst="rect">
            <a:avLst/>
          </a:prstGeom>
        </p:spPr>
        <p:txBody>
          <a:bodyPr lIns="0" tIns="0" rIns="0" bIns="0" rtlCol="0" anchor="t">
            <a:spAutoFit/>
          </a:bodyPr>
          <a:lstStyle/>
          <a:p>
            <a:pPr algn="ctr">
              <a:lnSpc>
                <a:spcPts val="2958"/>
              </a:lnSpc>
            </a:pPr>
            <a:r>
              <a:rPr lang="en-US" sz="2276" b="1" spc="-45">
                <a:solidFill>
                  <a:srgbClr val="2A4437"/>
                </a:solidFill>
                <a:latin typeface="Lato Bold"/>
                <a:ea typeface="Lato Bold"/>
                <a:cs typeface="Lato Bold"/>
                <a:sym typeface="Lato Bold"/>
              </a:rPr>
              <a:t>WEB-PORTAL</a:t>
            </a:r>
          </a:p>
        </p:txBody>
      </p:sp>
      <p:sp>
        <p:nvSpPr>
          <p:cNvPr id="22" name="TextBox 22"/>
          <p:cNvSpPr txBox="1"/>
          <p:nvPr/>
        </p:nvSpPr>
        <p:spPr>
          <a:xfrm>
            <a:off x="15325550" y="5935661"/>
            <a:ext cx="2280798" cy="1072007"/>
          </a:xfrm>
          <a:prstGeom prst="rect">
            <a:avLst/>
          </a:prstGeom>
        </p:spPr>
        <p:txBody>
          <a:bodyPr lIns="0" tIns="0" rIns="0" bIns="0" rtlCol="0" anchor="t">
            <a:spAutoFit/>
          </a:bodyPr>
          <a:lstStyle/>
          <a:p>
            <a:pPr algn="ctr">
              <a:lnSpc>
                <a:spcPts val="2853"/>
              </a:lnSpc>
            </a:pPr>
            <a:r>
              <a:rPr lang="en-US" sz="1902" b="1" spc="-38">
                <a:solidFill>
                  <a:srgbClr val="2A4437">
                    <a:alpha val="84706"/>
                  </a:srgbClr>
                </a:solidFill>
                <a:latin typeface="Lato Bold"/>
                <a:ea typeface="Lato Bold"/>
                <a:cs typeface="Lato Bold"/>
                <a:sym typeface="Lato Bold"/>
              </a:rPr>
              <a:t>Daten und Metadaten werden dargestellt</a:t>
            </a:r>
          </a:p>
        </p:txBody>
      </p:sp>
      <p:sp>
        <p:nvSpPr>
          <p:cNvPr id="23" name="TextBox 23"/>
          <p:cNvSpPr txBox="1"/>
          <p:nvPr/>
        </p:nvSpPr>
        <p:spPr>
          <a:xfrm>
            <a:off x="1052496" y="5324850"/>
            <a:ext cx="1106470" cy="358225"/>
          </a:xfrm>
          <a:prstGeom prst="rect">
            <a:avLst/>
          </a:prstGeom>
        </p:spPr>
        <p:txBody>
          <a:bodyPr lIns="0" tIns="0" rIns="0" bIns="0" rtlCol="0" anchor="t">
            <a:spAutoFit/>
          </a:bodyPr>
          <a:lstStyle/>
          <a:p>
            <a:pPr algn="ctr">
              <a:lnSpc>
                <a:spcPts val="2958"/>
              </a:lnSpc>
            </a:pPr>
            <a:r>
              <a:rPr lang="en-US" sz="2276" b="1" spc="-45">
                <a:solidFill>
                  <a:srgbClr val="FFFFFF"/>
                </a:solidFill>
                <a:latin typeface="Lato Bold"/>
                <a:ea typeface="Lato Bold"/>
                <a:cs typeface="Lato Bold"/>
                <a:sym typeface="Lato Bold"/>
              </a:rPr>
              <a:t>NUTZER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de-DE"/>
          </a:p>
        </p:txBody>
      </p:sp>
      <p:sp>
        <p:nvSpPr>
          <p:cNvPr id="3" name="TextBox 3"/>
          <p:cNvSpPr txBox="1"/>
          <p:nvPr/>
        </p:nvSpPr>
        <p:spPr>
          <a:xfrm>
            <a:off x="804703" y="923182"/>
            <a:ext cx="10612544" cy="976069"/>
          </a:xfrm>
          <a:prstGeom prst="rect">
            <a:avLst/>
          </a:prstGeom>
        </p:spPr>
        <p:txBody>
          <a:bodyPr lIns="0" tIns="0" rIns="0" bIns="0" rtlCol="0" anchor="t">
            <a:spAutoFit/>
          </a:bodyPr>
          <a:lstStyle/>
          <a:p>
            <a:pPr algn="l">
              <a:lnSpc>
                <a:spcPts val="7522"/>
              </a:lnSpc>
            </a:pPr>
            <a:r>
              <a:rPr lang="en-US" sz="6841" b="1" spc="-136">
                <a:solidFill>
                  <a:srgbClr val="2A4437"/>
                </a:solidFill>
                <a:latin typeface="Lato Bold"/>
                <a:ea typeface="Lato Bold"/>
                <a:cs typeface="Lato Bold"/>
                <a:sym typeface="Lato Bold"/>
              </a:rPr>
              <a:t>Fragen</a:t>
            </a:r>
          </a:p>
        </p:txBody>
      </p:sp>
      <p:sp>
        <p:nvSpPr>
          <p:cNvPr id="4" name="TextBox 4"/>
          <p:cNvSpPr txBox="1"/>
          <p:nvPr/>
        </p:nvSpPr>
        <p:spPr>
          <a:xfrm>
            <a:off x="849879" y="2413493"/>
            <a:ext cx="12070719" cy="6519882"/>
          </a:xfrm>
          <a:prstGeom prst="rect">
            <a:avLst/>
          </a:prstGeom>
        </p:spPr>
        <p:txBody>
          <a:bodyPr lIns="0" tIns="0" rIns="0" bIns="0" rtlCol="0" anchor="t">
            <a:spAutoFit/>
          </a:bodyPr>
          <a:lstStyle/>
          <a:p>
            <a:pPr marL="626111" lvl="1" indent="-313055" algn="l">
              <a:lnSpc>
                <a:spcPts val="3767"/>
              </a:lnSpc>
              <a:buFont typeface="Arial"/>
              <a:buChar char="•"/>
            </a:pPr>
            <a:r>
              <a:rPr lang="en-US" sz="2900" b="1" spc="-58">
                <a:solidFill>
                  <a:srgbClr val="737373"/>
                </a:solidFill>
                <a:latin typeface="Lato Bold"/>
                <a:ea typeface="Lato Bold"/>
                <a:cs typeface="Lato Bold"/>
                <a:sym typeface="Lato Bold"/>
              </a:rPr>
              <a:t>Warum gibt es bei /search sowohl GET als auch POST?</a:t>
            </a:r>
          </a:p>
          <a:p>
            <a:pPr algn="l">
              <a:lnSpc>
                <a:spcPts val="3687"/>
              </a:lnSpc>
            </a:pPr>
            <a:endParaRPr lang="en-US" sz="2900" b="1" spc="-58">
              <a:solidFill>
                <a:srgbClr val="737373"/>
              </a:solidFill>
              <a:latin typeface="Lato Bold"/>
              <a:ea typeface="Lato Bold"/>
              <a:cs typeface="Lato Bold"/>
              <a:sym typeface="Lato Bold"/>
            </a:endParaRPr>
          </a:p>
          <a:p>
            <a:pPr algn="l">
              <a:lnSpc>
                <a:spcPts val="3117"/>
              </a:lnSpc>
            </a:pPr>
            <a:r>
              <a:rPr lang="en-US" sz="2400" b="1" spc="-48">
                <a:solidFill>
                  <a:srgbClr val="737373"/>
                </a:solidFill>
                <a:latin typeface="Lato Bold"/>
                <a:ea typeface="Lato Bold"/>
                <a:cs typeface="Lato Bold"/>
                <a:sym typeface="Lato Bold"/>
              </a:rPr>
              <a:t>Bei GET werden die Suchparameter in der URL übergeben. Bei POST können sie als JSON im Request Body stehen, was besonders bei komplexeren Suchanfragen übersichtlicher ist. POST bedeutet hier also nicht, dass neue Daten erstellt werden.</a:t>
            </a:r>
          </a:p>
          <a:p>
            <a:pPr algn="l">
              <a:lnSpc>
                <a:spcPts val="2727"/>
              </a:lnSpc>
            </a:pPr>
            <a:endParaRPr lang="en-US" sz="2400" b="1" spc="-48">
              <a:solidFill>
                <a:srgbClr val="737373"/>
              </a:solidFill>
              <a:latin typeface="Lato Bold"/>
              <a:ea typeface="Lato Bold"/>
              <a:cs typeface="Lato Bold"/>
              <a:sym typeface="Lato Bold"/>
            </a:endParaRPr>
          </a:p>
          <a:p>
            <a:pPr marL="626111" lvl="1" indent="-313055" algn="l">
              <a:lnSpc>
                <a:spcPts val="3767"/>
              </a:lnSpc>
              <a:buFont typeface="Arial"/>
              <a:buChar char="•"/>
            </a:pPr>
            <a:r>
              <a:rPr lang="en-US" sz="2900" b="1" spc="-58">
                <a:solidFill>
                  <a:srgbClr val="737373"/>
                </a:solidFill>
                <a:latin typeface="Lato Bold"/>
                <a:ea typeface="Lato Bold"/>
                <a:cs typeface="Lato Bold"/>
                <a:sym typeface="Lato Bold"/>
              </a:rPr>
              <a:t> Was passiert, wenn eine Suche sehr viele Items findet?</a:t>
            </a:r>
          </a:p>
          <a:p>
            <a:pPr algn="l">
              <a:lnSpc>
                <a:spcPts val="2727"/>
              </a:lnSpc>
            </a:pPr>
            <a:endParaRPr lang="en-US" sz="2900" b="1" spc="-58">
              <a:solidFill>
                <a:srgbClr val="737373"/>
              </a:solidFill>
              <a:latin typeface="Lato Bold"/>
              <a:ea typeface="Lato Bold"/>
              <a:cs typeface="Lato Bold"/>
              <a:sym typeface="Lato Bold"/>
            </a:endParaRPr>
          </a:p>
          <a:p>
            <a:pPr algn="l">
              <a:lnSpc>
                <a:spcPts val="3117"/>
              </a:lnSpc>
            </a:pPr>
            <a:r>
              <a:rPr lang="en-US" sz="2400" b="1" spc="-48">
                <a:solidFill>
                  <a:srgbClr val="737373"/>
                </a:solidFill>
                <a:latin typeface="Lato Bold"/>
                <a:ea typeface="Lato Bold"/>
                <a:cs typeface="Lato Bold"/>
                <a:sym typeface="Lato Bold"/>
              </a:rPr>
              <a:t>Dann wird normalerweise Pagination verwendet. Die API liefert die Ergebnisse in mehreren Seiten und gibt über Links an, wie der Client die nächsten Ergebnisse abrufen kann.</a:t>
            </a:r>
          </a:p>
          <a:p>
            <a:pPr algn="l">
              <a:lnSpc>
                <a:spcPts val="2727"/>
              </a:lnSpc>
            </a:pPr>
            <a:endParaRPr lang="en-US" sz="2400" b="1" spc="-48">
              <a:solidFill>
                <a:srgbClr val="737373"/>
              </a:solidFill>
              <a:latin typeface="Lato Bold"/>
              <a:ea typeface="Lato Bold"/>
              <a:cs typeface="Lato Bold"/>
              <a:sym typeface="Lato Bold"/>
            </a:endParaRPr>
          </a:p>
          <a:p>
            <a:pPr marL="626111" lvl="1" indent="-313055" algn="l">
              <a:lnSpc>
                <a:spcPts val="3767"/>
              </a:lnSpc>
              <a:buFont typeface="Arial"/>
              <a:buChar char="•"/>
            </a:pPr>
            <a:r>
              <a:rPr lang="en-US" sz="2900" b="1" spc="-58">
                <a:solidFill>
                  <a:srgbClr val="737373"/>
                </a:solidFill>
                <a:latin typeface="Lato Bold"/>
                <a:ea typeface="Lato Bold"/>
                <a:cs typeface="Lato Bold"/>
                <a:sym typeface="Lato Bold"/>
              </a:rPr>
              <a:t>Kann ein statischer STAC Catalog trotzdem im Internet liegen?</a:t>
            </a:r>
          </a:p>
          <a:p>
            <a:pPr algn="l">
              <a:lnSpc>
                <a:spcPts val="3767"/>
              </a:lnSpc>
            </a:pPr>
            <a:endParaRPr lang="en-US" sz="2900" b="1" spc="-58">
              <a:solidFill>
                <a:srgbClr val="737373"/>
              </a:solidFill>
              <a:latin typeface="Lato Bold"/>
              <a:ea typeface="Lato Bold"/>
              <a:cs typeface="Lato Bold"/>
              <a:sym typeface="Lato Bold"/>
            </a:endParaRPr>
          </a:p>
          <a:p>
            <a:pPr algn="l">
              <a:lnSpc>
                <a:spcPts val="3117"/>
              </a:lnSpc>
            </a:pPr>
            <a:r>
              <a:rPr lang="en-US" sz="2400" b="1" spc="-48">
                <a:solidFill>
                  <a:srgbClr val="737373"/>
                </a:solidFill>
                <a:latin typeface="Lato Bold"/>
                <a:ea typeface="Lato Bold"/>
                <a:cs typeface="Lato Bold"/>
                <a:sym typeface="Lato Bold"/>
              </a:rPr>
              <a:t>Ja. „Statisch“ bedeutet nicht „offline“. Ein statischer Catalog kann auf einem Webserver liegen. Der Unterschied ist, dass er hauptsächlich aus bereits vorhandenen, verlinkten JSON-Dateien besteht und keine dynamischen API-Requests verarbeitet.</a:t>
            </a:r>
          </a:p>
        </p:txBody>
      </p:sp>
      <p:grpSp>
        <p:nvGrpSpPr>
          <p:cNvPr id="5" name="Group 5"/>
          <p:cNvGrpSpPr/>
          <p:nvPr/>
        </p:nvGrpSpPr>
        <p:grpSpPr>
          <a:xfrm>
            <a:off x="13677010" y="364054"/>
            <a:ext cx="4067974" cy="3674188"/>
            <a:chOff x="0" y="0"/>
            <a:chExt cx="1071400" cy="967687"/>
          </a:xfrm>
        </p:grpSpPr>
        <p:sp>
          <p:nvSpPr>
            <p:cNvPr id="6" name="Freeform 6"/>
            <p:cNvSpPr/>
            <p:nvPr/>
          </p:nvSpPr>
          <p:spPr>
            <a:xfrm>
              <a:off x="0" y="0"/>
              <a:ext cx="1071400" cy="967687"/>
            </a:xfrm>
            <a:custGeom>
              <a:avLst/>
              <a:gdLst/>
              <a:ahLst/>
              <a:cxnLst/>
              <a:rect l="l" t="t" r="r" b="b"/>
              <a:pathLst>
                <a:path w="1071400" h="967687">
                  <a:moveTo>
                    <a:pt x="57094" y="0"/>
                  </a:moveTo>
                  <a:lnTo>
                    <a:pt x="1014306" y="0"/>
                  </a:lnTo>
                  <a:cubicBezTo>
                    <a:pt x="1029449" y="0"/>
                    <a:pt x="1043971" y="6015"/>
                    <a:pt x="1054678" y="16722"/>
                  </a:cubicBezTo>
                  <a:cubicBezTo>
                    <a:pt x="1065385" y="27430"/>
                    <a:pt x="1071400" y="41952"/>
                    <a:pt x="1071400" y="57094"/>
                  </a:cubicBezTo>
                  <a:lnTo>
                    <a:pt x="1071400" y="910593"/>
                  </a:lnTo>
                  <a:cubicBezTo>
                    <a:pt x="1071400" y="925736"/>
                    <a:pt x="1065385" y="940258"/>
                    <a:pt x="1054678" y="950965"/>
                  </a:cubicBezTo>
                  <a:cubicBezTo>
                    <a:pt x="1043971" y="961672"/>
                    <a:pt x="1029449" y="967687"/>
                    <a:pt x="1014306" y="967687"/>
                  </a:cubicBezTo>
                  <a:lnTo>
                    <a:pt x="57094" y="967687"/>
                  </a:lnTo>
                  <a:cubicBezTo>
                    <a:pt x="41952" y="967687"/>
                    <a:pt x="27430" y="961672"/>
                    <a:pt x="16722" y="950965"/>
                  </a:cubicBezTo>
                  <a:cubicBezTo>
                    <a:pt x="6015" y="940258"/>
                    <a:pt x="0" y="925736"/>
                    <a:pt x="0" y="910593"/>
                  </a:cubicBezTo>
                  <a:lnTo>
                    <a:pt x="0" y="57094"/>
                  </a:lnTo>
                  <a:cubicBezTo>
                    <a:pt x="0" y="41952"/>
                    <a:pt x="6015" y="27430"/>
                    <a:pt x="16722" y="16722"/>
                  </a:cubicBezTo>
                  <a:cubicBezTo>
                    <a:pt x="27430" y="6015"/>
                    <a:pt x="41952" y="0"/>
                    <a:pt x="57094" y="0"/>
                  </a:cubicBezTo>
                  <a:close/>
                </a:path>
              </a:pathLst>
            </a:custGeom>
            <a:solidFill>
              <a:srgbClr val="2A4437"/>
            </a:solidFill>
          </p:spPr>
          <p:txBody>
            <a:bodyPr/>
            <a:lstStyle/>
            <a:p>
              <a:endParaRPr lang="de-DE"/>
            </a:p>
          </p:txBody>
        </p:sp>
        <p:sp>
          <p:nvSpPr>
            <p:cNvPr id="7" name="TextBox 7"/>
            <p:cNvSpPr txBox="1"/>
            <p:nvPr/>
          </p:nvSpPr>
          <p:spPr>
            <a:xfrm>
              <a:off x="0" y="-47625"/>
              <a:ext cx="1071400" cy="1015312"/>
            </a:xfrm>
            <a:prstGeom prst="rect">
              <a:avLst/>
            </a:prstGeom>
          </p:spPr>
          <p:txBody>
            <a:bodyPr lIns="50800" tIns="50800" rIns="50800" bIns="50800" rtlCol="0" anchor="ctr"/>
            <a:lstStyle/>
            <a:p>
              <a:pPr algn="ctr">
                <a:lnSpc>
                  <a:spcPts val="2399"/>
                </a:lnSpc>
              </a:pPr>
              <a:endParaRPr/>
            </a:p>
          </p:txBody>
        </p:sp>
      </p:grpSp>
      <p:sp>
        <p:nvSpPr>
          <p:cNvPr id="8" name="TextBox 8"/>
          <p:cNvSpPr txBox="1"/>
          <p:nvPr/>
        </p:nvSpPr>
        <p:spPr>
          <a:xfrm>
            <a:off x="13938860" y="461853"/>
            <a:ext cx="3544273" cy="3408308"/>
          </a:xfrm>
          <a:prstGeom prst="rect">
            <a:avLst/>
          </a:prstGeom>
        </p:spPr>
        <p:txBody>
          <a:bodyPr lIns="0" tIns="0" rIns="0" bIns="0" rtlCol="0" anchor="t">
            <a:spAutoFit/>
          </a:bodyPr>
          <a:lstStyle/>
          <a:p>
            <a:pPr algn="l">
              <a:lnSpc>
                <a:spcPts val="3064"/>
              </a:lnSpc>
            </a:pPr>
            <a:r>
              <a:rPr lang="en-US" sz="2043" spc="-81">
                <a:solidFill>
                  <a:srgbClr val="F4F4F4"/>
                </a:solidFill>
                <a:latin typeface="Lato"/>
                <a:ea typeface="Lato"/>
                <a:cs typeface="Lato"/>
                <a:sym typeface="Lato"/>
              </a:rPr>
              <a:t>GET:</a:t>
            </a:r>
          </a:p>
          <a:p>
            <a:pPr algn="l">
              <a:lnSpc>
                <a:spcPts val="3064"/>
              </a:lnSpc>
            </a:pPr>
            <a:r>
              <a:rPr lang="en-US" sz="2043" spc="-81">
                <a:solidFill>
                  <a:srgbClr val="F4F4F4"/>
                </a:solidFill>
                <a:latin typeface="Lato"/>
                <a:ea typeface="Lato"/>
                <a:cs typeface="Lato"/>
                <a:sym typeface="Lato"/>
              </a:rPr>
              <a:t>/search?collections=air-quality&amp;datetime=2026-10-14</a:t>
            </a:r>
          </a:p>
          <a:p>
            <a:pPr algn="l">
              <a:lnSpc>
                <a:spcPts val="3064"/>
              </a:lnSpc>
            </a:pPr>
            <a:endParaRPr lang="en-US" sz="2043" spc="-81">
              <a:solidFill>
                <a:srgbClr val="F4F4F4"/>
              </a:solidFill>
              <a:latin typeface="Lato"/>
              <a:ea typeface="Lato"/>
              <a:cs typeface="Lato"/>
              <a:sym typeface="Lato"/>
            </a:endParaRPr>
          </a:p>
          <a:p>
            <a:pPr algn="l">
              <a:lnSpc>
                <a:spcPts val="3064"/>
              </a:lnSpc>
            </a:pPr>
            <a:r>
              <a:rPr lang="en-US" sz="2043" spc="-81">
                <a:solidFill>
                  <a:srgbClr val="F4F4F4"/>
                </a:solidFill>
                <a:latin typeface="Lato"/>
                <a:ea typeface="Lato"/>
                <a:cs typeface="Lato"/>
                <a:sym typeface="Lato"/>
              </a:rPr>
              <a:t>POST:</a:t>
            </a:r>
          </a:p>
          <a:p>
            <a:pPr algn="l">
              <a:lnSpc>
                <a:spcPts val="3064"/>
              </a:lnSpc>
            </a:pPr>
            <a:r>
              <a:rPr lang="en-US" sz="2043" spc="-81">
                <a:solidFill>
                  <a:srgbClr val="F4F4F4"/>
                </a:solidFill>
                <a:latin typeface="Lato"/>
                <a:ea typeface="Lato"/>
                <a:cs typeface="Lato"/>
                <a:sym typeface="Lato"/>
              </a:rPr>
              <a:t>{</a:t>
            </a:r>
          </a:p>
          <a:p>
            <a:pPr algn="l">
              <a:lnSpc>
                <a:spcPts val="3064"/>
              </a:lnSpc>
            </a:pPr>
            <a:r>
              <a:rPr lang="en-US" sz="2043" spc="-81">
                <a:solidFill>
                  <a:srgbClr val="F4F4F4"/>
                </a:solidFill>
                <a:latin typeface="Lato"/>
                <a:ea typeface="Lato"/>
                <a:cs typeface="Lato"/>
                <a:sym typeface="Lato"/>
              </a:rPr>
              <a:t>  "collections": ["air-quality"],</a:t>
            </a:r>
          </a:p>
          <a:p>
            <a:pPr algn="l">
              <a:lnSpc>
                <a:spcPts val="3064"/>
              </a:lnSpc>
            </a:pPr>
            <a:r>
              <a:rPr lang="en-US" sz="2043" spc="-81">
                <a:solidFill>
                  <a:srgbClr val="F4F4F4"/>
                </a:solidFill>
                <a:latin typeface="Lato"/>
                <a:ea typeface="Lato"/>
                <a:cs typeface="Lato"/>
                <a:sym typeface="Lato"/>
              </a:rPr>
              <a:t>  "datetime": "2026-10-14"</a:t>
            </a:r>
          </a:p>
          <a:p>
            <a:pPr algn="l">
              <a:lnSpc>
                <a:spcPts val="3064"/>
              </a:lnSpc>
              <a:spcBef>
                <a:spcPct val="0"/>
              </a:spcBef>
            </a:pPr>
            <a:r>
              <a:rPr lang="en-US" sz="2043" spc="-81">
                <a:solidFill>
                  <a:srgbClr val="F4F4F4"/>
                </a:solidFill>
                <a:latin typeface="Lato"/>
                <a:ea typeface="Lato"/>
                <a:cs typeface="Lato"/>
                <a:sym typeface="Lato"/>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de-DE"/>
          </a:p>
        </p:txBody>
      </p:sp>
      <p:sp>
        <p:nvSpPr>
          <p:cNvPr id="3" name="TextBox 3"/>
          <p:cNvSpPr txBox="1"/>
          <p:nvPr/>
        </p:nvSpPr>
        <p:spPr>
          <a:xfrm>
            <a:off x="804703" y="923182"/>
            <a:ext cx="10612544" cy="1922378"/>
          </a:xfrm>
          <a:prstGeom prst="rect">
            <a:avLst/>
          </a:prstGeom>
        </p:spPr>
        <p:txBody>
          <a:bodyPr lIns="0" tIns="0" rIns="0" bIns="0" rtlCol="0" anchor="t">
            <a:spAutoFit/>
          </a:bodyPr>
          <a:lstStyle/>
          <a:p>
            <a:pPr algn="l">
              <a:lnSpc>
                <a:spcPts val="7522"/>
              </a:lnSpc>
            </a:pPr>
            <a:r>
              <a:rPr lang="en-US" sz="6841" b="1" spc="-136">
                <a:solidFill>
                  <a:srgbClr val="2A4437"/>
                </a:solidFill>
                <a:latin typeface="Lato Bold"/>
                <a:ea typeface="Lato Bold"/>
                <a:cs typeface="Lato Bold"/>
                <a:sym typeface="Lato Bold"/>
              </a:rPr>
              <a:t>Quellen</a:t>
            </a:r>
          </a:p>
          <a:p>
            <a:pPr algn="l">
              <a:lnSpc>
                <a:spcPts val="7518"/>
              </a:lnSpc>
            </a:pPr>
            <a:endParaRPr lang="en-US" sz="6841" b="1" spc="-136">
              <a:solidFill>
                <a:srgbClr val="2A4437"/>
              </a:solidFill>
              <a:latin typeface="Lato Bold"/>
              <a:ea typeface="Lato Bold"/>
              <a:cs typeface="Lato Bold"/>
              <a:sym typeface="Lato Bold"/>
            </a:endParaRPr>
          </a:p>
        </p:txBody>
      </p:sp>
      <p:sp>
        <p:nvSpPr>
          <p:cNvPr id="4" name="TextBox 4"/>
          <p:cNvSpPr txBox="1"/>
          <p:nvPr/>
        </p:nvSpPr>
        <p:spPr>
          <a:xfrm>
            <a:off x="849879" y="2413493"/>
            <a:ext cx="12070719" cy="4294175"/>
          </a:xfrm>
          <a:prstGeom prst="rect">
            <a:avLst/>
          </a:prstGeom>
        </p:spPr>
        <p:txBody>
          <a:bodyPr lIns="0" tIns="0" rIns="0" bIns="0" rtlCol="0" anchor="t">
            <a:spAutoFit/>
          </a:bodyPr>
          <a:lstStyle/>
          <a:p>
            <a:pPr marL="518160" lvl="1" indent="-259080" algn="l">
              <a:lnSpc>
                <a:spcPts val="3117"/>
              </a:lnSpc>
              <a:buFont typeface="Arial"/>
              <a:buChar char="•"/>
            </a:pPr>
            <a:r>
              <a:rPr lang="en-US" sz="2400" b="1" spc="-48">
                <a:solidFill>
                  <a:srgbClr val="737373"/>
                </a:solidFill>
                <a:latin typeface="Lato Bold"/>
                <a:ea typeface="Lato Bold"/>
                <a:cs typeface="Lato Bold"/>
                <a:sym typeface="Lato Bold"/>
              </a:rPr>
              <a:t>STAC API Specification v1.0.0</a:t>
            </a:r>
          </a:p>
          <a:p>
            <a:pPr algn="l">
              <a:lnSpc>
                <a:spcPts val="3117"/>
              </a:lnSpc>
            </a:pPr>
            <a:r>
              <a:rPr lang="en-US" sz="2400" b="1" spc="-48">
                <a:solidFill>
                  <a:srgbClr val="737373"/>
                </a:solidFill>
                <a:latin typeface="Lato Bold"/>
                <a:ea typeface="Lato Bold"/>
                <a:cs typeface="Lato Bold"/>
                <a:sym typeface="Lato Bold"/>
              </a:rPr>
              <a:t>  github.com/radiantearth/stac-api-spec</a:t>
            </a:r>
          </a:p>
          <a:p>
            <a:pPr algn="l">
              <a:lnSpc>
                <a:spcPts val="3117"/>
              </a:lnSpc>
            </a:pPr>
            <a:endParaRPr lang="en-US" sz="2400" b="1" spc="-48">
              <a:solidFill>
                <a:srgbClr val="737373"/>
              </a:solidFill>
              <a:latin typeface="Lato Bold"/>
              <a:ea typeface="Lato Bold"/>
              <a:cs typeface="Lato Bold"/>
              <a:sym typeface="Lato Bold"/>
            </a:endParaRPr>
          </a:p>
          <a:p>
            <a:pPr marL="518160" lvl="1" indent="-259080" algn="l">
              <a:lnSpc>
                <a:spcPts val="3117"/>
              </a:lnSpc>
              <a:buFont typeface="Arial"/>
              <a:buChar char="•"/>
            </a:pPr>
            <a:r>
              <a:rPr lang="en-US" sz="2400" b="1" spc="-48">
                <a:solidFill>
                  <a:srgbClr val="737373"/>
                </a:solidFill>
                <a:latin typeface="Lato Bold"/>
                <a:ea typeface="Lato Bold"/>
                <a:cs typeface="Lato Bold"/>
                <a:sym typeface="Lato Bold"/>
              </a:rPr>
              <a:t>STAC API Overview</a:t>
            </a:r>
          </a:p>
          <a:p>
            <a:pPr algn="l">
              <a:lnSpc>
                <a:spcPts val="3117"/>
              </a:lnSpc>
            </a:pPr>
            <a:r>
              <a:rPr lang="en-US" sz="2400" b="1" spc="-48">
                <a:solidFill>
                  <a:srgbClr val="737373"/>
                </a:solidFill>
                <a:latin typeface="Lato Bold"/>
                <a:ea typeface="Lato Bold"/>
                <a:cs typeface="Lato Bold"/>
                <a:sym typeface="Lato Bold"/>
              </a:rPr>
              <a:t>  github.com/radiantearth/stac-api-spec/blob/release/v1.0.0/overview.md</a:t>
            </a:r>
          </a:p>
          <a:p>
            <a:pPr algn="l">
              <a:lnSpc>
                <a:spcPts val="3117"/>
              </a:lnSpc>
            </a:pPr>
            <a:endParaRPr lang="en-US" sz="2400" b="1" spc="-48">
              <a:solidFill>
                <a:srgbClr val="737373"/>
              </a:solidFill>
              <a:latin typeface="Lato Bold"/>
              <a:ea typeface="Lato Bold"/>
              <a:cs typeface="Lato Bold"/>
              <a:sym typeface="Lato Bold"/>
            </a:endParaRPr>
          </a:p>
          <a:p>
            <a:pPr marL="518160" lvl="1" indent="-259080" algn="l">
              <a:lnSpc>
                <a:spcPts val="3117"/>
              </a:lnSpc>
              <a:buFont typeface="Arial"/>
              <a:buChar char="•"/>
            </a:pPr>
            <a:r>
              <a:rPr lang="en-US" sz="2400" b="1" spc="-48">
                <a:solidFill>
                  <a:srgbClr val="737373"/>
                </a:solidFill>
                <a:latin typeface="Lato Bold"/>
                <a:ea typeface="Lato Bold"/>
                <a:cs typeface="Lato Bold"/>
                <a:sym typeface="Lato Bold"/>
              </a:rPr>
              <a:t>STAC Specification Overview</a:t>
            </a:r>
          </a:p>
          <a:p>
            <a:pPr algn="l">
              <a:lnSpc>
                <a:spcPts val="3117"/>
              </a:lnSpc>
            </a:pPr>
            <a:r>
              <a:rPr lang="en-US" sz="2400" b="1" spc="-48">
                <a:solidFill>
                  <a:srgbClr val="737373"/>
                </a:solidFill>
                <a:latin typeface="Lato Bold"/>
                <a:ea typeface="Lato Bold"/>
                <a:cs typeface="Lato Bold"/>
                <a:sym typeface="Lato Bold"/>
              </a:rPr>
              <a:t>  github.com/radiantearth/stac-api-spec/blob/release/v1.0.0/stac-spec/overview.md</a:t>
            </a:r>
          </a:p>
          <a:p>
            <a:pPr algn="l">
              <a:lnSpc>
                <a:spcPts val="3117"/>
              </a:lnSpc>
            </a:pPr>
            <a:endParaRPr lang="en-US" sz="2400" b="1" spc="-48">
              <a:solidFill>
                <a:srgbClr val="737373"/>
              </a:solidFill>
              <a:latin typeface="Lato Bold"/>
              <a:ea typeface="Lato Bold"/>
              <a:cs typeface="Lato Bold"/>
              <a:sym typeface="Lato Bold"/>
            </a:endParaRPr>
          </a:p>
          <a:p>
            <a:pPr marL="518160" lvl="1" indent="-259080" algn="l">
              <a:lnSpc>
                <a:spcPts val="3117"/>
              </a:lnSpc>
              <a:buFont typeface="Arial"/>
              <a:buChar char="•"/>
            </a:pPr>
            <a:r>
              <a:rPr lang="en-US" sz="2400" b="1" spc="-48">
                <a:solidFill>
                  <a:srgbClr val="737373"/>
                </a:solidFill>
                <a:latin typeface="Lato Bold"/>
                <a:ea typeface="Lato Bold"/>
                <a:cs typeface="Lato Bold"/>
                <a:sym typeface="Lato Bold"/>
              </a:rPr>
              <a:t>stacspec.org</a:t>
            </a:r>
          </a:p>
          <a:p>
            <a:pPr algn="l">
              <a:lnSpc>
                <a:spcPts val="3117"/>
              </a:lnSpc>
            </a:pPr>
            <a:endParaRPr lang="en-US" sz="2400" b="1" spc="-48">
              <a:solidFill>
                <a:srgbClr val="737373"/>
              </a:solidFill>
              <a:latin typeface="Lato Bold"/>
              <a:ea typeface="Lato Bold"/>
              <a:cs typeface="Lato Bold"/>
              <a:sym typeface="Lato Bo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335024"/>
          </a:xfrm>
          <a:custGeom>
            <a:avLst/>
            <a:gdLst/>
            <a:ahLst/>
            <a:cxnLst/>
            <a:rect l="l" t="t" r="r" b="b"/>
            <a:pathLst>
              <a:path w="18288000" h="10335024">
                <a:moveTo>
                  <a:pt x="0" y="0"/>
                </a:moveTo>
                <a:lnTo>
                  <a:pt x="18288000" y="0"/>
                </a:lnTo>
                <a:lnTo>
                  <a:pt x="18288000" y="10335024"/>
                </a:lnTo>
                <a:lnTo>
                  <a:pt x="0" y="10335024"/>
                </a:lnTo>
                <a:lnTo>
                  <a:pt x="0" y="0"/>
                </a:lnTo>
                <a:close/>
              </a:path>
            </a:pathLst>
          </a:custGeom>
          <a:blipFill>
            <a:blip r:embed="rId2"/>
            <a:stretch>
              <a:fillRect l="-5135" r="-27420" b="-31939"/>
            </a:stretch>
          </a:blipFill>
        </p:spPr>
        <p:txBody>
          <a:bodyPr/>
          <a:lstStyle/>
          <a:p>
            <a:endParaRPr lang="de-DE"/>
          </a:p>
        </p:txBody>
      </p:sp>
      <p:pic>
        <p:nvPicPr>
          <p:cNvPr id="1026" name="Picture 2">
            <a:extLst>
              <a:ext uri="{FF2B5EF4-FFF2-40B4-BE49-F238E27FC236}">
                <a16:creationId xmlns:a16="http://schemas.microsoft.com/office/drawing/2014/main" id="{2FF61114-5834-6752-2CBF-578B620C7B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72138" y="3348038"/>
            <a:ext cx="6943725" cy="35909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801</Words>
  <Application>Microsoft Office PowerPoint</Application>
  <PresentationFormat>Benutzerdefiniert</PresentationFormat>
  <Paragraphs>153</Paragraphs>
  <Slides>11</Slides>
  <Notes>0</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11</vt:i4>
      </vt:variant>
    </vt:vector>
  </HeadingPairs>
  <TitlesOfParts>
    <vt:vector size="16" baseType="lpstr">
      <vt:lpstr>Lato Bold</vt:lpstr>
      <vt:lpstr>Calibri</vt:lpstr>
      <vt:lpstr>Arial</vt:lpstr>
      <vt:lpstr>Lato</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STAC API Spezifikation</dc:title>
  <cp:lastModifiedBy>Ekaterina Petrianina</cp:lastModifiedBy>
  <cp:revision>2</cp:revision>
  <dcterms:created xsi:type="dcterms:W3CDTF">2006-08-16T00:00:00Z</dcterms:created>
  <dcterms:modified xsi:type="dcterms:W3CDTF">2026-10-14T10:50:20Z</dcterms:modified>
  <dc:identifier>DAHX-eAb0Nw</dc:identifier>
</cp:coreProperties>
</file>